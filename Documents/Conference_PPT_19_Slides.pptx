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82" r:id="rId4"/>
    <p:sldId id="264" r:id="rId5"/>
    <p:sldId id="265" r:id="rId6"/>
    <p:sldId id="266" r:id="rId7"/>
    <p:sldId id="267" r:id="rId8"/>
    <p:sldId id="268" r:id="rId9"/>
    <p:sldId id="269" r:id="rId10"/>
    <p:sldId id="273" r:id="rId11"/>
    <p:sldId id="274" r:id="rId12"/>
    <p:sldId id="275" r:id="rId13"/>
    <p:sldId id="276" r:id="rId14"/>
    <p:sldId id="277" r:id="rId15"/>
    <p:sldId id="278" r:id="rId16"/>
    <p:sldId id="280" r:id="rId17"/>
    <p:sldId id="270" r:id="rId18"/>
    <p:sldId id="271" r:id="rId19"/>
    <p:sldId id="279" r:id="rId20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18" y="101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309676800 w 120000"/>
              <a:gd name="T3" fmla="*/ 0 h 120000"/>
              <a:gd name="T4" fmla="*/ 309676800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5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5123" name="Google Shape;52;p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72;g11dd67e4119_0_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7171" name="Google Shape;73;g11dd67e4119_0_5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72;g11dd67e4119_0_5:notes"/>
          <p:cNvSpPr>
            <a:spLocks noGrp="1" noRot="1" noChangeAspect="1" noTextEdit="1"/>
          </p:cNvSpPr>
          <p:nvPr>
            <p:ph type="sldImg" idx="2"/>
          </p:nvPr>
        </p:nvSpPr>
        <p:spPr>
          <a:ln>
            <a:miter lim="800000"/>
            <a:headEnd/>
            <a:tailEnd/>
          </a:ln>
        </p:spPr>
      </p:sp>
      <p:sp>
        <p:nvSpPr>
          <p:cNvPr id="9219" name="Google Shape;73;g11dd67e4119_0_5:notes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71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33E03D-5646-4BB9-97EE-65AF4918EB13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656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E5720C-F6B3-4220-87B0-0FA00A726951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66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C3B025-31CE-43C1-9ED7-9711BE3F2086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860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1ADA63-1004-46E3-BC33-27A5F3596B8F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48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876481-AA54-4534-97AB-338AC751B4BC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10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CD541A-65B2-46BB-9309-23148CB2B450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815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6;p9"/>
          <p:cNvSpPr>
            <a:spLocks noChangeArrowheads="1"/>
          </p:cNvSpPr>
          <p:nvPr/>
        </p:nvSpPr>
        <p:spPr bwMode="auto"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altLang="en-US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" name="Google Shape;40;p9"/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39B45A5-868B-4945-A013-D3E243657ABE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588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anchor="ctr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C0D8C4-325E-4810-862B-17092DE1D57B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01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anchor="b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D6302A-3273-42D5-8E56-869DEC348833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297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;p1"/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001BCF-65BC-4C3F-8892-2BB36CB895CD}" type="slidenum">
              <a:rPr lang="en-GB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781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11150" y="444500"/>
            <a:ext cx="85217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panose="020B0604020202020204" pitchFamily="34" charset="0"/>
            </a:endParaRPr>
          </a:p>
        </p:txBody>
      </p:sp>
      <p:sp>
        <p:nvSpPr>
          <p:cNvPr id="102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>
              <a:sym typeface="Arial" panose="020B0604020202020204" pitchFamily="34" charset="0"/>
            </a:endParaRPr>
          </a:p>
        </p:txBody>
      </p:sp>
      <p:sp>
        <p:nvSpPr>
          <p:cNvPr id="102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72488" y="4662488"/>
            <a:ext cx="54927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000">
                <a:solidFill>
                  <a:srgbClr val="595959"/>
                </a:solidFill>
              </a:defRPr>
            </a:lvl1pPr>
          </a:lstStyle>
          <a:p>
            <a:fld id="{EFAA32E4-3511-4E81-81BF-24CAFA322D50}" type="slidenum">
              <a:rPr lang="en-GB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9" r:id="rId7"/>
    <p:sldLayoutId id="2147483716" r:id="rId8"/>
    <p:sldLayoutId id="2147483717" r:id="rId9"/>
    <p:sldLayoutId id="214748371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»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https://aiccit2023.vercel.app/_next/image?url=/_next/static/media/mrlogo1.084c9a07.png&amp;w=640&amp;q=75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https://aiccit2023.vercel.app/_next/image?url=/_next/static/media/mrlogo1.084c9a07.png&amp;w=640&amp;q=7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https://aiccit2023.vercel.app/_next/image?url=/_next/static/media/mrlogo1.084c9a07.png&amp;w=640&amp;q=7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8.png"/><Relationship Id="rId7" Type="http://schemas.openxmlformats.org/officeDocument/2006/relationships/image" Target="../media/image14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https://aiccit2023.vercel.app/_next/image?url=/_next/static/media/mrlogo1.084c9a07.png&amp;w=640&amp;q=75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Google Shape;55;p1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713" y="1470025"/>
            <a:ext cx="23431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Google Shape;56;p13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454778"/>
            <a:ext cx="2208212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Google Shape;60;p13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25" y="1446213"/>
            <a:ext cx="2452688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Google Shape;62;p13"/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3646488"/>
            <a:ext cx="2206625" cy="128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Google Shape;63;p13"/>
          <p:cNvSpPr txBox="1">
            <a:spLocks noChangeArrowheads="1"/>
          </p:cNvSpPr>
          <p:nvPr/>
        </p:nvSpPr>
        <p:spPr bwMode="auto">
          <a:xfrm>
            <a:off x="666750" y="94622"/>
            <a:ext cx="71755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IN" altLang="en-US" b="1" dirty="0"/>
              <a:t>ICAICCIT-2025, 3</a:t>
            </a:r>
            <a:r>
              <a:rPr lang="en-IN" altLang="en-US" b="1" baseline="30000" dirty="0"/>
              <a:t>rd</a:t>
            </a:r>
            <a:r>
              <a:rPr lang="en-IN" altLang="en-US" b="1" dirty="0"/>
              <a:t> International conference on Advances in Computing, Communication and Information Technology,                                                                technically Co-Sponsored by IEEE Delhi SECTION                                                                (IEEE record no # 68829) 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IN" altLang="en-US" b="1" dirty="0"/>
              <a:t>on 31</a:t>
            </a:r>
            <a:r>
              <a:rPr lang="en-IN" altLang="en-US" b="1" baseline="30000" dirty="0"/>
              <a:t>st</a:t>
            </a:r>
            <a:r>
              <a:rPr lang="en-IN" altLang="en-US" b="1" dirty="0"/>
              <a:t> Oct &amp; 1st Nov. 2025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sz="1600" dirty="0"/>
          </a:p>
        </p:txBody>
      </p:sp>
      <p:pic>
        <p:nvPicPr>
          <p:cNvPr id="4103" name="Google Shape;65;p13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3667125"/>
            <a:ext cx="233997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Google Shape;66;p13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67" name="Google Shape;67;p13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4106" name="Rectangle 2"/>
          <p:cNvSpPr>
            <a:spLocks noChangeArrowheads="1"/>
          </p:cNvSpPr>
          <p:nvPr/>
        </p:nvSpPr>
        <p:spPr bwMode="auto">
          <a:xfrm>
            <a:off x="0" y="0"/>
            <a:ext cx="914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4107" name="Rectangle 3"/>
          <p:cNvSpPr>
            <a:spLocks noChangeArrowheads="1"/>
          </p:cNvSpPr>
          <p:nvPr/>
        </p:nvSpPr>
        <p:spPr bwMode="auto">
          <a:xfrm>
            <a:off x="0" y="74930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4108" name="Picture 2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1160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9" name="Picture 2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34" t="69373" r="41730" b="23227"/>
          <a:stretch>
            <a:fillRect/>
          </a:stretch>
        </p:blipFill>
        <p:spPr bwMode="auto">
          <a:xfrm>
            <a:off x="287338" y="2544763"/>
            <a:ext cx="1331912" cy="89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0" name="Picture 2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6" t="69836" r="29318" b="23227"/>
          <a:stretch>
            <a:fillRect/>
          </a:stretch>
        </p:blipFill>
        <p:spPr bwMode="auto">
          <a:xfrm>
            <a:off x="1722438" y="2674938"/>
            <a:ext cx="12065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1" name="Picture 2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33" t="70760" r="52966" b="23227"/>
          <a:stretch>
            <a:fillRect/>
          </a:stretch>
        </p:blipFill>
        <p:spPr bwMode="auto">
          <a:xfrm>
            <a:off x="7586663" y="2705100"/>
            <a:ext cx="1557337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2" name="Picture 2" descr="mr_logo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26" y="2690408"/>
            <a:ext cx="23844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3" name="Picture 4" descr="https://aiccit2023.vercel.app/images/partners/infosis1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38" y="2788278"/>
            <a:ext cx="1905000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4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25" y="3646488"/>
            <a:ext cx="2581275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5" name="Picture 20" descr="mr_logo"/>
          <p:cNvPicPr>
            <a:picLocks noChangeAspect="1" noChangeArrowheads="1"/>
          </p:cNvPicPr>
          <p:nvPr/>
        </p:nvPicPr>
        <p:blipFill>
          <a:blip r:embed="rId13" r:link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575" y="79375"/>
            <a:ext cx="1871663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76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cxnSp>
        <p:nvCxnSpPr>
          <p:cNvPr id="6148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49" name="AutoShape 2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6150" name="AutoShape 4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615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Box 15"/>
          <p:cNvSpPr txBox="1">
            <a:spLocks noChangeArrowheads="1"/>
          </p:cNvSpPr>
          <p:nvPr/>
        </p:nvSpPr>
        <p:spPr bwMode="auto">
          <a:xfrm>
            <a:off x="382403" y="1021777"/>
            <a:ext cx="8113713" cy="335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>
              <a:buNone/>
            </a:pPr>
            <a:r>
              <a:rPr lang="en-US" sz="1800" b="1" dirty="0"/>
              <a:t>CONTRASTIVE LEARNING: A DEEP LEARNING FRAMEWORK FOR </a:t>
            </a:r>
            <a:endParaRPr lang="en-US" sz="1800" b="1" dirty="0" smtClean="0"/>
          </a:p>
          <a:p>
            <a:pPr algn="ctr" eaLnBrk="1" hangingPunct="1">
              <a:buNone/>
            </a:pPr>
            <a:r>
              <a:rPr lang="en-US" sz="1800" b="1" dirty="0" smtClean="0"/>
              <a:t>REVIEW-BASED KNOWLEDGE GRAPHS</a:t>
            </a:r>
          </a:p>
          <a:p>
            <a:pPr algn="ctr" eaLnBrk="1" hangingPunct="1">
              <a:buNone/>
            </a:pPr>
            <a:r>
              <a:rPr lang="en-US" b="1" dirty="0" smtClean="0"/>
              <a:t>Paper ID </a:t>
            </a:r>
            <a:r>
              <a:rPr lang="en-US" dirty="0" smtClean="0"/>
              <a:t>: ICAICCIT_00584</a:t>
            </a:r>
            <a:r>
              <a:rPr lang="en-US" sz="1800" dirty="0" smtClean="0"/>
              <a:t> </a:t>
            </a:r>
            <a:endParaRPr lang="en-IN" altLang="en-US" sz="1800" b="1" dirty="0" smtClean="0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IN" altLang="en-US" sz="1600" dirty="0" smtClean="0"/>
              <a:t>                                                                                    </a:t>
            </a:r>
            <a:endParaRPr lang="en-IN" altLang="en-US" sz="1600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 smtClean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 smtClean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 smtClean="0"/>
          </a:p>
          <a:p>
            <a:pPr algn="r" eaLnBrk="1" hangingPunct="1">
              <a:buFont typeface="Arial" panose="020B0604020202020204" pitchFamily="34" charset="0"/>
              <a:buNone/>
            </a:pPr>
            <a:endParaRPr lang="en-IN" altLang="en-US" sz="1600" b="1" dirty="0"/>
          </a:p>
          <a:p>
            <a:pPr algn="r" eaLnBrk="1" hangingPunct="1">
              <a:buFont typeface="Arial" panose="020B0604020202020204" pitchFamily="34" charset="0"/>
              <a:buNone/>
            </a:pPr>
            <a:r>
              <a:rPr lang="en-IN" altLang="en-US" sz="1600" b="1" dirty="0" smtClean="0"/>
              <a:t>Presented </a:t>
            </a:r>
            <a:r>
              <a:rPr lang="en-IN" altLang="en-US" sz="1600" b="1" dirty="0"/>
              <a:t>by </a:t>
            </a:r>
            <a:endParaRPr lang="en-IN" altLang="en-US" sz="1600" b="1" dirty="0" smtClean="0"/>
          </a:p>
          <a:p>
            <a:pPr algn="r" eaLnBrk="1" hangingPunct="1">
              <a:buFont typeface="Arial" panose="020B0604020202020204" pitchFamily="34" charset="0"/>
              <a:buNone/>
            </a:pPr>
            <a:r>
              <a:rPr lang="en-IN" altLang="en-US" b="1" dirty="0" smtClean="0"/>
              <a:t>Rajeswari Makkena</a:t>
            </a:r>
          </a:p>
        </p:txBody>
      </p:sp>
      <p:pic>
        <p:nvPicPr>
          <p:cNvPr id="6153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466454"/>
            <a:ext cx="91440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2" descr="mr_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586" y="212725"/>
            <a:ext cx="2130425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5" name="Rectangle 12"/>
          <p:cNvSpPr>
            <a:spLocks noChangeArrowheads="1"/>
          </p:cNvSpPr>
          <p:nvPr/>
        </p:nvSpPr>
        <p:spPr bwMode="auto">
          <a:xfrm>
            <a:off x="813777" y="1840269"/>
            <a:ext cx="4325293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IN" altLang="en-US" b="1" dirty="0"/>
              <a:t>Authors Name &amp; </a:t>
            </a:r>
            <a:r>
              <a:rPr lang="en-IN" altLang="en-US" b="1" dirty="0" smtClean="0"/>
              <a:t>Affiliation</a:t>
            </a:r>
          </a:p>
          <a:p>
            <a:pPr eaLnBrk="1" hangingPunct="1">
              <a:buNone/>
            </a:pPr>
            <a:r>
              <a:rPr lang="en-US" sz="1300" b="1" dirty="0" smtClean="0"/>
              <a:t>Soma </a:t>
            </a:r>
            <a:r>
              <a:rPr lang="en-US" sz="1300" b="1" dirty="0"/>
              <a:t>Sekhar </a:t>
            </a:r>
            <a:r>
              <a:rPr lang="en-US" sz="1300" b="1" dirty="0" smtClean="0"/>
              <a:t>Kolisetty</a:t>
            </a:r>
          </a:p>
          <a:p>
            <a:pPr eaLnBrk="1" hangingPunct="1">
              <a:buNone/>
            </a:pPr>
            <a:r>
              <a:rPr lang="en-US" sz="1200" dirty="0" smtClean="0"/>
              <a:t>Dept. Of Computer Science and Engineering, NEC</a:t>
            </a:r>
          </a:p>
          <a:p>
            <a:pPr eaLnBrk="1" hangingPunct="1">
              <a:buNone/>
            </a:pPr>
            <a:r>
              <a:rPr lang="en-US" sz="1300" b="1" dirty="0"/>
              <a:t>Rajeswari </a:t>
            </a:r>
            <a:r>
              <a:rPr lang="en-US" sz="1300" b="1" dirty="0" smtClean="0"/>
              <a:t>Makkena</a:t>
            </a:r>
          </a:p>
          <a:p>
            <a:pPr eaLnBrk="1" hangingPunct="1">
              <a:buNone/>
            </a:pPr>
            <a:r>
              <a:rPr lang="en-US" sz="1200" dirty="0"/>
              <a:t>Dept. Of Computer Science and </a:t>
            </a:r>
            <a:r>
              <a:rPr lang="en-US" sz="1200" dirty="0" smtClean="0"/>
              <a:t>Engineering, NEC</a:t>
            </a:r>
            <a:endParaRPr lang="en-US" sz="1200" dirty="0"/>
          </a:p>
          <a:p>
            <a:pPr eaLnBrk="1" hangingPunct="1">
              <a:buNone/>
            </a:pPr>
            <a:r>
              <a:rPr lang="en-US" sz="1300" b="1" dirty="0"/>
              <a:t>Shaik </a:t>
            </a:r>
            <a:r>
              <a:rPr lang="en-US" sz="1300" b="1" dirty="0" smtClean="0"/>
              <a:t>Sumaya</a:t>
            </a:r>
          </a:p>
          <a:p>
            <a:pPr eaLnBrk="1" hangingPunct="1">
              <a:buNone/>
            </a:pPr>
            <a:r>
              <a:rPr lang="en-US" sz="1200" dirty="0"/>
              <a:t>Dept. Of Computer Science and </a:t>
            </a:r>
            <a:r>
              <a:rPr lang="en-US" sz="1200" dirty="0" smtClean="0"/>
              <a:t>Engineering, NEC</a:t>
            </a:r>
          </a:p>
          <a:p>
            <a:pPr eaLnBrk="1" hangingPunct="1">
              <a:buNone/>
            </a:pPr>
            <a:r>
              <a:rPr lang="en-US" sz="1300" b="1" dirty="0"/>
              <a:t>Badigunchala Pushpa </a:t>
            </a:r>
            <a:r>
              <a:rPr lang="en-US" sz="1300" b="1" dirty="0" smtClean="0"/>
              <a:t>Sivaleelavathi</a:t>
            </a:r>
          </a:p>
          <a:p>
            <a:pPr eaLnBrk="1" hangingPunct="1">
              <a:buNone/>
            </a:pPr>
            <a:r>
              <a:rPr lang="en-US" sz="1200" dirty="0"/>
              <a:t>Dept. Of Computer Science and </a:t>
            </a:r>
            <a:r>
              <a:rPr lang="en-US" sz="1200" dirty="0" smtClean="0"/>
              <a:t>Engineering, NEC</a:t>
            </a:r>
          </a:p>
          <a:p>
            <a:pPr eaLnBrk="1" hangingPunct="1">
              <a:buNone/>
            </a:pPr>
            <a:r>
              <a:rPr lang="en-US" sz="1300" b="1" dirty="0"/>
              <a:t>Krishna Bhargavi Yerraganti</a:t>
            </a:r>
          </a:p>
          <a:p>
            <a:pPr eaLnBrk="1" hangingPunct="1">
              <a:buNone/>
            </a:pPr>
            <a:r>
              <a:rPr lang="en-US" sz="1200" dirty="0"/>
              <a:t>Dept. Of Computer Science and </a:t>
            </a:r>
            <a:r>
              <a:rPr lang="en-US" sz="1200" dirty="0" smtClean="0"/>
              <a:t>Engineering, GRIET</a:t>
            </a:r>
          </a:p>
          <a:p>
            <a:pPr eaLnBrk="1" hangingPunct="1">
              <a:buNone/>
            </a:pPr>
            <a:r>
              <a:rPr lang="en-US" sz="1300" b="1" dirty="0"/>
              <a:t>Kommanaboyina Lakshmi Sundara </a:t>
            </a:r>
            <a:r>
              <a:rPr lang="en-US" sz="1300" b="1" dirty="0" smtClean="0"/>
              <a:t>Soujanya</a:t>
            </a:r>
          </a:p>
          <a:p>
            <a:pPr eaLnBrk="1" hangingPunct="1">
              <a:buNone/>
            </a:pPr>
            <a:r>
              <a:rPr lang="en-US" sz="1200" dirty="0"/>
              <a:t>Dept. Of Computer Science and </a:t>
            </a:r>
            <a:r>
              <a:rPr lang="en-US" sz="1200" dirty="0" smtClean="0"/>
              <a:t>Engineering, GNITS</a:t>
            </a:r>
            <a:endParaRPr lang="en-US" sz="1200" b="1" dirty="0" smtClean="0"/>
          </a:p>
          <a:p>
            <a:pPr eaLnBrk="1" hangingPunct="1">
              <a:buNone/>
            </a:pPr>
            <a:endParaRPr lang="en-US" b="1" dirty="0"/>
          </a:p>
          <a:p>
            <a:pPr eaLnBrk="1" hangingPunct="1">
              <a:buNone/>
            </a:pPr>
            <a:endParaRPr lang="en-US" altLang="en-US" b="1" dirty="0"/>
          </a:p>
        </p:txBody>
      </p:sp>
      <p:pic>
        <p:nvPicPr>
          <p:cNvPr id="6156" name="Picture 20" descr="mr_logo"/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79375"/>
            <a:ext cx="2081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76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cxnSp>
        <p:nvCxnSpPr>
          <p:cNvPr id="8196" name="Google Shape;78;p14"/>
          <p:cNvCxnSpPr>
            <a:cxnSpLocks noChangeShapeType="1"/>
          </p:cNvCxnSpPr>
          <p:nvPr/>
        </p:nvCxnSpPr>
        <p:spPr bwMode="auto">
          <a:xfrm>
            <a:off x="2668588" y="381000"/>
            <a:ext cx="0" cy="333375"/>
          </a:xfrm>
          <a:prstGeom prst="straightConnector1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7" name="AutoShape 2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198" name="AutoShape 4" descr="https://mail.google.com/mail/u/0?ui=2&amp;ik=d0ca1f535e&amp;attid=0.1.1&amp;permmsgid=msg-f:1730160456275675683&amp;th=1802c3c4a8bd4a23&amp;view=fimg&amp;fur=ip&amp;sz=s0-l75-ft&amp;attbid=ANGjdJ-Fg4LMtZjcSimgWlVu8xSQm8AiX1gNKQvnC554BXN_UwAYBIVXcLnV_gufsML8w5v2siLDg09EACgYV1uQv2dV-EdKHBTjKvMA1mvn6cgOyinMbjTL_SYlRPM&amp;disp=em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819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0" y="131763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767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1" name="Rectangle 11"/>
          <p:cNvSpPr>
            <a:spLocks noChangeArrowheads="1"/>
          </p:cNvSpPr>
          <p:nvPr/>
        </p:nvSpPr>
        <p:spPr bwMode="auto">
          <a:xfrm>
            <a:off x="465138" y="1541463"/>
            <a:ext cx="6392862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Introduction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Problem Statements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Objectives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Literature Review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Methodology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Result &amp; Discussion 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Conclusion &amp; Future Scope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sz="1800" dirty="0"/>
              <a:t>References</a:t>
            </a:r>
          </a:p>
        </p:txBody>
      </p:sp>
      <p:sp>
        <p:nvSpPr>
          <p:cNvPr id="8202" name="TextBox 12"/>
          <p:cNvSpPr txBox="1">
            <a:spLocks noChangeArrowheads="1"/>
          </p:cNvSpPr>
          <p:nvPr/>
        </p:nvSpPr>
        <p:spPr bwMode="auto">
          <a:xfrm>
            <a:off x="460375" y="1123950"/>
            <a:ext cx="4870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IN" altLang="en-US" sz="2000" dirty="0" smtClean="0"/>
              <a:t>  Contents</a:t>
            </a:r>
            <a:endParaRPr lang="en-US" altLang="en-US" sz="2000" dirty="0"/>
          </a:p>
        </p:txBody>
      </p:sp>
      <p:pic>
        <p:nvPicPr>
          <p:cNvPr id="8203" name="Picture 2" descr="mr_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193675"/>
            <a:ext cx="24320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Picture 20" descr="mr_logo"/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146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6900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1700" y="992258"/>
            <a:ext cx="8520600" cy="572700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Introduction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7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514030"/>
            <a:ext cx="829339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reviews + Knowledge Graphs (KGs):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Boost recommendation quality.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models: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Rely on interactions or simple text → miss deep semantics.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review semantics + KGs: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Improves representation and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GNNs: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Powerful but tend to over-propagate and underuse review content.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review-augmented KG framework to reduce noise and enhance semantic    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242433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0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973388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Problem Statements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462913"/>
            <a:ext cx="5607091" cy="1177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Noisy KGs: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Contain irrelevant links and miss review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Over-propagation: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GNNs spread too much structural noise.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semantics: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 miss deep review meaning.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Struggle with large or complex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interpretability: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Hard to explain learned features.</a:t>
            </a:r>
          </a:p>
        </p:txBody>
      </p:sp>
    </p:spTree>
    <p:extLst>
      <p:ext uri="{BB962C8B-B14F-4D97-AF65-F5344CB8AC3E}">
        <p14:creationId xmlns:p14="http://schemas.microsoft.com/office/powerpoint/2010/main" val="256960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15822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1041971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Objectives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594440"/>
            <a:ext cx="788245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Semantic–Structural Link: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review semantics with KG structure via contrastive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Representation: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Fuse textual and structural signals using attention modeling.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 Control: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 noisy propagation and improve generalization.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&amp; Clear Design: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Keep the model lightweight, interpretable, and extensible.</a:t>
            </a:r>
          </a:p>
        </p:txBody>
      </p:sp>
    </p:spTree>
    <p:extLst>
      <p:ext uri="{BB962C8B-B14F-4D97-AF65-F5344CB8AC3E}">
        <p14:creationId xmlns:p14="http://schemas.microsoft.com/office/powerpoint/2010/main" val="417795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3" y="103391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6938" y="982645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Literature Review</a:t>
            </a:r>
          </a:p>
        </p:txBody>
      </p:sp>
      <p:sp>
        <p:nvSpPr>
          <p:cNvPr id="9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2457012"/>
            <a:ext cx="81869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06938" y="1577346"/>
            <a:ext cx="8520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 et al. (2024) – Semantic Contrastive Model: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Boosts diversity but needs high-quality item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Liang et al. (2025) – GTCA (GNN + Transformer):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Strong semantic learning but costly and untested on noisy KGs.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Jiang et al. (2023) – AdaGCL: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Noise-resistant but ignores semantic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Yu et al. (2024) – Semantic-Structural Framework: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Aligns graphs well but depends on preset semantics.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Cao et al. (2025) – Dual-Channel GNN (GAT + R-GCN):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 transitions well but has low accuracy and no review use.</a:t>
            </a:r>
          </a:p>
        </p:txBody>
      </p:sp>
    </p:spTree>
    <p:extLst>
      <p:ext uri="{BB962C8B-B14F-4D97-AF65-F5344CB8AC3E}">
        <p14:creationId xmlns:p14="http://schemas.microsoft.com/office/powerpoint/2010/main" val="100930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3" y="793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22911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1129843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Methodology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637558"/>
            <a:ext cx="852115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Data &amp; Preprocessing:</a:t>
            </a:r>
            <a:r>
              <a:rPr lang="en-US" dirty="0"/>
              <a:t> Use IMDb, Amazon Books, and Prime Video reviews; clean, tokenize, and extract key terms with TF-IDF.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Embedding Generation:</a:t>
            </a:r>
            <a:r>
              <a:rPr lang="en-US" dirty="0"/>
              <a:t> Generate semantic embeddings using the transformer model </a:t>
            </a:r>
            <a:r>
              <a:rPr lang="en-US" b="1" i="1" dirty="0"/>
              <a:t>all-MiniLM-L6-v2</a:t>
            </a:r>
            <a:r>
              <a:rPr lang="en-US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Graph Construction:</a:t>
            </a:r>
            <a:r>
              <a:rPr lang="en-US" dirty="0"/>
              <a:t> Create a graph linking users, items, and keywords by similarity or co-occurrence.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GNN &amp; Contrastive Learning:</a:t>
            </a:r>
            <a:r>
              <a:rPr lang="en-US" dirty="0"/>
              <a:t> Encode with </a:t>
            </a:r>
            <a:r>
              <a:rPr lang="en-US" b="1" dirty="0"/>
              <a:t>GAT</a:t>
            </a:r>
            <a:r>
              <a:rPr lang="en-US" dirty="0"/>
              <a:t> and </a:t>
            </a:r>
            <a:r>
              <a:rPr lang="en-US" b="1" dirty="0"/>
              <a:t>R-GCN</a:t>
            </a:r>
            <a:r>
              <a:rPr lang="en-US" dirty="0"/>
              <a:t>; align semantic and structural features using contrastive learning.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Classification &amp; KG Output:</a:t>
            </a:r>
            <a:r>
              <a:rPr lang="en-US" dirty="0"/>
              <a:t> Classify nodes and build a clean, enriched knowledge graph for better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565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59902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1071735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Result &amp; Discussion</a:t>
            </a:r>
          </a:p>
        </p:txBody>
      </p:sp>
      <p:sp>
        <p:nvSpPr>
          <p:cNvPr id="10" name="Google Shape;76;p14"/>
          <p:cNvSpPr/>
          <p:nvPr/>
        </p:nvSpPr>
        <p:spPr>
          <a:xfrm>
            <a:off x="4763" y="5059989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8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3316" y="1662646"/>
            <a:ext cx="836784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Performance: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combined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 + R-GCN + CL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achieved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92.34% test accuracy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0.923 F1-score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0.947 AUC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outperforming all baselines.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Efficiency: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Though it took longer to train (68s, 2.6M parameters), the combined model delivered deeper and more stable learning than GAT or R-GCN alone.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Robustness: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curve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showed strong stability, minimal misclassification, and smooth convergence across epochs.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Generalization: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model effectively built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low-noise, semantically rich knowledge graphs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IMDb, Amazon Books, and Prime Video datasets.</a:t>
            </a:r>
          </a:p>
        </p:txBody>
      </p:sp>
    </p:spTree>
    <p:extLst>
      <p:ext uri="{BB962C8B-B14F-4D97-AF65-F5344CB8AC3E}">
        <p14:creationId xmlns:p14="http://schemas.microsoft.com/office/powerpoint/2010/main" val="73919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587971"/>
              </p:ext>
            </p:extLst>
          </p:nvPr>
        </p:nvGraphicFramePr>
        <p:xfrm>
          <a:off x="928552" y="1616147"/>
          <a:ext cx="3494592" cy="1509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4823">
                  <a:extLst>
                    <a:ext uri="{9D8B030D-6E8A-4147-A177-3AD203B41FA5}">
                      <a16:colId xmlns:a16="http://schemas.microsoft.com/office/drawing/2014/main" val="3150117420"/>
                    </a:ext>
                  </a:extLst>
                </a:gridCol>
                <a:gridCol w="716248">
                  <a:extLst>
                    <a:ext uri="{9D8B030D-6E8A-4147-A177-3AD203B41FA5}">
                      <a16:colId xmlns:a16="http://schemas.microsoft.com/office/drawing/2014/main" val="2351622152"/>
                    </a:ext>
                  </a:extLst>
                </a:gridCol>
                <a:gridCol w="704369">
                  <a:extLst>
                    <a:ext uri="{9D8B030D-6E8A-4147-A177-3AD203B41FA5}">
                      <a16:colId xmlns:a16="http://schemas.microsoft.com/office/drawing/2014/main" val="3407155947"/>
                    </a:ext>
                  </a:extLst>
                </a:gridCol>
                <a:gridCol w="693887">
                  <a:extLst>
                    <a:ext uri="{9D8B030D-6E8A-4147-A177-3AD203B41FA5}">
                      <a16:colId xmlns:a16="http://schemas.microsoft.com/office/drawing/2014/main" val="49539395"/>
                    </a:ext>
                  </a:extLst>
                </a:gridCol>
                <a:gridCol w="535265">
                  <a:extLst>
                    <a:ext uri="{9D8B030D-6E8A-4147-A177-3AD203B41FA5}">
                      <a16:colId xmlns:a16="http://schemas.microsoft.com/office/drawing/2014/main" val="1857176909"/>
                    </a:ext>
                  </a:extLst>
                </a:gridCol>
              </a:tblGrid>
              <a:tr h="45123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Model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Accuracy (%)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Precision (%)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F1-Score (%)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AUC (%)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extLst>
                  <a:ext uri="{0D108BD9-81ED-4DB2-BD59-A6C34878D82A}">
                    <a16:rowId xmlns:a16="http://schemas.microsoft.com/office/drawing/2014/main" val="3380480595"/>
                  </a:ext>
                </a:extLst>
              </a:tr>
              <a:tr h="303674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GAT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88.12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85.0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86.4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90.2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extLst>
                  <a:ext uri="{0D108BD9-81ED-4DB2-BD59-A6C34878D82A}">
                    <a16:rowId xmlns:a16="http://schemas.microsoft.com/office/drawing/2014/main" val="3809036225"/>
                  </a:ext>
                </a:extLst>
              </a:tr>
              <a:tr h="303674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R-GCN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89.40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87.0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88.2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91.3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extLst>
                  <a:ext uri="{0D108BD9-81ED-4DB2-BD59-A6C34878D82A}">
                    <a16:rowId xmlns:a16="http://schemas.microsoft.com/office/drawing/2014/main" val="1001350587"/>
                  </a:ext>
                </a:extLst>
              </a:tr>
              <a:tr h="45123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GAT+R-GCN+CL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92.34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91.0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>
                          <a:effectLst/>
                        </a:rPr>
                        <a:t>92.3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50" dirty="0">
                          <a:effectLst/>
                        </a:rPr>
                        <a:t>94.7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040" marR="66040" marT="10160" marB="0"/>
                </a:tc>
                <a:extLst>
                  <a:ext uri="{0D108BD9-81ED-4DB2-BD59-A6C34878D82A}">
                    <a16:rowId xmlns:a16="http://schemas.microsoft.com/office/drawing/2014/main" val="190803163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553562"/>
              </p:ext>
            </p:extLst>
          </p:nvPr>
        </p:nvGraphicFramePr>
        <p:xfrm>
          <a:off x="4954773" y="1616147"/>
          <a:ext cx="3473300" cy="1509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5208">
                  <a:extLst>
                    <a:ext uri="{9D8B030D-6E8A-4147-A177-3AD203B41FA5}">
                      <a16:colId xmlns:a16="http://schemas.microsoft.com/office/drawing/2014/main" val="126208889"/>
                    </a:ext>
                  </a:extLst>
                </a:gridCol>
                <a:gridCol w="1139508">
                  <a:extLst>
                    <a:ext uri="{9D8B030D-6E8A-4147-A177-3AD203B41FA5}">
                      <a16:colId xmlns:a16="http://schemas.microsoft.com/office/drawing/2014/main" val="1675477947"/>
                    </a:ext>
                  </a:extLst>
                </a:gridCol>
                <a:gridCol w="796961">
                  <a:extLst>
                    <a:ext uri="{9D8B030D-6E8A-4147-A177-3AD203B41FA5}">
                      <a16:colId xmlns:a16="http://schemas.microsoft.com/office/drawing/2014/main" val="3422193175"/>
                    </a:ext>
                  </a:extLst>
                </a:gridCol>
                <a:gridCol w="551623">
                  <a:extLst>
                    <a:ext uri="{9D8B030D-6E8A-4147-A177-3AD203B41FA5}">
                      <a16:colId xmlns:a16="http://schemas.microsoft.com/office/drawing/2014/main" val="3522664204"/>
                    </a:ext>
                  </a:extLst>
                </a:gridCol>
              </a:tblGrid>
              <a:tr h="499435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Model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Training Time (s)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Parameters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Layers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extLst>
                  <a:ext uri="{0D108BD9-81ED-4DB2-BD59-A6C34878D82A}">
                    <a16:rowId xmlns:a16="http://schemas.microsoft.com/office/drawing/2014/main" val="613285213"/>
                  </a:ext>
                </a:extLst>
              </a:tr>
              <a:tr h="255477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GAT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tc>
                  <a:txBody>
                    <a:bodyPr/>
                    <a:lstStyle/>
                    <a:p>
                      <a:pPr marL="0" marR="508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32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tc>
                  <a:txBody>
                    <a:bodyPr/>
                    <a:lstStyle/>
                    <a:p>
                      <a:pPr marL="0" marR="508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1.2M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tc>
                  <a:txBody>
                    <a:bodyPr/>
                    <a:lstStyle/>
                    <a:p>
                      <a:pPr marL="0" marR="508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extLst>
                  <a:ext uri="{0D108BD9-81ED-4DB2-BD59-A6C34878D82A}">
                    <a16:rowId xmlns:a16="http://schemas.microsoft.com/office/drawing/2014/main" val="4228312343"/>
                  </a:ext>
                </a:extLst>
              </a:tr>
              <a:tr h="255477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R-GCN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tc>
                  <a:txBody>
                    <a:bodyPr/>
                    <a:lstStyle/>
                    <a:p>
                      <a:pPr marL="0" marR="508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35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tc>
                  <a:txBody>
                    <a:bodyPr/>
                    <a:lstStyle/>
                    <a:p>
                      <a:pPr marL="0" marR="508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1.4M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tc>
                  <a:txBody>
                    <a:bodyPr/>
                    <a:lstStyle/>
                    <a:p>
                      <a:pPr marL="0" marR="508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extLst>
                  <a:ext uri="{0D108BD9-81ED-4DB2-BD59-A6C34878D82A}">
                    <a16:rowId xmlns:a16="http://schemas.microsoft.com/office/drawing/2014/main" val="4092345325"/>
                  </a:ext>
                </a:extLst>
              </a:tr>
              <a:tr h="499435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Combined (CL)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tc>
                  <a:txBody>
                    <a:bodyPr/>
                    <a:lstStyle/>
                    <a:p>
                      <a:pPr marL="0" marR="508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68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tc>
                  <a:txBody>
                    <a:bodyPr/>
                    <a:lstStyle/>
                    <a:p>
                      <a:pPr marL="0" marR="508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2.6M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tc>
                  <a:txBody>
                    <a:bodyPr/>
                    <a:lstStyle/>
                    <a:p>
                      <a:pPr marL="0" marR="508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4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8740" marR="73025" marT="12700" marB="0"/>
                </a:tc>
                <a:extLst>
                  <a:ext uri="{0D108BD9-81ED-4DB2-BD59-A6C34878D82A}">
                    <a16:rowId xmlns:a16="http://schemas.microsoft.com/office/drawing/2014/main" val="4171228356"/>
                  </a:ext>
                </a:extLst>
              </a:tr>
            </a:tbl>
          </a:graphicData>
        </a:graphic>
      </p:graphicFrame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928551" y="3182679"/>
            <a:ext cx="7499521" cy="616686"/>
          </a:xfrm>
        </p:spPr>
        <p:txBody>
          <a:bodyPr>
            <a:normAutofit/>
          </a:bodyPr>
          <a:lstStyle/>
          <a:p>
            <a:r>
              <a:rPr lang="en-US" sz="1200" dirty="0" smtClean="0"/>
              <a:t>Table 1 : Performance Evaluation Table                         </a:t>
            </a:r>
            <a:endParaRPr lang="en-US" sz="1200" dirty="0"/>
          </a:p>
        </p:txBody>
      </p:sp>
      <p:sp>
        <p:nvSpPr>
          <p:cNvPr id="12" name="Text Placeholder 9"/>
          <p:cNvSpPr txBox="1">
            <a:spLocks/>
          </p:cNvSpPr>
          <p:nvPr/>
        </p:nvSpPr>
        <p:spPr bwMode="auto">
          <a:xfrm>
            <a:off x="928551" y="3182679"/>
            <a:ext cx="7960267" cy="616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91425" rIns="91425" bIns="91425" numCol="1" anchor="ctr" anchorCtr="0" compatLnSpc="1">
            <a:prstTxWarp prst="textNoShape">
              <a:avLst/>
            </a:prstTxWarp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lvl="0" indent="-22860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1pPr>
            <a:lvl2pPr marL="7429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2pPr>
            <a:lvl3pPr marL="1143000" lvl="2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3pPr>
            <a:lvl4pPr marL="1600200" lvl="3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4pPr>
            <a:lvl5pPr marL="2057400" lvl="4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kern="0" dirty="0" smtClean="0"/>
              <a:t>Table 1 : Performance Evaluation Table                               </a:t>
            </a:r>
            <a:r>
              <a:rPr lang="en-US" sz="1200" kern="0" dirty="0"/>
              <a:t>Table </a:t>
            </a:r>
            <a:r>
              <a:rPr lang="en-US" sz="1200" kern="0" dirty="0" smtClean="0"/>
              <a:t>2 : </a:t>
            </a:r>
            <a:r>
              <a:rPr lang="en-US" sz="1200" dirty="0"/>
              <a:t>Model Architecture </a:t>
            </a:r>
            <a:r>
              <a:rPr lang="en-US" sz="1200" dirty="0" smtClean="0"/>
              <a:t>Summary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8097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8" name="Picture 7"/>
          <p:cNvPicPr/>
          <p:nvPr/>
        </p:nvPicPr>
        <p:blipFill>
          <a:blip r:embed="rId7"/>
          <a:stretch>
            <a:fillRect/>
          </a:stretch>
        </p:blipFill>
        <p:spPr>
          <a:xfrm>
            <a:off x="1077434" y="1628641"/>
            <a:ext cx="3040910" cy="2355024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8"/>
          <a:stretch>
            <a:fillRect/>
          </a:stretch>
        </p:blipFill>
        <p:spPr>
          <a:xfrm>
            <a:off x="5117804" y="1673631"/>
            <a:ext cx="3118883" cy="23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2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10" name="Picture 9"/>
          <p:cNvPicPr/>
          <p:nvPr/>
        </p:nvPicPr>
        <p:blipFill>
          <a:blip r:embed="rId7"/>
          <a:stretch>
            <a:fillRect/>
          </a:stretch>
        </p:blipFill>
        <p:spPr>
          <a:xfrm>
            <a:off x="474921" y="1538177"/>
            <a:ext cx="3657600" cy="2346251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8"/>
          <a:stretch>
            <a:fillRect/>
          </a:stretch>
        </p:blipFill>
        <p:spPr>
          <a:xfrm>
            <a:off x="4855181" y="1538178"/>
            <a:ext cx="3728838" cy="234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2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257" y="966788"/>
            <a:ext cx="6871485" cy="336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4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177" y="917354"/>
            <a:ext cx="6202325" cy="333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9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53" y="998094"/>
            <a:ext cx="7741294" cy="333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4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53" y="1063256"/>
            <a:ext cx="7741294" cy="319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3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941388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Conclusion &amp; Future Scope</a:t>
            </a:r>
          </a:p>
        </p:txBody>
      </p:sp>
      <p:sp>
        <p:nvSpPr>
          <p:cNvPr id="9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471144"/>
            <a:ext cx="826679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 </a:t>
            </a:r>
            <a:r>
              <a:rPr lang="en-US" b="1" dirty="0"/>
              <a:t>Strong Performance:</a:t>
            </a:r>
            <a:r>
              <a:rPr lang="en-US" dirty="0"/>
              <a:t> Improved accuracy by fusing semantic and relational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 </a:t>
            </a:r>
            <a:r>
              <a:rPr lang="en-US" b="1" dirty="0"/>
              <a:t>Interpretability Limitation:</a:t>
            </a:r>
            <a:r>
              <a:rPr lang="en-US" dirty="0"/>
              <a:t> Reduced clarity due to synthetic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b="1" dirty="0" smtClean="0"/>
              <a:t>Scalability </a:t>
            </a:r>
            <a:r>
              <a:rPr lang="en-US" b="1" dirty="0"/>
              <a:t>Challenge:</a:t>
            </a:r>
            <a:r>
              <a:rPr lang="en-US" dirty="0"/>
              <a:t> High cost limits real-time use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 </a:t>
            </a:r>
            <a:r>
              <a:rPr lang="en-US" b="1" dirty="0"/>
              <a:t>Future Work:</a:t>
            </a:r>
            <a:r>
              <a:rPr lang="en-US" dirty="0"/>
              <a:t> Add temporal GNNs and explainable, dynamic models.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451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-4762" y="4338638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11700" y="979422"/>
            <a:ext cx="8520600" cy="5727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9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1150" y="1462741"/>
            <a:ext cx="852115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Kim, J., Wang, L., &amp; Chen, M. (2024). </a:t>
            </a:r>
            <a:r>
              <a:rPr lang="en-US" i="1" dirty="0"/>
              <a:t>Semantic contrastive learning for robust and diverse item graph recommendation</a:t>
            </a:r>
            <a:r>
              <a:rPr lang="en-US" dirty="0"/>
              <a:t>. In </a:t>
            </a:r>
            <a:r>
              <a:rPr lang="en-US" b="1" dirty="0"/>
              <a:t>Proceedings of the Web Conference (WWW)</a:t>
            </a:r>
            <a:r>
              <a:rPr lang="en-US" dirty="0"/>
              <a:t> (pp. 455–464).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Liang, H., Zhao, S., &amp; Fang, Y. (2025). </a:t>
            </a:r>
            <a:r>
              <a:rPr lang="en-US" i="1" dirty="0"/>
              <a:t>GTCA: A graph transformer contrastive architecture for noisy knowledge graphs</a:t>
            </a:r>
            <a:r>
              <a:rPr lang="en-US" dirty="0"/>
              <a:t>. In </a:t>
            </a:r>
            <a:r>
              <a:rPr lang="en-US" b="1" dirty="0"/>
              <a:t>Proceedings of the 31st ACM SIGKDD Conference on Knowledge Discovery and Data Mining (KDD)</a:t>
            </a:r>
            <a:r>
              <a:rPr lang="en-US" dirty="0"/>
              <a:t> (pp. 331–340).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Jiang, Z., Wu, H., &amp; Zhou, M. (2023). </a:t>
            </a:r>
            <a:r>
              <a:rPr lang="en-US" i="1" dirty="0"/>
              <a:t>AdaGCL: Adaptive graph contrastive learning on noisy data</a:t>
            </a:r>
            <a:r>
              <a:rPr lang="en-US" dirty="0"/>
              <a:t>. </a:t>
            </a:r>
            <a:r>
              <a:rPr lang="en-US" b="1" dirty="0"/>
              <a:t>IEEE Transactions on Neural Networks and Learning Systems, 36</a:t>
            </a:r>
            <a:r>
              <a:rPr lang="en-US" dirty="0"/>
              <a:t>(3), 1456–1467.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Cao, X., Mei, R., &amp; Zhang, T. (2025). </a:t>
            </a:r>
            <a:r>
              <a:rPr lang="en-US" i="1" dirty="0"/>
              <a:t>Dual-channel contrastive graph neural networks for session-aware recommendations</a:t>
            </a:r>
            <a:r>
              <a:rPr lang="en-US" dirty="0"/>
              <a:t>. </a:t>
            </a:r>
            <a:r>
              <a:rPr lang="en-US" b="1" dirty="0"/>
              <a:t>ACM Transactions on Recommender Systems, 3</a:t>
            </a:r>
            <a:r>
              <a:rPr lang="en-US" dirty="0"/>
              <a:t>(2), 1–21.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err="1"/>
              <a:t>Hao</a:t>
            </a:r>
            <a:r>
              <a:rPr lang="en-US" dirty="0"/>
              <a:t>, Q., Wang, C., Xiao, Y., &amp; Zheng, W. (2025). </a:t>
            </a:r>
            <a:r>
              <a:rPr lang="en-US" i="1" dirty="0" err="1"/>
              <a:t>IReGNN</a:t>
            </a:r>
            <a:r>
              <a:rPr lang="en-US" i="1" dirty="0"/>
              <a:t>: Implicit review-enhanced graph neural network for explainable recommendation</a:t>
            </a:r>
            <a:r>
              <a:rPr lang="en-US" dirty="0"/>
              <a:t>. </a:t>
            </a:r>
            <a:r>
              <a:rPr lang="en-US" b="1" dirty="0"/>
              <a:t>Knowledge-Based Systems, 311</a:t>
            </a:r>
            <a:r>
              <a:rPr lang="en-US" dirty="0"/>
              <a:t>, 113113.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76;p14"/>
          <p:cNvSpPr/>
          <p:nvPr/>
        </p:nvSpPr>
        <p:spPr>
          <a:xfrm>
            <a:off x="-4762" y="5028747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702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5;p14"/>
          <p:cNvSpPr>
            <a:spLocks noChangeArrowheads="1"/>
          </p:cNvSpPr>
          <p:nvPr/>
        </p:nvSpPr>
        <p:spPr bwMode="auto">
          <a:xfrm>
            <a:off x="4763" y="0"/>
            <a:ext cx="9134475" cy="104775"/>
          </a:xfrm>
          <a:prstGeom prst="rect">
            <a:avLst/>
          </a:prstGeom>
          <a:solidFill>
            <a:srgbClr val="6AA84F"/>
          </a:solidFill>
          <a:ln w="9525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9" t="11574" r="16925" b="76601"/>
          <a:stretch>
            <a:fillRect/>
          </a:stretch>
        </p:blipFill>
        <p:spPr bwMode="auto">
          <a:xfrm>
            <a:off x="4763" y="160116"/>
            <a:ext cx="14716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mr_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979" y="104775"/>
            <a:ext cx="2432050" cy="760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0" descr="mr_logo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9375"/>
            <a:ext cx="2281238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63593" r="29318" b="23227"/>
          <a:stretch>
            <a:fillRect/>
          </a:stretch>
        </p:blipFill>
        <p:spPr bwMode="auto">
          <a:xfrm>
            <a:off x="4763" y="4335870"/>
            <a:ext cx="9144000" cy="7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76;p14"/>
          <p:cNvSpPr/>
          <p:nvPr/>
        </p:nvSpPr>
        <p:spPr>
          <a:xfrm>
            <a:off x="4763" y="5038725"/>
            <a:ext cx="9134475" cy="104775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1425" tIns="91425" rIns="91425" bIns="91425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>
          <a:xfrm>
            <a:off x="535006" y="2104452"/>
            <a:ext cx="6021738" cy="743655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Thank You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90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3012</TotalTime>
  <Words>914</Words>
  <Application>Microsoft Office PowerPoint</Application>
  <PresentationFormat>On-screen Show (16:9)</PresentationFormat>
  <Paragraphs>122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Introduction</vt:lpstr>
      <vt:lpstr>Problem Statements</vt:lpstr>
      <vt:lpstr>Objectives</vt:lpstr>
      <vt:lpstr>Literature Review</vt:lpstr>
      <vt:lpstr>Methodology</vt:lpstr>
      <vt:lpstr>Result &amp; Discussion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&amp; 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MyLaptop HP</cp:lastModifiedBy>
  <cp:revision>55</cp:revision>
  <dcterms:modified xsi:type="dcterms:W3CDTF">2025-10-30T14:25:26Z</dcterms:modified>
</cp:coreProperties>
</file>