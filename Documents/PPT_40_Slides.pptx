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8" r:id="rId2"/>
    <p:sldId id="259" r:id="rId3"/>
    <p:sldId id="260" r:id="rId4"/>
    <p:sldId id="261" r:id="rId5"/>
    <p:sldId id="262" r:id="rId6"/>
    <p:sldId id="263" r:id="rId7"/>
    <p:sldId id="265" r:id="rId8"/>
    <p:sldId id="289" r:id="rId9"/>
    <p:sldId id="266" r:id="rId10"/>
    <p:sldId id="267" r:id="rId11"/>
    <p:sldId id="268" r:id="rId12"/>
    <p:sldId id="269" r:id="rId13"/>
    <p:sldId id="270" r:id="rId14"/>
    <p:sldId id="271" r:id="rId15"/>
    <p:sldId id="284" r:id="rId16"/>
    <p:sldId id="285" r:id="rId17"/>
    <p:sldId id="286" r:id="rId18"/>
    <p:sldId id="288" r:id="rId19"/>
    <p:sldId id="281" r:id="rId20"/>
    <p:sldId id="282" r:id="rId21"/>
    <p:sldId id="272" r:id="rId22"/>
    <p:sldId id="274" r:id="rId23"/>
    <p:sldId id="275" r:id="rId24"/>
    <p:sldId id="276" r:id="rId25"/>
    <p:sldId id="287" r:id="rId26"/>
    <p:sldId id="291" r:id="rId27"/>
    <p:sldId id="292" r:id="rId28"/>
    <p:sldId id="293" r:id="rId29"/>
    <p:sldId id="283" r:id="rId30"/>
    <p:sldId id="277" r:id="rId31"/>
    <p:sldId id="290" r:id="rId32"/>
    <p:sldId id="278" r:id="rId33"/>
    <p:sldId id="279" r:id="rId34"/>
    <p:sldId id="28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09" autoAdjust="0"/>
    <p:restoredTop sz="94585" autoAdjust="0"/>
  </p:normalViewPr>
  <p:slideViewPr>
    <p:cSldViewPr snapToGrid="0">
      <p:cViewPr varScale="1">
        <p:scale>
          <a:sx n="82" d="100"/>
          <a:sy n="82" d="100"/>
        </p:scale>
        <p:origin x="797" y="6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5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80D152-5116-4477-B784-4471F9DE729F}" type="datetimeFigureOut">
              <a:rPr lang="en-US" smtClean="0"/>
              <a:t>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238B9E-7321-4CBF-88F3-8A86102C03FA}" type="slidenum">
              <a:rPr lang="en-US" smtClean="0"/>
              <a:t>‹#›</a:t>
            </a:fld>
            <a:endParaRPr lang="en-US"/>
          </a:p>
        </p:txBody>
      </p:sp>
    </p:spTree>
    <p:extLst>
      <p:ext uri="{BB962C8B-B14F-4D97-AF65-F5344CB8AC3E}">
        <p14:creationId xmlns:p14="http://schemas.microsoft.com/office/powerpoint/2010/main" val="2919327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E238B9E-7321-4CBF-88F3-8A86102C03FA}" type="slidenum">
              <a:rPr lang="en-US" smtClean="0"/>
              <a:t>7</a:t>
            </a:fld>
            <a:endParaRPr lang="en-US"/>
          </a:p>
        </p:txBody>
      </p:sp>
    </p:spTree>
    <p:extLst>
      <p:ext uri="{BB962C8B-B14F-4D97-AF65-F5344CB8AC3E}">
        <p14:creationId xmlns:p14="http://schemas.microsoft.com/office/powerpoint/2010/main" val="744248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E238B9E-7321-4CBF-88F3-8A86102C03FA}" type="slidenum">
              <a:rPr lang="en-US" smtClean="0"/>
              <a:t>8</a:t>
            </a:fld>
            <a:endParaRPr lang="en-US"/>
          </a:p>
        </p:txBody>
      </p:sp>
    </p:spTree>
    <p:extLst>
      <p:ext uri="{BB962C8B-B14F-4D97-AF65-F5344CB8AC3E}">
        <p14:creationId xmlns:p14="http://schemas.microsoft.com/office/powerpoint/2010/main" val="480974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E238B9E-7321-4CBF-88F3-8A86102C03FA}" type="slidenum">
              <a:rPr lang="en-US" smtClean="0"/>
              <a:t>28</a:t>
            </a:fld>
            <a:endParaRPr lang="en-US"/>
          </a:p>
        </p:txBody>
      </p:sp>
    </p:spTree>
    <p:extLst>
      <p:ext uri="{BB962C8B-B14F-4D97-AF65-F5344CB8AC3E}">
        <p14:creationId xmlns:p14="http://schemas.microsoft.com/office/powerpoint/2010/main" val="4152157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14AE95F-A18B-4B55-9062-F934C98EB12E}"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4144907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F686AC7-CF44-40C3-BA40-FDD544ABD0C7}"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1259663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AC0E8E1-161D-4949-9C14-0A019E771651}"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2393343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BE341B9-A1AA-400E-9868-0EBA417D0527}"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3163128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D43A2CC-1A74-4566-BDE6-67DB50517F04}" type="datetime1">
              <a:rPr lang="en-US" smtClean="0"/>
              <a:t>2/9/2026</a:t>
            </a:fld>
            <a:endParaRPr lang="en-US"/>
          </a:p>
        </p:txBody>
      </p:sp>
      <p:sp>
        <p:nvSpPr>
          <p:cNvPr id="8" name="Footer Placeholder 7"/>
          <p:cNvSpPr>
            <a:spLocks noGrp="1"/>
          </p:cNvSpPr>
          <p:nvPr>
            <p:ph type="ftr" sz="quarter" idx="11"/>
          </p:nvPr>
        </p:nvSpPr>
        <p:spPr/>
        <p:txBody>
          <a:bodyPr/>
          <a:lstStyle/>
          <a:p>
            <a:r>
              <a:rPr lang="en-US" smtClean="0"/>
              <a:t>Review No. 3     Batch No.CG11         Department of CSE</a:t>
            </a:r>
            <a:endParaRPr lang="en-US"/>
          </a:p>
        </p:txBody>
      </p:sp>
      <p:sp>
        <p:nvSpPr>
          <p:cNvPr id="9" name="Slide Number Placeholder 8"/>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3366145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5368575-9453-448B-B9AC-6804896AFB46}" type="datetime1">
              <a:rPr lang="en-US" smtClean="0"/>
              <a:t>2/9/2026</a:t>
            </a:fld>
            <a:endParaRPr lang="en-US"/>
          </a:p>
        </p:txBody>
      </p:sp>
      <p:sp>
        <p:nvSpPr>
          <p:cNvPr id="4" name="Footer Placeholder 3"/>
          <p:cNvSpPr>
            <a:spLocks noGrp="1"/>
          </p:cNvSpPr>
          <p:nvPr>
            <p:ph type="ftr" sz="quarter" idx="11"/>
          </p:nvPr>
        </p:nvSpPr>
        <p:spPr/>
        <p:txBody>
          <a:bodyPr/>
          <a:lstStyle/>
          <a:p>
            <a:r>
              <a:rPr lang="en-US" smtClean="0"/>
              <a:t>Review No. 3     Batch No.CG11         Department of CSE</a:t>
            </a:r>
            <a:endParaRPr lang="en-US"/>
          </a:p>
        </p:txBody>
      </p:sp>
      <p:sp>
        <p:nvSpPr>
          <p:cNvPr id="5" name="Slide Number Placeholder 4"/>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1822093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7EEFC1-7E72-4CBF-B346-9E3F426F5AFF}" type="datetime1">
              <a:rPr lang="en-US" smtClean="0"/>
              <a:t>2/9/2026</a:t>
            </a:fld>
            <a:endParaRPr lang="en-US"/>
          </a:p>
        </p:txBody>
      </p:sp>
      <p:sp>
        <p:nvSpPr>
          <p:cNvPr id="3" name="Footer Placeholder 2"/>
          <p:cNvSpPr>
            <a:spLocks noGrp="1"/>
          </p:cNvSpPr>
          <p:nvPr>
            <p:ph type="ftr" sz="quarter" idx="11"/>
          </p:nvPr>
        </p:nvSpPr>
        <p:spPr/>
        <p:txBody>
          <a:bodyPr/>
          <a:lstStyle/>
          <a:p>
            <a:r>
              <a:rPr lang="en-US" smtClean="0"/>
              <a:t>Review No. 3     Batch No.CG11         Department of CSE</a:t>
            </a:r>
            <a:endParaRPr lang="en-US"/>
          </a:p>
        </p:txBody>
      </p:sp>
      <p:sp>
        <p:nvSpPr>
          <p:cNvPr id="4" name="Slide Number Placeholder 3"/>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3846719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8075CE3-B2ED-4BD6-95A6-99539C36E283}"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2823023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41C6D6-8DF1-4990-A026-D91A886CF2D8}"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41964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FC8041B-354D-47B3-AD86-8C8D70632E0E}"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1550195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1A361D9-A86B-45E6-807F-F49040BBC0FF}"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1283780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647C255-6A37-49DB-A7C6-82AE9343C104}" type="datetime1">
              <a:rPr lang="en-US" smtClean="0"/>
              <a:t>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Review No. 3     Batch No.CG11         Department of CSE</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EC67FC-8107-4C00-9415-4D1567E899B9}" type="slidenum">
              <a:rPr lang="en-US" smtClean="0"/>
              <a:t>‹#›</a:t>
            </a:fld>
            <a:endParaRPr lang="en-US"/>
          </a:p>
        </p:txBody>
      </p:sp>
    </p:spTree>
    <p:extLst>
      <p:ext uri="{BB962C8B-B14F-4D97-AF65-F5344CB8AC3E}">
        <p14:creationId xmlns:p14="http://schemas.microsoft.com/office/powerpoint/2010/main" val="2719251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6493"/>
            <a:ext cx="10515600" cy="732327"/>
          </a:xfrm>
        </p:spPr>
        <p:txBody>
          <a:bodyPr>
            <a:normAutofit/>
          </a:bodyPr>
          <a:lstStyle/>
          <a:p>
            <a:pPr algn="ctr"/>
            <a:r>
              <a:rPr lang="en-US" sz="2800" b="1" dirty="0" smtClean="0">
                <a:solidFill>
                  <a:srgbClr val="00B050"/>
                </a:solidFill>
                <a:latin typeface="Times New Roman" panose="02020603050405020304" pitchFamily="18" charset="0"/>
                <a:cs typeface="Times New Roman" panose="02020603050405020304" pitchFamily="18" charset="0"/>
              </a:rPr>
              <a:t>Department of Computer Science Engineering</a:t>
            </a:r>
            <a:endParaRPr lang="en-US" sz="28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05254" y="1509102"/>
            <a:ext cx="10515600" cy="4777398"/>
          </a:xfrm>
        </p:spPr>
        <p:txBody>
          <a:bodyPr>
            <a:normAutofit lnSpcReduction="10000"/>
          </a:bodyPr>
          <a:lstStyle/>
          <a:p>
            <a:pPr marL="0" indent="0" algn="ctr">
              <a:buNone/>
            </a:pPr>
            <a:r>
              <a:rPr lang="en-US" sz="2000" dirty="0" smtClean="0">
                <a:solidFill>
                  <a:srgbClr val="FF0000"/>
                </a:solidFill>
                <a:latin typeface="Times New Roman" panose="02020603050405020304" pitchFamily="18" charset="0"/>
                <a:ea typeface="Verdana" panose="020B0604030504040204" pitchFamily="34" charset="0"/>
                <a:cs typeface="Times New Roman" panose="02020603050405020304" pitchFamily="18" charset="0"/>
              </a:rPr>
              <a:t>CONTRASTIVE </a:t>
            </a:r>
            <a:r>
              <a:rPr lang="en-US" sz="20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rPr>
              <a:t>LEARNING: A DEEP LEARNING FRAMEWORK FOR </a:t>
            </a:r>
          </a:p>
          <a:p>
            <a:pPr marL="0" indent="0" algn="ctr">
              <a:buNone/>
            </a:pPr>
            <a:r>
              <a:rPr lang="en-US" sz="20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rPr>
              <a:t>            REVIEW-BASED KNOWLEDGE </a:t>
            </a:r>
            <a:r>
              <a:rPr lang="en-US" sz="2000" dirty="0" smtClean="0">
                <a:solidFill>
                  <a:srgbClr val="FF0000"/>
                </a:solidFill>
                <a:latin typeface="Times New Roman" panose="02020603050405020304" pitchFamily="18" charset="0"/>
                <a:ea typeface="Verdana" panose="020B0604030504040204" pitchFamily="34" charset="0"/>
                <a:cs typeface="Times New Roman" panose="02020603050405020304" pitchFamily="18" charset="0"/>
              </a:rPr>
              <a:t>GRAPHS</a:t>
            </a:r>
          </a:p>
          <a:p>
            <a:pPr marL="0" indent="0" algn="ctr">
              <a:buNone/>
            </a:pPr>
            <a:r>
              <a:rPr lang="en-US" sz="2000" dirty="0" smtClean="0">
                <a:latin typeface="Times New Roman" panose="02020603050405020304" pitchFamily="18" charset="0"/>
                <a:ea typeface="Verdana" panose="020B0604030504040204" pitchFamily="34" charset="0"/>
                <a:cs typeface="Times New Roman" panose="02020603050405020304" pitchFamily="18" charset="0"/>
              </a:rPr>
              <a:t>PRESENTED BY</a:t>
            </a:r>
          </a:p>
          <a:p>
            <a:pPr marL="0" indent="0">
              <a:buNone/>
            </a:pPr>
            <a:r>
              <a:rPr lang="en-US" sz="2000" dirty="0" smtClean="0">
                <a:solidFill>
                  <a:schemeClr val="tx1">
                    <a:lumMod val="75000"/>
                    <a:lumOff val="25000"/>
                  </a:schemeClr>
                </a:solidFill>
                <a:latin typeface="Times New Roman" panose="02020603050405020304" pitchFamily="18" charset="0"/>
                <a:ea typeface="Verdana" panose="020B0604030504040204" pitchFamily="34" charset="0"/>
                <a:cs typeface="Times New Roman" panose="02020603050405020304" pitchFamily="18" charset="0"/>
              </a:rPr>
              <a:t>                                           </a:t>
            </a:r>
            <a:r>
              <a:rPr lang="en-US" sz="1800" dirty="0" smtClean="0">
                <a:solidFill>
                  <a:schemeClr val="tx1">
                    <a:lumMod val="75000"/>
                    <a:lumOff val="25000"/>
                  </a:schemeClr>
                </a:solidFill>
                <a:latin typeface="Times New Roman" panose="02020603050405020304" pitchFamily="18" charset="0"/>
                <a:ea typeface="Verdana" panose="020B0604030504040204" pitchFamily="34" charset="0"/>
                <a:cs typeface="Times New Roman" panose="02020603050405020304" pitchFamily="18" charset="0"/>
              </a:rPr>
              <a:t>Makkena Rajeswari                            (22471A05H0)                                      </a:t>
            </a:r>
          </a:p>
          <a:p>
            <a:pPr marL="0" indent="0">
              <a:buNone/>
            </a:pPr>
            <a:r>
              <a:rPr lang="en-US" sz="1800" dirty="0" smtClean="0">
                <a:solidFill>
                  <a:schemeClr val="tx1">
                    <a:lumMod val="75000"/>
                    <a:lumOff val="25000"/>
                  </a:schemeClr>
                </a:solidFill>
                <a:latin typeface="Times New Roman" panose="02020603050405020304" pitchFamily="18" charset="0"/>
                <a:ea typeface="Verdana" panose="020B0604030504040204" pitchFamily="34" charset="0"/>
                <a:cs typeface="Times New Roman" panose="02020603050405020304" pitchFamily="18" charset="0"/>
              </a:rPr>
              <a:t>                                                Shaik Sumaya                                     (22471A05J4)</a:t>
            </a:r>
          </a:p>
          <a:p>
            <a:pPr marL="0" indent="0">
              <a:buNone/>
            </a:pPr>
            <a:r>
              <a:rPr lang="en-US" sz="1800" dirty="0" smtClean="0">
                <a:solidFill>
                  <a:schemeClr val="tx1">
                    <a:lumMod val="75000"/>
                    <a:lumOff val="25000"/>
                  </a:schemeClr>
                </a:solidFill>
                <a:latin typeface="Times New Roman" panose="02020603050405020304" pitchFamily="18" charset="0"/>
                <a:cs typeface="Times New Roman" panose="02020603050405020304" pitchFamily="18" charset="0"/>
              </a:rPr>
              <a:t>                                                Badigunchala Pushpa Sivaleelavathi  (22471A05E6)</a:t>
            </a:r>
          </a:p>
          <a:p>
            <a:pPr marL="0" indent="0">
              <a:buNone/>
            </a:pPr>
            <a:r>
              <a:rPr lang="en-US" sz="1800" dirty="0">
                <a:solidFill>
                  <a:schemeClr val="tx1">
                    <a:lumMod val="75000"/>
                    <a:lumOff val="25000"/>
                  </a:schemeClr>
                </a:solidFill>
                <a:latin typeface="Times New Roman" panose="02020603050405020304" pitchFamily="18" charset="0"/>
                <a:cs typeface="Times New Roman" panose="02020603050405020304" pitchFamily="18" charset="0"/>
              </a:rPr>
              <a:t> </a:t>
            </a:r>
            <a:endParaRPr lang="en-US" sz="1800" dirty="0" smtClean="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a:buNone/>
            </a:pPr>
            <a:r>
              <a:rPr lang="en-US" sz="1800" dirty="0" smtClean="0">
                <a:solidFill>
                  <a:schemeClr val="tx1">
                    <a:lumMod val="75000"/>
                    <a:lumOff val="25000"/>
                  </a:schemeClr>
                </a:solidFill>
                <a:latin typeface="Times New Roman" panose="02020603050405020304" pitchFamily="18" charset="0"/>
                <a:cs typeface="Times New Roman" panose="02020603050405020304" pitchFamily="18" charset="0"/>
              </a:rPr>
              <a:t>                                                                    Under the Guidance of,</a:t>
            </a:r>
          </a:p>
          <a:p>
            <a:pPr marL="0" indent="0">
              <a:buNone/>
            </a:pPr>
            <a:r>
              <a:rPr lang="en-US" sz="1800" dirty="0" smtClean="0">
                <a:latin typeface="Times New Roman" panose="02020603050405020304" pitchFamily="18" charset="0"/>
                <a:cs typeface="Times New Roman" panose="02020603050405020304" pitchFamily="18" charset="0"/>
              </a:rPr>
              <a:t>                                                         Dr</a:t>
            </a:r>
            <a:r>
              <a:rPr lang="en-US" sz="1800" dirty="0">
                <a:latin typeface="Times New Roman" panose="02020603050405020304" pitchFamily="18" charset="0"/>
                <a:cs typeface="Times New Roman" panose="02020603050405020304" pitchFamily="18" charset="0"/>
              </a:rPr>
              <a:t>. K. Soma Sekhar, </a:t>
            </a:r>
            <a:r>
              <a:rPr lang="en-US" sz="1400" dirty="0" err="1" smtClean="0">
                <a:latin typeface="Times New Roman" panose="02020603050405020304" pitchFamily="18" charset="0"/>
                <a:cs typeface="Times New Roman" panose="02020603050405020304" pitchFamily="18" charset="0"/>
              </a:rPr>
              <a:t>B.Tech</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M.Tech</a:t>
            </a:r>
            <a:r>
              <a:rPr lang="en-US" sz="1400" dirty="0">
                <a:latin typeface="Times New Roman" panose="02020603050405020304" pitchFamily="18" charset="0"/>
                <a:cs typeface="Times New Roman" panose="02020603050405020304" pitchFamily="18" charset="0"/>
              </a:rPr>
              <a:t>., </a:t>
            </a:r>
            <a:r>
              <a:rPr lang="en-US" sz="1400" dirty="0" smtClean="0">
                <a:latin typeface="Times New Roman" panose="02020603050405020304" pitchFamily="18" charset="0"/>
                <a:cs typeface="Times New Roman" panose="02020603050405020304" pitchFamily="18" charset="0"/>
              </a:rPr>
              <a:t>Ph.D.</a:t>
            </a: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Associate Professor,</a:t>
            </a:r>
          </a:p>
          <a:p>
            <a:pPr marL="0" indent="0">
              <a:buNone/>
            </a:pPr>
            <a:r>
              <a:rPr lang="en-US" sz="1800" dirty="0" smtClean="0"/>
              <a:t>                                            </a:t>
            </a:r>
            <a:r>
              <a:rPr lang="en-US" sz="1800" dirty="0" smtClean="0">
                <a:latin typeface="Times New Roman" panose="02020603050405020304" pitchFamily="18" charset="0"/>
                <a:cs typeface="Times New Roman" panose="02020603050405020304" pitchFamily="18" charset="0"/>
              </a:rPr>
              <a:t>Department of Computer Science and Engineering,</a:t>
            </a:r>
          </a:p>
          <a:p>
            <a:pPr marL="0" indent="0">
              <a:buNone/>
            </a:pPr>
            <a:r>
              <a:rPr lang="en-US" sz="1800" dirty="0" smtClean="0">
                <a:latin typeface="Times New Roman" panose="02020603050405020304" pitchFamily="18" charset="0"/>
                <a:cs typeface="Times New Roman" panose="02020603050405020304" pitchFamily="18" charset="0"/>
              </a:rPr>
              <a:t>                                             Narasaraopeta Engineering College (Autonomous),</a:t>
            </a:r>
          </a:p>
          <a:p>
            <a:pPr marL="0" indent="0">
              <a:buNone/>
            </a:pP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Narasaraopet</a:t>
            </a:r>
            <a:r>
              <a:rPr lang="en-US" sz="1800" dirty="0" smtClean="0">
                <a:latin typeface="Times New Roman" panose="02020603050405020304" pitchFamily="18" charset="0"/>
                <a:cs typeface="Times New Roman" panose="02020603050405020304" pitchFamily="18" charset="0"/>
              </a:rPr>
              <a:t>- 522 601.</a:t>
            </a:r>
          </a:p>
          <a:p>
            <a:pPr marL="0" indent="0">
              <a:buNone/>
            </a:pPr>
            <a:endParaRPr lang="en-US" sz="1800" dirty="0" smtClean="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a:buNone/>
            </a:pPr>
            <a:endParaRPr lang="en-US" sz="1800" dirty="0" smtClean="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a:buNone/>
            </a:pPr>
            <a:endParaRPr lang="en-US" sz="1800" dirty="0" smtClean="0">
              <a:latin typeface="Times New Roman" panose="02020603050405020304" pitchFamily="18" charset="0"/>
              <a:ea typeface="Verdana" panose="020B0604030504040204" pitchFamily="34" charset="0"/>
              <a:cs typeface="Times New Roman" panose="02020603050405020304" pitchFamily="18" charset="0"/>
            </a:endParaRPr>
          </a:p>
          <a:p>
            <a:pPr marL="0" indent="0" algn="ctr">
              <a:buNone/>
            </a:pPr>
            <a:endParaRPr lang="en-US" sz="1800" dirty="0">
              <a:solidFill>
                <a:schemeClr val="accent5">
                  <a:lumMod val="60000"/>
                  <a:lumOff val="40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4677428" cy="671805"/>
          </a:xfrm>
          <a:prstGeom prst="rect">
            <a:avLst/>
          </a:prstGeom>
        </p:spPr>
      </p:pic>
      <p:sp>
        <p:nvSpPr>
          <p:cNvPr id="5" name="Date Placeholder 4"/>
          <p:cNvSpPr>
            <a:spLocks noGrp="1"/>
          </p:cNvSpPr>
          <p:nvPr>
            <p:ph type="dt" sz="half" idx="10"/>
          </p:nvPr>
        </p:nvSpPr>
        <p:spPr/>
        <p:txBody>
          <a:bodyPr/>
          <a:lstStyle/>
          <a:p>
            <a:fld id="{4D23B14D-69E7-41F5-A97D-DA00AE5CB2E8}"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dirty="0"/>
          </a:p>
        </p:txBody>
      </p:sp>
      <p:sp>
        <p:nvSpPr>
          <p:cNvPr id="7" name="Slide Number Placeholder 6"/>
          <p:cNvSpPr>
            <a:spLocks noGrp="1"/>
          </p:cNvSpPr>
          <p:nvPr>
            <p:ph type="sldNum" sz="quarter" idx="12"/>
          </p:nvPr>
        </p:nvSpPr>
        <p:spPr/>
        <p:txBody>
          <a:bodyPr/>
          <a:lstStyle/>
          <a:p>
            <a:fld id="{FFEC67FC-8107-4C00-9415-4D1567E899B9}" type="slidenum">
              <a:rPr lang="en-US" smtClean="0"/>
              <a:t>1</a:t>
            </a:fld>
            <a:endParaRPr lang="en-US"/>
          </a:p>
        </p:txBody>
      </p:sp>
    </p:spTree>
    <p:extLst>
      <p:ext uri="{BB962C8B-B14F-4D97-AF65-F5344CB8AC3E}">
        <p14:creationId xmlns:p14="http://schemas.microsoft.com/office/powerpoint/2010/main" val="6650188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CONTENTS</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86010"/>
            <a:ext cx="10515600" cy="4351338"/>
          </a:xfrm>
        </p:spPr>
        <p:txBody>
          <a:bodyPr>
            <a:normAutofit fontScale="92500" lnSpcReduction="20000"/>
          </a:bodyPr>
          <a:lstStyle/>
          <a:p>
            <a:r>
              <a:rPr lang="en-US" sz="1800" dirty="0" smtClean="0">
                <a:latin typeface="Times New Roman" panose="02020603050405020304" pitchFamily="18" charset="0"/>
                <a:cs typeface="Times New Roman" panose="02020603050405020304" pitchFamily="18" charset="0"/>
              </a:rPr>
              <a:t>Abstract</a:t>
            </a:r>
          </a:p>
          <a:p>
            <a:r>
              <a:rPr lang="en-US" sz="1800" dirty="0" smtClean="0">
                <a:latin typeface="Times New Roman" panose="02020603050405020304" pitchFamily="18" charset="0"/>
                <a:cs typeface="Times New Roman" panose="02020603050405020304" pitchFamily="18" charset="0"/>
              </a:rPr>
              <a:t>Introduction</a:t>
            </a:r>
          </a:p>
          <a:p>
            <a:r>
              <a:rPr lang="en-US" sz="1800" dirty="0" smtClean="0">
                <a:latin typeface="Times New Roman" panose="02020603050405020304" pitchFamily="18" charset="0"/>
                <a:cs typeface="Times New Roman" panose="02020603050405020304" pitchFamily="18" charset="0"/>
              </a:rPr>
              <a:t>Literature Survey</a:t>
            </a:r>
          </a:p>
          <a:p>
            <a:r>
              <a:rPr lang="en-US" sz="1800" dirty="0" smtClean="0">
                <a:latin typeface="Times New Roman" panose="02020603050405020304" pitchFamily="18" charset="0"/>
                <a:cs typeface="Times New Roman" panose="02020603050405020304" pitchFamily="18" charset="0"/>
              </a:rPr>
              <a:t>Research Gaps</a:t>
            </a:r>
          </a:p>
          <a:p>
            <a:r>
              <a:rPr lang="en-US" sz="1800" dirty="0" smtClean="0">
                <a:latin typeface="Times New Roman" panose="02020603050405020304" pitchFamily="18" charset="0"/>
                <a:cs typeface="Times New Roman" panose="02020603050405020304" pitchFamily="18" charset="0"/>
              </a:rPr>
              <a:t>Problem Statement</a:t>
            </a:r>
          </a:p>
          <a:p>
            <a:r>
              <a:rPr lang="en-US" sz="1800" dirty="0" smtClean="0">
                <a:latin typeface="Times New Roman" panose="02020603050405020304" pitchFamily="18" charset="0"/>
                <a:cs typeface="Times New Roman" panose="02020603050405020304" pitchFamily="18" charset="0"/>
              </a:rPr>
              <a:t>Objectives </a:t>
            </a:r>
          </a:p>
          <a:p>
            <a:r>
              <a:rPr lang="en-US" sz="1800" dirty="0" smtClean="0">
                <a:latin typeface="Times New Roman" panose="02020603050405020304" pitchFamily="18" charset="0"/>
                <a:cs typeface="Times New Roman" panose="02020603050405020304" pitchFamily="18" charset="0"/>
              </a:rPr>
              <a:t>Flow Chart</a:t>
            </a:r>
          </a:p>
          <a:p>
            <a:r>
              <a:rPr lang="en-US" sz="1800" dirty="0" smtClean="0">
                <a:latin typeface="Times New Roman" panose="02020603050405020304" pitchFamily="18" charset="0"/>
                <a:cs typeface="Times New Roman" panose="02020603050405020304" pitchFamily="18" charset="0"/>
              </a:rPr>
              <a:t>Methodology</a:t>
            </a:r>
          </a:p>
          <a:p>
            <a:r>
              <a:rPr lang="en-US" sz="1800" dirty="0" smtClean="0">
                <a:latin typeface="Times New Roman" panose="02020603050405020304" pitchFamily="18" charset="0"/>
                <a:cs typeface="Times New Roman" panose="02020603050405020304" pitchFamily="18" charset="0"/>
              </a:rPr>
              <a:t>Implementation</a:t>
            </a:r>
          </a:p>
          <a:p>
            <a:r>
              <a:rPr lang="en-US" sz="1800" dirty="0" smtClean="0">
                <a:latin typeface="Times New Roman" panose="02020603050405020304" pitchFamily="18" charset="0"/>
                <a:cs typeface="Times New Roman" panose="02020603050405020304" pitchFamily="18" charset="0"/>
              </a:rPr>
              <a:t>Results &amp; Analysis</a:t>
            </a:r>
          </a:p>
          <a:p>
            <a:r>
              <a:rPr lang="en-US" sz="1800" dirty="0" smtClean="0">
                <a:latin typeface="Times New Roman" panose="02020603050405020304" pitchFamily="18" charset="0"/>
                <a:cs typeface="Times New Roman" panose="02020603050405020304" pitchFamily="18" charset="0"/>
              </a:rPr>
              <a:t>Comparative Analysis</a:t>
            </a:r>
          </a:p>
          <a:p>
            <a:r>
              <a:rPr lang="en-US" sz="1800" dirty="0" smtClean="0">
                <a:latin typeface="Times New Roman" panose="02020603050405020304" pitchFamily="18" charset="0"/>
                <a:cs typeface="Times New Roman" panose="02020603050405020304" pitchFamily="18" charset="0"/>
              </a:rPr>
              <a:t>Conclusion &amp; Future Scope</a:t>
            </a:r>
          </a:p>
          <a:p>
            <a:r>
              <a:rPr lang="en-US" sz="1800" dirty="0" smtClean="0">
                <a:latin typeface="Times New Roman" panose="02020603050405020304" pitchFamily="18" charset="0"/>
                <a:cs typeface="Times New Roman" panose="02020603050405020304" pitchFamily="18" charset="0"/>
              </a:rPr>
              <a:t>References</a:t>
            </a:r>
          </a:p>
          <a:p>
            <a:r>
              <a:rPr lang="en-US" sz="1800" dirty="0" smtClean="0">
                <a:latin typeface="Times New Roman" panose="02020603050405020304" pitchFamily="18" charset="0"/>
                <a:cs typeface="Times New Roman" panose="02020603050405020304" pitchFamily="18" charset="0"/>
              </a:rPr>
              <a:t>Question and Answers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352"/>
            <a:ext cx="4677428" cy="713817"/>
          </a:xfrm>
          <a:prstGeom prst="rect">
            <a:avLst/>
          </a:prstGeom>
        </p:spPr>
      </p:pic>
      <p:sp>
        <p:nvSpPr>
          <p:cNvPr id="5" name="Date Placeholder 4"/>
          <p:cNvSpPr>
            <a:spLocks noGrp="1"/>
          </p:cNvSpPr>
          <p:nvPr>
            <p:ph type="dt" sz="half" idx="10"/>
          </p:nvPr>
        </p:nvSpPr>
        <p:spPr/>
        <p:txBody>
          <a:bodyPr/>
          <a:lstStyle/>
          <a:p>
            <a:fld id="{D979399F-2C50-40A0-A99A-D03E83AE671A}"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2</a:t>
            </a:fld>
            <a:endParaRPr lang="en-US"/>
          </a:p>
        </p:txBody>
      </p:sp>
    </p:spTree>
    <p:extLst>
      <p:ext uri="{BB962C8B-B14F-4D97-AF65-F5344CB8AC3E}">
        <p14:creationId xmlns:p14="http://schemas.microsoft.com/office/powerpoint/2010/main" val="21539399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Abstract</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86010"/>
            <a:ext cx="10515600" cy="4351338"/>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Graph-based learning is widely used for modeling recommendations through nodes and edges. Nevertheless, traditional models of knowledge graphs can suffer from noisy high order relationships and ignore the rich contextual information found in user reviews. This research proposes a review enriched graph neural network framework that connects structural knowledge and semantic cues through a contrastive learning framework. A hybrid architecture combining Graph Attention Networks (GAT) and Relational Graph Convolutional Networks (R-GCN) captures heterogeneous relations and node importance. The review embedding’s (obtained from transformer-based models) and structural node representations are aligned and enhanced by the contrastive objective to improve the quality of the learned features. Dimensionality reduction is applied before classification. The model achieved 95.02% training accuracy and 92.08% test accuracy, outperforming traditional baselines across all metrics. This study demonstrates the usefulness of multi-view GNNs with contrastive alignment for generating semantically rich graph representations. Future work will focus on deploying This study on a large scale to model temporal representation of changing user actions as well as using more than one type of multi-modal review data to improve scalability, interpretability, and real-world relevance.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352"/>
            <a:ext cx="4677428" cy="743054"/>
          </a:xfrm>
          <a:prstGeom prst="rect">
            <a:avLst/>
          </a:prstGeom>
        </p:spPr>
      </p:pic>
      <p:sp>
        <p:nvSpPr>
          <p:cNvPr id="5" name="Date Placeholder 4"/>
          <p:cNvSpPr>
            <a:spLocks noGrp="1"/>
          </p:cNvSpPr>
          <p:nvPr>
            <p:ph type="dt" sz="half" idx="10"/>
          </p:nvPr>
        </p:nvSpPr>
        <p:spPr/>
        <p:txBody>
          <a:bodyPr/>
          <a:lstStyle/>
          <a:p>
            <a:fld id="{D4024EB2-D944-46B3-9561-43D511A36F93}"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3</a:t>
            </a:fld>
            <a:endParaRPr lang="en-US"/>
          </a:p>
        </p:txBody>
      </p:sp>
    </p:spTree>
    <p:extLst>
      <p:ext uri="{BB962C8B-B14F-4D97-AF65-F5344CB8AC3E}">
        <p14:creationId xmlns:p14="http://schemas.microsoft.com/office/powerpoint/2010/main" val="390678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Introduction</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86010"/>
            <a:ext cx="10515600" cy="4351338"/>
          </a:xfrm>
        </p:spPr>
        <p:txBody>
          <a:bodyPr>
            <a:normAutofit/>
          </a:bodyPr>
          <a:lstStyle/>
          <a:p>
            <a:pPr>
              <a:buFont typeface="Wingdings" panose="05000000000000000000" pitchFamily="2" charset="2"/>
              <a:buChar char="Ø"/>
            </a:pPr>
            <a:r>
              <a:rPr lang="en-US" sz="1800" b="1" dirty="0" smtClean="0">
                <a:latin typeface="Times New Roman" panose="02020603050405020304" pitchFamily="18" charset="0"/>
                <a:cs typeface="Times New Roman" panose="02020603050405020304" pitchFamily="18" charset="0"/>
              </a:rPr>
              <a:t>Project Overview:</a:t>
            </a:r>
            <a:r>
              <a:rPr lang="en-US" sz="1800" dirty="0" smtClean="0">
                <a:latin typeface="Times New Roman" panose="02020603050405020304" pitchFamily="18" charset="0"/>
                <a:cs typeface="Times New Roman" panose="02020603050405020304" pitchFamily="18" charset="0"/>
              </a:rPr>
              <a:t> Enhances </a:t>
            </a:r>
            <a:r>
              <a:rPr lang="en-US" sz="1800" b="1" dirty="0" smtClean="0">
                <a:latin typeface="Times New Roman" panose="02020603050405020304" pitchFamily="18" charset="0"/>
                <a:cs typeface="Times New Roman" panose="02020603050405020304" pitchFamily="18" charset="0"/>
              </a:rPr>
              <a:t>recommendation systems</a:t>
            </a:r>
            <a:r>
              <a:rPr lang="en-US" sz="1800" dirty="0" smtClean="0">
                <a:latin typeface="Times New Roman" panose="02020603050405020304" pitchFamily="18" charset="0"/>
                <a:cs typeface="Times New Roman" panose="02020603050405020304" pitchFamily="18" charset="0"/>
              </a:rPr>
              <a:t> by integrating </a:t>
            </a:r>
            <a:r>
              <a:rPr lang="en-US" sz="1800" b="1" dirty="0" smtClean="0">
                <a:latin typeface="Times New Roman" panose="02020603050405020304" pitchFamily="18" charset="0"/>
                <a:cs typeface="Times New Roman" panose="02020603050405020304" pitchFamily="18" charset="0"/>
              </a:rPr>
              <a:t>user-generated reviews</a:t>
            </a:r>
            <a:r>
              <a:rPr lang="en-US" sz="1800" dirty="0" smtClean="0">
                <a:latin typeface="Times New Roman" panose="02020603050405020304" pitchFamily="18" charset="0"/>
                <a:cs typeface="Times New Roman" panose="02020603050405020304" pitchFamily="18" charset="0"/>
              </a:rPr>
              <a:t> with </a:t>
            </a:r>
            <a:r>
              <a:rPr lang="en-US" sz="1800" b="1" dirty="0" smtClean="0">
                <a:latin typeface="Times New Roman" panose="02020603050405020304" pitchFamily="18" charset="0"/>
                <a:cs typeface="Times New Roman" panose="02020603050405020304" pitchFamily="18" charset="0"/>
              </a:rPr>
              <a:t>Knowledge Graphs (KGs)</a:t>
            </a:r>
            <a:r>
              <a:rPr lang="en-US" sz="1800" dirty="0" smtClean="0">
                <a:latin typeface="Times New Roman" panose="02020603050405020304" pitchFamily="18" charset="0"/>
                <a:cs typeface="Times New Roman" panose="02020603050405020304" pitchFamily="18" charset="0"/>
              </a:rPr>
              <a:t> using a </a:t>
            </a:r>
            <a:r>
              <a:rPr lang="en-US" sz="1800" b="1" dirty="0" smtClean="0">
                <a:latin typeface="Times New Roman" panose="02020603050405020304" pitchFamily="18" charset="0"/>
                <a:cs typeface="Times New Roman" panose="02020603050405020304" pitchFamily="18" charset="0"/>
              </a:rPr>
              <a:t>contrastive learning</a:t>
            </a:r>
            <a:r>
              <a:rPr lang="en-US" sz="1800" dirty="0" smtClean="0">
                <a:latin typeface="Times New Roman" panose="02020603050405020304" pitchFamily="18" charset="0"/>
                <a:cs typeface="Times New Roman" panose="02020603050405020304" pitchFamily="18" charset="0"/>
              </a:rPr>
              <a:t> approach.</a:t>
            </a:r>
          </a:p>
          <a:p>
            <a:pPr>
              <a:buFont typeface="Wingdings" panose="05000000000000000000" pitchFamily="2" charset="2"/>
              <a:buChar char="Ø"/>
            </a:pPr>
            <a:r>
              <a:rPr lang="en-US" sz="1800" b="1" dirty="0" smtClean="0">
                <a:latin typeface="Times New Roman" panose="02020603050405020304" pitchFamily="18" charset="0"/>
                <a:cs typeface="Times New Roman" panose="02020603050405020304" pitchFamily="18" charset="0"/>
              </a:rPr>
              <a:t>Core Concept:</a:t>
            </a:r>
            <a:r>
              <a:rPr lang="en-US" sz="1800" dirty="0" smtClean="0">
                <a:latin typeface="Times New Roman" panose="02020603050405020304" pitchFamily="18" charset="0"/>
                <a:cs typeface="Times New Roman" panose="02020603050405020304" pitchFamily="18" charset="0"/>
              </a:rPr>
              <a:t> Combines </a:t>
            </a:r>
            <a:r>
              <a:rPr lang="en-US" sz="1800" b="1" dirty="0" smtClean="0">
                <a:latin typeface="Times New Roman" panose="02020603050405020304" pitchFamily="18" charset="0"/>
                <a:cs typeface="Times New Roman" panose="02020603050405020304" pitchFamily="18" charset="0"/>
              </a:rPr>
              <a:t>semantic understanding</a:t>
            </a:r>
            <a:r>
              <a:rPr lang="en-US" sz="1800" dirty="0" smtClean="0">
                <a:latin typeface="Times New Roman" panose="02020603050405020304" pitchFamily="18" charset="0"/>
                <a:cs typeface="Times New Roman" panose="02020603050405020304" pitchFamily="18" charset="0"/>
              </a:rPr>
              <a:t> from reviews with </a:t>
            </a:r>
            <a:r>
              <a:rPr lang="en-US" sz="1800" b="1" dirty="0" smtClean="0">
                <a:latin typeface="Times New Roman" panose="02020603050405020304" pitchFamily="18" charset="0"/>
                <a:cs typeface="Times New Roman" panose="02020603050405020304" pitchFamily="18" charset="0"/>
              </a:rPr>
              <a:t>structural information</a:t>
            </a:r>
            <a:r>
              <a:rPr lang="en-US" sz="1800" dirty="0" smtClean="0">
                <a:latin typeface="Times New Roman" panose="02020603050405020304" pitchFamily="18" charset="0"/>
                <a:cs typeface="Times New Roman" panose="02020603050405020304" pitchFamily="18" charset="0"/>
              </a:rPr>
              <a:t> from KGs to produce more </a:t>
            </a:r>
            <a:r>
              <a:rPr lang="en-US" sz="1800" b="1" dirty="0" smtClean="0">
                <a:latin typeface="Times New Roman" panose="02020603050405020304" pitchFamily="18" charset="0"/>
                <a:cs typeface="Times New Roman" panose="02020603050405020304" pitchFamily="18" charset="0"/>
              </a:rPr>
              <a:t>accurate</a:t>
            </a:r>
            <a:r>
              <a:rPr lang="en-US" sz="1800" dirty="0" smtClean="0">
                <a:latin typeface="Times New Roman" panose="02020603050405020304" pitchFamily="18" charset="0"/>
                <a:cs typeface="Times New Roman" panose="02020603050405020304" pitchFamily="18" charset="0"/>
              </a:rPr>
              <a:t> and </a:t>
            </a:r>
            <a:r>
              <a:rPr lang="en-US" sz="1800" b="1" dirty="0" smtClean="0">
                <a:latin typeface="Times New Roman" panose="02020603050405020304" pitchFamily="18" charset="0"/>
                <a:cs typeface="Times New Roman" panose="02020603050405020304" pitchFamily="18" charset="0"/>
              </a:rPr>
              <a:t>contextual recommendations</a:t>
            </a:r>
            <a:r>
              <a:rPr lang="en-US" sz="18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1800" b="1" dirty="0" smtClean="0">
                <a:latin typeface="Times New Roman" panose="02020603050405020304" pitchFamily="18" charset="0"/>
                <a:cs typeface="Times New Roman" panose="02020603050405020304" pitchFamily="18" charset="0"/>
              </a:rPr>
              <a:t>Motivation:</a:t>
            </a:r>
            <a:r>
              <a:rPr lang="en-US" sz="1800" dirty="0" smtClean="0">
                <a:latin typeface="Times New Roman" panose="02020603050405020304" pitchFamily="18" charset="0"/>
                <a:cs typeface="Times New Roman" panose="02020603050405020304" pitchFamily="18" charset="0"/>
              </a:rPr>
              <a:t> Addresses the </a:t>
            </a:r>
            <a:r>
              <a:rPr lang="en-US" sz="1800" b="1" dirty="0" smtClean="0">
                <a:latin typeface="Times New Roman" panose="02020603050405020304" pitchFamily="18" charset="0"/>
                <a:cs typeface="Times New Roman" panose="02020603050405020304" pitchFamily="18" charset="0"/>
              </a:rPr>
              <a:t>limitations</a:t>
            </a:r>
            <a:r>
              <a:rPr lang="en-US" sz="1800" dirty="0" smtClean="0">
                <a:latin typeface="Times New Roman" panose="02020603050405020304" pitchFamily="18" charset="0"/>
                <a:cs typeface="Times New Roman" panose="02020603050405020304" pitchFamily="18" charset="0"/>
              </a:rPr>
              <a:t> of traditional models that rely only on </a:t>
            </a:r>
            <a:r>
              <a:rPr lang="en-US" sz="1800" b="1" dirty="0" smtClean="0">
                <a:latin typeface="Times New Roman" panose="02020603050405020304" pitchFamily="18" charset="0"/>
                <a:cs typeface="Times New Roman" panose="02020603050405020304" pitchFamily="18" charset="0"/>
              </a:rPr>
              <a:t>user–item data</a:t>
            </a:r>
            <a:r>
              <a:rPr lang="en-US" sz="1800" dirty="0" smtClean="0">
                <a:latin typeface="Times New Roman" panose="02020603050405020304" pitchFamily="18" charset="0"/>
                <a:cs typeface="Times New Roman" panose="02020603050405020304" pitchFamily="18" charset="0"/>
              </a:rPr>
              <a:t> and the weaknesses of </a:t>
            </a:r>
            <a:r>
              <a:rPr lang="en-US" sz="1800" b="1" dirty="0" smtClean="0">
                <a:latin typeface="Times New Roman" panose="02020603050405020304" pitchFamily="18" charset="0"/>
                <a:cs typeface="Times New Roman" panose="02020603050405020304" pitchFamily="18" charset="0"/>
              </a:rPr>
              <a:t>GNN-based KGs</a:t>
            </a:r>
            <a:r>
              <a:rPr lang="en-US" sz="1800" dirty="0" smtClean="0">
                <a:latin typeface="Times New Roman" panose="02020603050405020304" pitchFamily="18" charset="0"/>
                <a:cs typeface="Times New Roman" panose="02020603050405020304" pitchFamily="18" charset="0"/>
              </a:rPr>
              <a:t> such as </a:t>
            </a:r>
            <a:r>
              <a:rPr lang="en-US" sz="1800" b="1" dirty="0" smtClean="0">
                <a:latin typeface="Times New Roman" panose="02020603050405020304" pitchFamily="18" charset="0"/>
                <a:cs typeface="Times New Roman" panose="02020603050405020304" pitchFamily="18" charset="0"/>
              </a:rPr>
              <a:t>noise</a:t>
            </a:r>
            <a:r>
              <a:rPr lang="en-US" sz="1800" dirty="0" smtClean="0">
                <a:latin typeface="Times New Roman" panose="02020603050405020304" pitchFamily="18" charset="0"/>
                <a:cs typeface="Times New Roman" panose="02020603050405020304" pitchFamily="18" charset="0"/>
              </a:rPr>
              <a:t>, </a:t>
            </a:r>
            <a:r>
              <a:rPr lang="en-US" sz="1800" b="1" dirty="0" smtClean="0">
                <a:latin typeface="Times New Roman" panose="02020603050405020304" pitchFamily="18" charset="0"/>
                <a:cs typeface="Times New Roman" panose="02020603050405020304" pitchFamily="18" charset="0"/>
              </a:rPr>
              <a:t>over-propagation</a:t>
            </a:r>
            <a:r>
              <a:rPr lang="en-US" sz="1800" dirty="0" smtClean="0">
                <a:latin typeface="Times New Roman" panose="02020603050405020304" pitchFamily="18" charset="0"/>
                <a:cs typeface="Times New Roman" panose="02020603050405020304" pitchFamily="18" charset="0"/>
              </a:rPr>
              <a:t>, and </a:t>
            </a:r>
            <a:r>
              <a:rPr lang="en-US" sz="1800" b="1" dirty="0" smtClean="0">
                <a:latin typeface="Times New Roman" panose="02020603050405020304" pitchFamily="18" charset="0"/>
                <a:cs typeface="Times New Roman" panose="02020603050405020304" pitchFamily="18" charset="0"/>
              </a:rPr>
              <a:t>poor review utilization</a:t>
            </a:r>
            <a:r>
              <a:rPr lang="en-US" sz="18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1800" b="1" dirty="0" smtClean="0">
                <a:latin typeface="Times New Roman" panose="02020603050405020304" pitchFamily="18" charset="0"/>
                <a:cs typeface="Times New Roman" panose="02020603050405020304" pitchFamily="18" charset="0"/>
              </a:rPr>
              <a:t>Innovation:</a:t>
            </a:r>
            <a:r>
              <a:rPr lang="en-US" sz="1800" dirty="0" smtClean="0">
                <a:latin typeface="Times New Roman" panose="02020603050405020304" pitchFamily="18" charset="0"/>
                <a:cs typeface="Times New Roman" panose="02020603050405020304" pitchFamily="18" charset="0"/>
              </a:rPr>
              <a:t> Introduces a </a:t>
            </a:r>
            <a:r>
              <a:rPr lang="en-US" sz="1800" b="1" dirty="0" smtClean="0">
                <a:latin typeface="Times New Roman" panose="02020603050405020304" pitchFamily="18" charset="0"/>
                <a:cs typeface="Times New Roman" panose="02020603050405020304" pitchFamily="18" charset="0"/>
              </a:rPr>
              <a:t>robust</a:t>
            </a:r>
            <a:r>
              <a:rPr lang="en-US" sz="1800" dirty="0" smtClean="0">
                <a:latin typeface="Times New Roman" panose="02020603050405020304" pitchFamily="18" charset="0"/>
                <a:cs typeface="Times New Roman" panose="02020603050405020304" pitchFamily="18" charset="0"/>
              </a:rPr>
              <a:t>, </a:t>
            </a:r>
            <a:r>
              <a:rPr lang="en-US" sz="1800" b="1" dirty="0" smtClean="0">
                <a:latin typeface="Times New Roman" panose="02020603050405020304" pitchFamily="18" charset="0"/>
                <a:cs typeface="Times New Roman" panose="02020603050405020304" pitchFamily="18" charset="0"/>
              </a:rPr>
              <a:t>scalable</a:t>
            </a:r>
            <a:r>
              <a:rPr lang="en-US" sz="1800" dirty="0" smtClean="0">
                <a:latin typeface="Times New Roman" panose="02020603050405020304" pitchFamily="18" charset="0"/>
                <a:cs typeface="Times New Roman" panose="02020603050405020304" pitchFamily="18" charset="0"/>
              </a:rPr>
              <a:t>, and </a:t>
            </a:r>
            <a:r>
              <a:rPr lang="en-US" sz="1800" b="1" dirty="0" smtClean="0">
                <a:latin typeface="Times New Roman" panose="02020603050405020304" pitchFamily="18" charset="0"/>
                <a:cs typeface="Times New Roman" panose="02020603050405020304" pitchFamily="18" charset="0"/>
              </a:rPr>
              <a:t>interpretable framework</a:t>
            </a:r>
            <a:r>
              <a:rPr lang="en-US" sz="1800" dirty="0" smtClean="0">
                <a:latin typeface="Times New Roman" panose="02020603050405020304" pitchFamily="18" charset="0"/>
                <a:cs typeface="Times New Roman" panose="02020603050405020304" pitchFamily="18" charset="0"/>
              </a:rPr>
              <a:t> that fuses </a:t>
            </a:r>
            <a:r>
              <a:rPr lang="en-US" sz="1800" b="1" dirty="0" smtClean="0">
                <a:latin typeface="Times New Roman" panose="02020603050405020304" pitchFamily="18" charset="0"/>
                <a:cs typeface="Times New Roman" panose="02020603050405020304" pitchFamily="18" charset="0"/>
              </a:rPr>
              <a:t>review semantics</a:t>
            </a:r>
            <a:r>
              <a:rPr lang="en-US" sz="1800" dirty="0" smtClean="0">
                <a:latin typeface="Times New Roman" panose="02020603050405020304" pitchFamily="18" charset="0"/>
                <a:cs typeface="Times New Roman" panose="02020603050405020304" pitchFamily="18" charset="0"/>
              </a:rPr>
              <a:t> and </a:t>
            </a:r>
            <a:r>
              <a:rPr lang="en-US" sz="1800" b="1" dirty="0" smtClean="0">
                <a:latin typeface="Times New Roman" panose="02020603050405020304" pitchFamily="18" charset="0"/>
                <a:cs typeface="Times New Roman" panose="02020603050405020304" pitchFamily="18" charset="0"/>
              </a:rPr>
              <a:t>graph structures</a:t>
            </a:r>
            <a:r>
              <a:rPr lang="en-US" sz="1800" dirty="0" smtClean="0">
                <a:latin typeface="Times New Roman" panose="02020603050405020304" pitchFamily="18" charset="0"/>
                <a:cs typeface="Times New Roman" panose="02020603050405020304" pitchFamily="18" charset="0"/>
              </a:rPr>
              <a:t> through </a:t>
            </a:r>
            <a:r>
              <a:rPr lang="en-US" sz="1800" b="1" dirty="0" smtClean="0">
                <a:latin typeface="Times New Roman" panose="02020603050405020304" pitchFamily="18" charset="0"/>
                <a:cs typeface="Times New Roman" panose="02020603050405020304" pitchFamily="18" charset="0"/>
              </a:rPr>
              <a:t>transformer embedding's</a:t>
            </a:r>
            <a:r>
              <a:rPr lang="en-US" sz="1800" dirty="0" smtClean="0">
                <a:latin typeface="Times New Roman" panose="02020603050405020304" pitchFamily="18" charset="0"/>
                <a:cs typeface="Times New Roman" panose="02020603050405020304" pitchFamily="18" charset="0"/>
              </a:rPr>
              <a:t> and </a:t>
            </a:r>
            <a:r>
              <a:rPr lang="en-US" sz="1800" b="1" dirty="0" smtClean="0">
                <a:latin typeface="Times New Roman" panose="02020603050405020304" pitchFamily="18" charset="0"/>
                <a:cs typeface="Times New Roman" panose="02020603050405020304" pitchFamily="18" charset="0"/>
              </a:rPr>
              <a:t>multi-view GNNs (GAT + R-GCN)</a:t>
            </a:r>
            <a:r>
              <a:rPr lang="en-US" sz="18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Ø"/>
            </a:pPr>
            <a:r>
              <a:rPr lang="en-US" sz="1800" b="1" dirty="0" smtClean="0">
                <a:latin typeface="Times New Roman" panose="02020603050405020304" pitchFamily="18" charset="0"/>
                <a:cs typeface="Times New Roman" panose="02020603050405020304" pitchFamily="18" charset="0"/>
              </a:rPr>
              <a:t>Significance:</a:t>
            </a:r>
            <a:r>
              <a:rPr lang="en-US" sz="1800" dirty="0" smtClean="0">
                <a:latin typeface="Times New Roman" panose="02020603050405020304" pitchFamily="18" charset="0"/>
                <a:cs typeface="Times New Roman" panose="02020603050405020304" pitchFamily="18" charset="0"/>
              </a:rPr>
              <a:t> Offers </a:t>
            </a:r>
            <a:r>
              <a:rPr lang="en-US" sz="1800" b="1" dirty="0" smtClean="0">
                <a:latin typeface="Times New Roman" panose="02020603050405020304" pitchFamily="18" charset="0"/>
                <a:cs typeface="Times New Roman" panose="02020603050405020304" pitchFamily="18" charset="0"/>
              </a:rPr>
              <a:t>semantic enrichment</a:t>
            </a:r>
            <a:r>
              <a:rPr lang="en-US" sz="1800" dirty="0" smtClean="0">
                <a:latin typeface="Times New Roman" panose="02020603050405020304" pitchFamily="18" charset="0"/>
                <a:cs typeface="Times New Roman" panose="02020603050405020304" pitchFamily="18" charset="0"/>
              </a:rPr>
              <a:t>, </a:t>
            </a:r>
            <a:r>
              <a:rPr lang="en-US" sz="1800" b="1" dirty="0" smtClean="0">
                <a:latin typeface="Times New Roman" panose="02020603050405020304" pitchFamily="18" charset="0"/>
                <a:cs typeface="Times New Roman" panose="02020603050405020304" pitchFamily="18" charset="0"/>
              </a:rPr>
              <a:t>improved representation</a:t>
            </a:r>
            <a:r>
              <a:rPr lang="en-US" sz="1800" dirty="0" smtClean="0">
                <a:latin typeface="Times New Roman" panose="02020603050405020304" pitchFamily="18" charset="0"/>
                <a:cs typeface="Times New Roman" panose="02020603050405020304" pitchFamily="18" charset="0"/>
              </a:rPr>
              <a:t>, </a:t>
            </a:r>
            <a:r>
              <a:rPr lang="en-US" sz="1800" b="1" dirty="0" smtClean="0">
                <a:latin typeface="Times New Roman" panose="02020603050405020304" pitchFamily="18" charset="0"/>
                <a:cs typeface="Times New Roman" panose="02020603050405020304" pitchFamily="18" charset="0"/>
              </a:rPr>
              <a:t>real-time scalability</a:t>
            </a:r>
            <a:r>
              <a:rPr lang="en-US" sz="1800" dirty="0" smtClean="0">
                <a:latin typeface="Times New Roman" panose="02020603050405020304" pitchFamily="18" charset="0"/>
                <a:cs typeface="Times New Roman" panose="02020603050405020304" pitchFamily="18" charset="0"/>
              </a:rPr>
              <a:t>, </a:t>
            </a:r>
            <a:r>
              <a:rPr lang="en-US" sz="1800" b="1" dirty="0" smtClean="0">
                <a:latin typeface="Times New Roman" panose="02020603050405020304" pitchFamily="18" charset="0"/>
                <a:cs typeface="Times New Roman" panose="02020603050405020304" pitchFamily="18" charset="0"/>
              </a:rPr>
              <a:t>explainability</a:t>
            </a:r>
            <a:r>
              <a:rPr lang="en-US" sz="1800" dirty="0" smtClean="0">
                <a:latin typeface="Times New Roman" panose="02020603050405020304" pitchFamily="18" charset="0"/>
                <a:cs typeface="Times New Roman" panose="02020603050405020304" pitchFamily="18" charset="0"/>
              </a:rPr>
              <a:t>, and </a:t>
            </a:r>
            <a:r>
              <a:rPr lang="en-US" sz="1800" b="1" dirty="0" smtClean="0">
                <a:latin typeface="Times New Roman" panose="02020603050405020304" pitchFamily="18" charset="0"/>
                <a:cs typeface="Times New Roman" panose="02020603050405020304" pitchFamily="18" charset="0"/>
              </a:rPr>
              <a:t>superior recommendation performance</a:t>
            </a:r>
            <a:r>
              <a:rPr lang="en-US" sz="1800" dirty="0" smtClean="0">
                <a:latin typeface="Times New Roman" panose="02020603050405020304" pitchFamily="18" charset="0"/>
                <a:cs typeface="Times New Roman" panose="02020603050405020304" pitchFamily="18" charset="0"/>
              </a:rPr>
              <a:t> through </a:t>
            </a:r>
            <a:r>
              <a:rPr lang="en-US" sz="1800" b="1" dirty="0" smtClean="0">
                <a:latin typeface="Times New Roman" panose="02020603050405020304" pitchFamily="18" charset="0"/>
                <a:cs typeface="Times New Roman" panose="02020603050405020304" pitchFamily="18" charset="0"/>
              </a:rPr>
              <a:t>advanced hybrid modeling</a:t>
            </a:r>
            <a:r>
              <a:rPr lang="en-US" sz="1800" dirty="0" smtClean="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937"/>
            <a:ext cx="4677428" cy="743054"/>
          </a:xfrm>
          <a:prstGeom prst="rect">
            <a:avLst/>
          </a:prstGeom>
        </p:spPr>
      </p:pic>
      <p:sp>
        <p:nvSpPr>
          <p:cNvPr id="5" name="Date Placeholder 4"/>
          <p:cNvSpPr>
            <a:spLocks noGrp="1"/>
          </p:cNvSpPr>
          <p:nvPr>
            <p:ph type="dt" sz="half" idx="10"/>
          </p:nvPr>
        </p:nvSpPr>
        <p:spPr/>
        <p:txBody>
          <a:bodyPr/>
          <a:lstStyle/>
          <a:p>
            <a:fld id="{2EDB42CA-4A53-4961-9D8C-6D0ABB5998D9}"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dirty="0"/>
          </a:p>
        </p:txBody>
      </p:sp>
      <p:sp>
        <p:nvSpPr>
          <p:cNvPr id="7" name="Slide Number Placeholder 6"/>
          <p:cNvSpPr>
            <a:spLocks noGrp="1"/>
          </p:cNvSpPr>
          <p:nvPr>
            <p:ph type="sldNum" sz="quarter" idx="12"/>
          </p:nvPr>
        </p:nvSpPr>
        <p:spPr/>
        <p:txBody>
          <a:bodyPr/>
          <a:lstStyle/>
          <a:p>
            <a:fld id="{FFEC67FC-8107-4C00-9415-4D1567E899B9}" type="slidenum">
              <a:rPr lang="en-US" smtClean="0"/>
              <a:t>4</a:t>
            </a:fld>
            <a:endParaRPr lang="en-US"/>
          </a:p>
        </p:txBody>
      </p:sp>
    </p:spTree>
    <p:extLst>
      <p:ext uri="{BB962C8B-B14F-4D97-AF65-F5344CB8AC3E}">
        <p14:creationId xmlns:p14="http://schemas.microsoft.com/office/powerpoint/2010/main" val="389446042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7066" y="-12945"/>
            <a:ext cx="10515600" cy="87892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Literature Survey</a:t>
            </a:r>
            <a:endParaRPr lang="en-US" sz="2800" b="1" dirty="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049188064"/>
              </p:ext>
            </p:extLst>
          </p:nvPr>
        </p:nvGraphicFramePr>
        <p:xfrm>
          <a:off x="892631" y="730109"/>
          <a:ext cx="10542034" cy="5680891"/>
        </p:xfrm>
        <a:graphic>
          <a:graphicData uri="http://schemas.openxmlformats.org/drawingml/2006/table">
            <a:tbl>
              <a:tblPr firstRow="1" bandRow="1">
                <a:tableStyleId>{00A15C55-8517-42AA-B614-E9B94910E393}</a:tableStyleId>
              </a:tblPr>
              <a:tblGrid>
                <a:gridCol w="529769">
                  <a:extLst>
                    <a:ext uri="{9D8B030D-6E8A-4147-A177-3AD203B41FA5}">
                      <a16:colId xmlns:a16="http://schemas.microsoft.com/office/drawing/2014/main" val="2070713702"/>
                    </a:ext>
                  </a:extLst>
                </a:gridCol>
                <a:gridCol w="2264229">
                  <a:extLst>
                    <a:ext uri="{9D8B030D-6E8A-4147-A177-3AD203B41FA5}">
                      <a16:colId xmlns:a16="http://schemas.microsoft.com/office/drawing/2014/main" val="264225470"/>
                    </a:ext>
                  </a:extLst>
                </a:gridCol>
                <a:gridCol w="1582057">
                  <a:extLst>
                    <a:ext uri="{9D8B030D-6E8A-4147-A177-3AD203B41FA5}">
                      <a16:colId xmlns:a16="http://schemas.microsoft.com/office/drawing/2014/main" val="3072976218"/>
                    </a:ext>
                  </a:extLst>
                </a:gridCol>
                <a:gridCol w="1538514">
                  <a:extLst>
                    <a:ext uri="{9D8B030D-6E8A-4147-A177-3AD203B41FA5}">
                      <a16:colId xmlns:a16="http://schemas.microsoft.com/office/drawing/2014/main" val="1539970045"/>
                    </a:ext>
                  </a:extLst>
                </a:gridCol>
                <a:gridCol w="1436914">
                  <a:extLst>
                    <a:ext uri="{9D8B030D-6E8A-4147-A177-3AD203B41FA5}">
                      <a16:colId xmlns:a16="http://schemas.microsoft.com/office/drawing/2014/main" val="2133008543"/>
                    </a:ext>
                  </a:extLst>
                </a:gridCol>
                <a:gridCol w="1684546">
                  <a:extLst>
                    <a:ext uri="{9D8B030D-6E8A-4147-A177-3AD203B41FA5}">
                      <a16:colId xmlns:a16="http://schemas.microsoft.com/office/drawing/2014/main" val="167091109"/>
                    </a:ext>
                  </a:extLst>
                </a:gridCol>
                <a:gridCol w="1506005">
                  <a:extLst>
                    <a:ext uri="{9D8B030D-6E8A-4147-A177-3AD203B41FA5}">
                      <a16:colId xmlns:a16="http://schemas.microsoft.com/office/drawing/2014/main" val="1117400812"/>
                    </a:ext>
                  </a:extLst>
                </a:gridCol>
              </a:tblGrid>
              <a:tr h="575812">
                <a:tc>
                  <a:txBody>
                    <a:bodyPr/>
                    <a:lstStyle/>
                    <a:p>
                      <a:r>
                        <a:rPr lang="en-US" sz="1600" dirty="0" smtClean="0">
                          <a:latin typeface="Times New Roman" panose="02020603050405020304" pitchFamily="18" charset="0"/>
                          <a:cs typeface="Times New Roman" panose="02020603050405020304" pitchFamily="18" charset="0"/>
                        </a:rPr>
                        <a:t>No</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Title</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Author</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Journal Name &amp;  Year</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Methodology Adopted</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Key Findings</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Gaps</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4691251"/>
                  </a:ext>
                </a:extLst>
              </a:tr>
              <a:tr h="1575906">
                <a:tc>
                  <a:txBody>
                    <a:bodyPr/>
                    <a:lstStyle/>
                    <a:p>
                      <a:r>
                        <a:rPr lang="en-US" sz="1400" dirty="0" smtClean="0">
                          <a:latin typeface="Times New Roman" panose="02020603050405020304" pitchFamily="18" charset="0"/>
                          <a:cs typeface="Times New Roman" panose="02020603050405020304" pitchFamily="18" charset="0"/>
                        </a:rPr>
                        <a:t>1</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400" dirty="0" smtClean="0">
                          <a:latin typeface="Times New Roman" panose="02020603050405020304" pitchFamily="18" charset="0"/>
                          <a:cs typeface="Times New Roman" panose="02020603050405020304" pitchFamily="18" charset="0"/>
                        </a:rPr>
                        <a:t>Review-enhanced Contrastive Learning on Knowledge Graphs for Recommendation (RCLKG)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nl-NL" sz="1400" dirty="0" smtClean="0">
                          <a:latin typeface="Times New Roman" panose="02020603050405020304" pitchFamily="18" charset="0"/>
                          <a:cs typeface="Times New Roman" panose="02020603050405020304" pitchFamily="18" charset="0"/>
                        </a:rPr>
                        <a:t>Hao Qin, Zhiwei Zhang, Yongfeng Zhang, et al.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Information Sciences,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Learnable KG denoising, review–interaction CL, cross-view CL, attentive GNN, GAN, R-GCN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Improved recommendation via review–KG fusion and contrastive learning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Noisy entity extraction, high complexity, limited generalization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7050482"/>
                  </a:ext>
                </a:extLst>
              </a:tr>
              <a:tr h="1140782">
                <a:tc>
                  <a:txBody>
                    <a:bodyPr/>
                    <a:lstStyle/>
                    <a:p>
                      <a:r>
                        <a:rPr lang="en-US" sz="1400" dirty="0" smtClean="0">
                          <a:latin typeface="Times New Roman" panose="02020603050405020304" pitchFamily="18" charset="0"/>
                          <a:cs typeface="Times New Roman" panose="02020603050405020304" pitchFamily="18" charset="0"/>
                        </a:rPr>
                        <a:t>2</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CuriousLLM: Elevating Multi-Document QA with LLM-Enhanced KG Reasoning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err="1" smtClean="0">
                          <a:latin typeface="Times New Roman" panose="02020603050405020304" pitchFamily="18" charset="0"/>
                          <a:cs typeface="Times New Roman" panose="02020603050405020304" pitchFamily="18" charset="0"/>
                        </a:rPr>
                        <a:t>Zukang</a:t>
                      </a:r>
                      <a:r>
                        <a:rPr lang="en-US" sz="1400" dirty="0" smtClean="0">
                          <a:latin typeface="Times New Roman" panose="02020603050405020304" pitchFamily="18" charset="0"/>
                          <a:cs typeface="Times New Roman" panose="02020603050405020304" pitchFamily="18" charset="0"/>
                        </a:rPr>
                        <a:t> Yang et al.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NAACL,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TF-IDF seeding, prompt engineering, follow-up QA</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Mistral-7B, </a:t>
                      </a:r>
                      <a:r>
                        <a:rPr lang="en-US" sz="1400" dirty="0" err="1" smtClean="0">
                          <a:latin typeface="Times New Roman" panose="02020603050405020304" pitchFamily="18" charset="0"/>
                          <a:cs typeface="Times New Roman" panose="02020603050405020304" pitchFamily="18" charset="0"/>
                        </a:rPr>
                        <a:t>QLoRA</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MultiQA</a:t>
                      </a:r>
                      <a:r>
                        <a:rPr lang="en-US" sz="1400" dirty="0" smtClean="0">
                          <a:latin typeface="Times New Roman" panose="02020603050405020304" pitchFamily="18" charset="0"/>
                          <a:cs typeface="Times New Roman" panose="02020603050405020304" pitchFamily="18" charset="0"/>
                        </a:rPr>
                        <a:t>, BFS over KGs improves QA accuracy and efficiency</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Limited to bridging questions, evaluated only on local hardware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36378429"/>
                  </a:ext>
                </a:extLst>
              </a:tr>
              <a:tr h="986971">
                <a:tc>
                  <a:txBody>
                    <a:bodyPr/>
                    <a:lstStyle/>
                    <a:p>
                      <a:r>
                        <a:rPr lang="en-US" sz="1400" dirty="0" smtClean="0">
                          <a:latin typeface="Times New Roman" panose="02020603050405020304" pitchFamily="18" charset="0"/>
                          <a:cs typeface="Times New Roman" panose="02020603050405020304" pitchFamily="18" charset="0"/>
                        </a:rPr>
                        <a:t>3</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ReAHGN: Adaptive Heterogeneous Graph Neural Network With Relation-Aware Embedding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err="1" smtClean="0">
                          <a:latin typeface="Times New Roman" panose="02020603050405020304" pitchFamily="18" charset="0"/>
                          <a:cs typeface="Times New Roman" panose="02020603050405020304" pitchFamily="18" charset="0"/>
                        </a:rPr>
                        <a:t>Xiaoyu</a:t>
                      </a:r>
                      <a:r>
                        <a:rPr lang="en-US" sz="1400" dirty="0" smtClean="0">
                          <a:latin typeface="Times New Roman" panose="02020603050405020304" pitchFamily="18" charset="0"/>
                          <a:cs typeface="Times New Roman" panose="02020603050405020304" pitchFamily="18" charset="0"/>
                        </a:rPr>
                        <a:t> Zhu, </a:t>
                      </a:r>
                      <a:r>
                        <a:rPr lang="en-US" sz="1400" dirty="0" err="1" smtClean="0">
                          <a:latin typeface="Times New Roman" panose="02020603050405020304" pitchFamily="18" charset="0"/>
                          <a:cs typeface="Times New Roman" panose="02020603050405020304" pitchFamily="18" charset="0"/>
                        </a:rPr>
                        <a:t>Xinzhe</a:t>
                      </a:r>
                      <a:r>
                        <a:rPr lang="en-US" sz="1400" dirty="0" smtClean="0">
                          <a:latin typeface="Times New Roman" panose="02020603050405020304" pitchFamily="18" charset="0"/>
                          <a:cs typeface="Times New Roman" panose="02020603050405020304" pitchFamily="18" charset="0"/>
                        </a:rPr>
                        <a:t> Yu, </a:t>
                      </a:r>
                      <a:r>
                        <a:rPr lang="en-US" sz="1400" dirty="0" err="1" smtClean="0">
                          <a:latin typeface="Times New Roman" panose="02020603050405020304" pitchFamily="18" charset="0"/>
                          <a:cs typeface="Times New Roman" panose="02020603050405020304" pitchFamily="18" charset="0"/>
                        </a:rPr>
                        <a:t>Enze</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Zha</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Shiyang</a:t>
                      </a:r>
                      <a:r>
                        <a:rPr lang="en-US" sz="1400" dirty="0" smtClean="0">
                          <a:latin typeface="Times New Roman" panose="02020603050405020304" pitchFamily="18" charset="0"/>
                          <a:cs typeface="Times New Roman" panose="02020603050405020304" pitchFamily="18" charset="0"/>
                        </a:rPr>
                        <a:t> Lin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IEEE Access,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Relation-aware node/edge integration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Adaptive attention in ReAHGN outperforms baselines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Prior HGNs suffer from attention bias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8667372"/>
                  </a:ext>
                </a:extLst>
              </a:tr>
              <a:tr h="1161143">
                <a:tc>
                  <a:txBody>
                    <a:bodyPr/>
                    <a:lstStyle/>
                    <a:p>
                      <a:r>
                        <a:rPr lang="en-US" sz="1400" dirty="0" smtClean="0">
                          <a:latin typeface="Times New Roman" panose="02020603050405020304" pitchFamily="18" charset="0"/>
                          <a:cs typeface="Times New Roman" panose="02020603050405020304" pitchFamily="18" charset="0"/>
                        </a:rPr>
                        <a:t>4</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err="1" smtClean="0">
                          <a:latin typeface="Times New Roman" panose="02020603050405020304" pitchFamily="18" charset="0"/>
                          <a:cs typeface="Times New Roman" panose="02020603050405020304" pitchFamily="18" charset="0"/>
                        </a:rPr>
                        <a:t>AdaGCL</a:t>
                      </a:r>
                      <a:r>
                        <a:rPr lang="en-US" sz="1400" dirty="0" smtClean="0">
                          <a:latin typeface="Times New Roman" panose="02020603050405020304" pitchFamily="18" charset="0"/>
                          <a:cs typeface="Times New Roman" panose="02020603050405020304" pitchFamily="18" charset="0"/>
                        </a:rPr>
                        <a:t>: Adaptive Graph Contrastive Learning on Noisy Data</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dirty="0" smtClean="0">
                          <a:latin typeface="Times New Roman" panose="02020603050405020304" pitchFamily="18" charset="0"/>
                          <a:cs typeface="Times New Roman" panose="02020603050405020304" pitchFamily="18" charset="0"/>
                        </a:rPr>
                        <a:t>Zhen Jiang, </a:t>
                      </a:r>
                      <a:r>
                        <a:rPr lang="en-IN" sz="1400" dirty="0" err="1" smtClean="0">
                          <a:latin typeface="Times New Roman" panose="02020603050405020304" pitchFamily="18" charset="0"/>
                          <a:cs typeface="Times New Roman" panose="02020603050405020304" pitchFamily="18" charset="0"/>
                        </a:rPr>
                        <a:t>Hao</a:t>
                      </a:r>
                      <a:r>
                        <a:rPr lang="en-IN" sz="1400" dirty="0" smtClean="0">
                          <a:latin typeface="Times New Roman" panose="02020603050405020304" pitchFamily="18" charset="0"/>
                          <a:cs typeface="Times New Roman" panose="02020603050405020304" pitchFamily="18" charset="0"/>
                        </a:rPr>
                        <a:t> Wu, Ming Zhou</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400" dirty="0" smtClean="0">
                          <a:latin typeface="Times New Roman" panose="02020603050405020304" pitchFamily="18" charset="0"/>
                          <a:cs typeface="Times New Roman" panose="02020603050405020304" pitchFamily="18" charset="0"/>
                        </a:rPr>
                        <a:t>IEEE TNNLS, 2023</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Adaptive graph augmentation, </a:t>
                      </a:r>
                      <a:r>
                        <a:rPr lang="en-US" sz="1400" dirty="0" err="1" smtClean="0">
                          <a:latin typeface="Times New Roman" panose="02020603050405020304" pitchFamily="18" charset="0"/>
                          <a:cs typeface="Times New Roman" panose="02020603050405020304" pitchFamily="18" charset="0"/>
                        </a:rPr>
                        <a:t>denoising</a:t>
                      </a:r>
                      <a:r>
                        <a:rPr lang="en-US" sz="1400" dirty="0" smtClean="0">
                          <a:latin typeface="Times New Roman" panose="02020603050405020304" pitchFamily="18" charset="0"/>
                          <a:cs typeface="Times New Roman" panose="02020603050405020304" pitchFamily="18" charset="0"/>
                        </a:rPr>
                        <a:t> </a:t>
                      </a:r>
                    </a:p>
                    <a:p>
                      <a:r>
                        <a:rPr lang="en-US" sz="1400" dirty="0" smtClean="0">
                          <a:latin typeface="Times New Roman" panose="02020603050405020304" pitchFamily="18" charset="0"/>
                          <a:cs typeface="Times New Roman" panose="02020603050405020304" pitchFamily="18" charset="0"/>
                        </a:rPr>
                        <a:t>gene </a:t>
                      </a:r>
                      <a:r>
                        <a:rPr lang="en-US" sz="1400" dirty="0" err="1" smtClean="0">
                          <a:latin typeface="Times New Roman" panose="02020603050405020304" pitchFamily="18" charset="0"/>
                          <a:cs typeface="Times New Roman" panose="02020603050405020304" pitchFamily="18" charset="0"/>
                        </a:rPr>
                        <a:t>rators</a:t>
                      </a:r>
                      <a:r>
                        <a:rPr lang="en-US" sz="1400" dirty="0" smtClean="0">
                          <a:latin typeface="Times New Roman" panose="02020603050405020304" pitchFamily="18" charset="0"/>
                          <a:cs typeface="Times New Roman" panose="02020603050405020304" pitchFamily="18" charset="0"/>
                        </a:rPr>
                        <a:t>, contrastive learning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Best performance on sparse/noisy datasets like Amazon &amp; Yelp</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Does not use textual semantics, limited interpretability</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
        <p:nvSpPr>
          <p:cNvPr id="3" name="Date Placeholder 2"/>
          <p:cNvSpPr>
            <a:spLocks noGrp="1"/>
          </p:cNvSpPr>
          <p:nvPr>
            <p:ph type="dt" sz="half" idx="10"/>
          </p:nvPr>
        </p:nvSpPr>
        <p:spPr/>
        <p:txBody>
          <a:bodyPr/>
          <a:lstStyle/>
          <a:p>
            <a:fld id="{6EA6B9A2-EDDE-4DBF-A7B9-970450D5E9BC}"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5</a:t>
            </a:fld>
            <a:endParaRPr lang="en-US"/>
          </a:p>
        </p:txBody>
      </p:sp>
    </p:spTree>
    <p:extLst>
      <p:ext uri="{BB962C8B-B14F-4D97-AF65-F5344CB8AC3E}">
        <p14:creationId xmlns:p14="http://schemas.microsoft.com/office/powerpoint/2010/main" val="40231111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5808" y="0"/>
            <a:ext cx="10515600" cy="87892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Literature Survey</a:t>
            </a:r>
            <a:endParaRPr lang="en-US" sz="2800" b="1" dirty="0">
              <a:latin typeface="Times New Roman" panose="02020603050405020304" pitchFamily="18" charset="0"/>
              <a:cs typeface="Times New Roman" panose="020206030504050203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557501967"/>
              </p:ext>
            </p:extLst>
          </p:nvPr>
        </p:nvGraphicFramePr>
        <p:xfrm>
          <a:off x="905068" y="730110"/>
          <a:ext cx="10776340" cy="5430897"/>
        </p:xfrm>
        <a:graphic>
          <a:graphicData uri="http://schemas.openxmlformats.org/drawingml/2006/table">
            <a:tbl>
              <a:tblPr firstRow="1" bandRow="1">
                <a:tableStyleId>{00A15C55-8517-42AA-B614-E9B94910E393}</a:tableStyleId>
              </a:tblPr>
              <a:tblGrid>
                <a:gridCol w="440813">
                  <a:extLst>
                    <a:ext uri="{9D8B030D-6E8A-4147-A177-3AD203B41FA5}">
                      <a16:colId xmlns:a16="http://schemas.microsoft.com/office/drawing/2014/main" val="2070713702"/>
                    </a:ext>
                  </a:extLst>
                </a:gridCol>
                <a:gridCol w="2651287">
                  <a:extLst>
                    <a:ext uri="{9D8B030D-6E8A-4147-A177-3AD203B41FA5}">
                      <a16:colId xmlns:a16="http://schemas.microsoft.com/office/drawing/2014/main" val="264225470"/>
                    </a:ext>
                  </a:extLst>
                </a:gridCol>
                <a:gridCol w="1393049">
                  <a:extLst>
                    <a:ext uri="{9D8B030D-6E8A-4147-A177-3AD203B41FA5}">
                      <a16:colId xmlns:a16="http://schemas.microsoft.com/office/drawing/2014/main" val="3072976218"/>
                    </a:ext>
                  </a:extLst>
                </a:gridCol>
                <a:gridCol w="1602756">
                  <a:extLst>
                    <a:ext uri="{9D8B030D-6E8A-4147-A177-3AD203B41FA5}">
                      <a16:colId xmlns:a16="http://schemas.microsoft.com/office/drawing/2014/main" val="1539970045"/>
                    </a:ext>
                  </a:extLst>
                </a:gridCol>
                <a:gridCol w="1767525">
                  <a:extLst>
                    <a:ext uri="{9D8B030D-6E8A-4147-A177-3AD203B41FA5}">
                      <a16:colId xmlns:a16="http://schemas.microsoft.com/office/drawing/2014/main" val="2133008543"/>
                    </a:ext>
                  </a:extLst>
                </a:gridCol>
                <a:gridCol w="1602756">
                  <a:extLst>
                    <a:ext uri="{9D8B030D-6E8A-4147-A177-3AD203B41FA5}">
                      <a16:colId xmlns:a16="http://schemas.microsoft.com/office/drawing/2014/main" val="167091109"/>
                    </a:ext>
                  </a:extLst>
                </a:gridCol>
                <a:gridCol w="1318154">
                  <a:extLst>
                    <a:ext uri="{9D8B030D-6E8A-4147-A177-3AD203B41FA5}">
                      <a16:colId xmlns:a16="http://schemas.microsoft.com/office/drawing/2014/main" val="1117400812"/>
                    </a:ext>
                  </a:extLst>
                </a:gridCol>
              </a:tblGrid>
              <a:tr h="579900">
                <a:tc>
                  <a:txBody>
                    <a:bodyPr/>
                    <a:lstStyle/>
                    <a:p>
                      <a:r>
                        <a:rPr lang="en-US" sz="1600" dirty="0" smtClean="0">
                          <a:latin typeface="Times New Roman" panose="02020603050405020304" pitchFamily="18" charset="0"/>
                          <a:cs typeface="Times New Roman" panose="02020603050405020304" pitchFamily="18" charset="0"/>
                        </a:rPr>
                        <a:t>No</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Title</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Author</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Journal Name &amp;  Year</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Methodology Adopted</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Key Findings</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smtClean="0">
                          <a:latin typeface="Times New Roman" panose="02020603050405020304" pitchFamily="18" charset="0"/>
                          <a:cs typeface="Times New Roman" panose="02020603050405020304" pitchFamily="18" charset="0"/>
                        </a:rPr>
                        <a:t>Gaps</a:t>
                      </a:r>
                      <a:endParaRPr 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4691251"/>
                  </a:ext>
                </a:extLst>
              </a:tr>
              <a:tr h="1159799">
                <a:tc>
                  <a:txBody>
                    <a:bodyPr/>
                    <a:lstStyle/>
                    <a:p>
                      <a:r>
                        <a:rPr lang="en-US" sz="1400" dirty="0" smtClean="0">
                          <a:latin typeface="Times New Roman" panose="02020603050405020304" pitchFamily="18" charset="0"/>
                          <a:cs typeface="Times New Roman" panose="02020603050405020304" pitchFamily="18" charset="0"/>
                        </a:rPr>
                        <a:t>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Construction and Mathematical Application of Document-Level Relationship Extraction Model Combining R-GCN and Text Features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err="1" smtClean="0">
                          <a:latin typeface="Times New Roman" panose="02020603050405020304" pitchFamily="18" charset="0"/>
                          <a:cs typeface="Times New Roman" panose="02020603050405020304" pitchFamily="18" charset="0"/>
                        </a:rPr>
                        <a:t>Zhiqin</a:t>
                      </a:r>
                      <a:r>
                        <a:rPr lang="en-US" sz="1400" dirty="0" smtClean="0">
                          <a:latin typeface="Times New Roman" panose="02020603050405020304" pitchFamily="18" charset="0"/>
                          <a:cs typeface="Times New Roman" panose="02020603050405020304" pitchFamily="18" charset="0"/>
                        </a:rPr>
                        <a:t> Chen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IEEE Access,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Document-level dataset creation, annotation, feature extraction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R-GCN + BERT achieves high math KG accuracy, robust in low-resource settings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Difficulty modeling long dependencies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66662257"/>
                  </a:ext>
                </a:extLst>
              </a:tr>
              <a:tr h="1159799">
                <a:tc>
                  <a:txBody>
                    <a:bodyPr/>
                    <a:lstStyle/>
                    <a:p>
                      <a:r>
                        <a:rPr lang="en-US" sz="1400" dirty="0" smtClean="0">
                          <a:latin typeface="Times New Roman" panose="02020603050405020304" pitchFamily="18" charset="0"/>
                          <a:cs typeface="Times New Roman" panose="02020603050405020304" pitchFamily="18" charset="0"/>
                        </a:rPr>
                        <a:t>6</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Construction of Journal Knowledge Graph Based on Deep Learning and LLM</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err="1" smtClean="0">
                          <a:latin typeface="Times New Roman" panose="02020603050405020304" pitchFamily="18" charset="0"/>
                          <a:cs typeface="Times New Roman" panose="02020603050405020304" pitchFamily="18" charset="0"/>
                        </a:rPr>
                        <a:t>Jiankun</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Zuo</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Jiaojiao</a:t>
                      </a:r>
                      <a:r>
                        <a:rPr lang="en-US" sz="1400" dirty="0" smtClean="0">
                          <a:latin typeface="Times New Roman" panose="02020603050405020304" pitchFamily="18" charset="0"/>
                          <a:cs typeface="Times New Roman" panose="02020603050405020304" pitchFamily="18" charset="0"/>
                        </a:rPr>
                        <a:t> </a:t>
                      </a:r>
                      <a:r>
                        <a:rPr lang="en-US" sz="1400" dirty="0" err="1" smtClean="0">
                          <a:latin typeface="Times New Roman" panose="02020603050405020304" pitchFamily="18" charset="0"/>
                          <a:cs typeface="Times New Roman" panose="02020603050405020304" pitchFamily="18" charset="0"/>
                        </a:rPr>
                        <a:t>Niu</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MDPI – Electronics,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BIO tagging, segmentation, tokenization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BERT-</a:t>
                      </a:r>
                      <a:r>
                        <a:rPr lang="en-US" sz="1400" dirty="0" err="1" smtClean="0">
                          <a:latin typeface="Times New Roman" panose="02020603050405020304" pitchFamily="18" charset="0"/>
                          <a:cs typeface="Times New Roman" panose="02020603050405020304" pitchFamily="18" charset="0"/>
                        </a:rPr>
                        <a:t>BiLSTM</a:t>
                      </a:r>
                      <a:r>
                        <a:rPr lang="en-US" sz="1400" dirty="0" smtClean="0">
                          <a:latin typeface="Times New Roman" panose="02020603050405020304" pitchFamily="18" charset="0"/>
                          <a:cs typeface="Times New Roman" panose="02020603050405020304" pitchFamily="18" charset="0"/>
                        </a:rPr>
                        <a:t>-CRF, BART, Neo4j, </a:t>
                      </a:r>
                      <a:r>
                        <a:rPr lang="en-US" sz="1400" dirty="0" err="1" smtClean="0">
                          <a:latin typeface="Times New Roman" panose="02020603050405020304" pitchFamily="18" charset="0"/>
                          <a:cs typeface="Times New Roman" panose="02020603050405020304" pitchFamily="18" charset="0"/>
                        </a:rPr>
                        <a:t>LangChain</a:t>
                      </a:r>
                      <a:r>
                        <a:rPr lang="en-US" sz="1400" dirty="0" smtClean="0">
                          <a:latin typeface="Times New Roman" panose="02020603050405020304" pitchFamily="18" charset="0"/>
                          <a:cs typeface="Times New Roman" panose="02020603050405020304" pitchFamily="18" charset="0"/>
                        </a:rPr>
                        <a:t>, Qwen-7B enable strong domain QA</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Manual NER errors, domain bias, limited coverage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9392490"/>
                  </a:ext>
                </a:extLst>
              </a:tr>
              <a:tr h="1159799">
                <a:tc>
                  <a:txBody>
                    <a:bodyPr/>
                    <a:lstStyle/>
                    <a:p>
                      <a:r>
                        <a:rPr lang="en-US" sz="1400" dirty="0" smtClean="0">
                          <a:latin typeface="Times New Roman" panose="02020603050405020304" pitchFamily="18" charset="0"/>
                          <a:cs typeface="Times New Roman" panose="02020603050405020304" pitchFamily="18" charset="0"/>
                        </a:rPr>
                        <a:t>7</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GTCA: A Graph Transformer Contrastive Architecture for Noisy KGs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err="1" smtClean="0">
                          <a:latin typeface="Times New Roman" panose="02020603050405020304" pitchFamily="18" charset="0"/>
                          <a:cs typeface="Times New Roman" panose="02020603050405020304" pitchFamily="18" charset="0"/>
                        </a:rPr>
                        <a:t>Haonan</a:t>
                      </a:r>
                      <a:r>
                        <a:rPr lang="en-US" sz="1400" dirty="0" smtClean="0">
                          <a:latin typeface="Times New Roman" panose="02020603050405020304" pitchFamily="18" charset="0"/>
                          <a:cs typeface="Times New Roman" panose="02020603050405020304" pitchFamily="18" charset="0"/>
                        </a:rPr>
                        <a:t> </a:t>
                      </a:r>
                    </a:p>
                    <a:p>
                      <a:r>
                        <a:rPr lang="en-US" sz="1400" dirty="0" smtClean="0">
                          <a:latin typeface="Times New Roman" panose="02020603050405020304" pitchFamily="18" charset="0"/>
                          <a:cs typeface="Times New Roman" panose="02020603050405020304" pitchFamily="18" charset="0"/>
                        </a:rPr>
                        <a:t>Liang et al.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KDD, 2025</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Transformer-based semantic extraction + GNN structural encoding, contrastive learning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Strong robustness to noisy graphs, improved semantic alignment</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High computational cost, limited review-text integration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79150960"/>
                  </a:ext>
                </a:extLst>
              </a:tr>
              <a:tr h="1159799">
                <a:tc>
                  <a:txBody>
                    <a:bodyPr/>
                    <a:lstStyle/>
                    <a:p>
                      <a:r>
                        <a:rPr lang="en-US" sz="1400" dirty="0" smtClean="0">
                          <a:latin typeface="Times New Roman" panose="02020603050405020304" pitchFamily="18" charset="0"/>
                          <a:cs typeface="Times New Roman" panose="02020603050405020304" pitchFamily="18" charset="0"/>
                        </a:rPr>
                        <a:t>8</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Knowledge-Enhanced Multi-Intent Transformer Network (KGTN)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nl-NL" sz="1400" dirty="0" smtClean="0">
                          <a:latin typeface="Times New Roman" panose="02020603050405020304" pitchFamily="18" charset="0"/>
                          <a:cs typeface="Times New Roman" panose="02020603050405020304" pitchFamily="18" charset="0"/>
                        </a:rPr>
                        <a:t>Zou Zhixin, Wang Kai, Huang Lin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AAAI, 2024</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Multi-intent transformer, KG </a:t>
                      </a:r>
                      <a:r>
                        <a:rPr lang="en-US" sz="1400" dirty="0" err="1" smtClean="0">
                          <a:latin typeface="Times New Roman" panose="02020603050405020304" pitchFamily="18" charset="0"/>
                          <a:cs typeface="Times New Roman" panose="02020603050405020304" pitchFamily="18" charset="0"/>
                        </a:rPr>
                        <a:t>denoising</a:t>
                      </a:r>
                      <a:r>
                        <a:rPr lang="en-US" sz="1400" dirty="0" smtClean="0">
                          <a:latin typeface="Times New Roman" panose="02020603050405020304" pitchFamily="18" charset="0"/>
                          <a:cs typeface="Times New Roman" panose="02020603050405020304" pitchFamily="18" charset="0"/>
                        </a:rPr>
                        <a:t>, contrastive intent modeling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State-of-the-art accuracy; strong intent modeling</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smtClean="0">
                          <a:latin typeface="Times New Roman" panose="02020603050405020304" pitchFamily="18" charset="0"/>
                          <a:cs typeface="Times New Roman" panose="02020603050405020304" pitchFamily="18" charset="0"/>
                        </a:rPr>
                        <a:t>High training complexity, cannot incorporate review-based text</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77758182"/>
                  </a:ext>
                </a:extLst>
              </a:tr>
            </a:tbl>
          </a:graphicData>
        </a:graphic>
      </p:graphicFrame>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
        <p:nvSpPr>
          <p:cNvPr id="3" name="Date Placeholder 2"/>
          <p:cNvSpPr>
            <a:spLocks noGrp="1"/>
          </p:cNvSpPr>
          <p:nvPr>
            <p:ph type="dt" sz="half" idx="10"/>
          </p:nvPr>
        </p:nvSpPr>
        <p:spPr>
          <a:xfrm>
            <a:off x="767701" y="6490830"/>
            <a:ext cx="2743200" cy="365125"/>
          </a:xfrm>
        </p:spPr>
        <p:txBody>
          <a:bodyPr/>
          <a:lstStyle/>
          <a:p>
            <a:fld id="{CE4E4AF5-C348-48D0-A3A7-C2F8E0885145}" type="datetime1">
              <a:rPr lang="en-US" smtClean="0"/>
              <a:t>2/9/2026</a:t>
            </a:fld>
            <a:endParaRPr lang="en-US" dirty="0"/>
          </a:p>
        </p:txBody>
      </p:sp>
      <p:sp>
        <p:nvSpPr>
          <p:cNvPr id="6" name="Footer Placeholder 5"/>
          <p:cNvSpPr>
            <a:spLocks noGrp="1"/>
          </p:cNvSpPr>
          <p:nvPr>
            <p:ph type="ftr" sz="quarter" idx="11"/>
          </p:nvPr>
        </p:nvSpPr>
        <p:spPr>
          <a:xfrm>
            <a:off x="4045858" y="6483702"/>
            <a:ext cx="4114800" cy="365125"/>
          </a:xfrm>
        </p:spPr>
        <p:txBody>
          <a:bodyPr/>
          <a:lstStyle/>
          <a:p>
            <a:r>
              <a:rPr lang="en-US" smtClean="0"/>
              <a:t>Review No. 3     Batch No.CG11         Department of CSE</a:t>
            </a:r>
            <a:endParaRPr lang="en-US" dirty="0"/>
          </a:p>
        </p:txBody>
      </p:sp>
      <p:sp>
        <p:nvSpPr>
          <p:cNvPr id="7" name="Slide Number Placeholder 6"/>
          <p:cNvSpPr>
            <a:spLocks noGrp="1"/>
          </p:cNvSpPr>
          <p:nvPr>
            <p:ph type="sldNum" sz="quarter" idx="12"/>
          </p:nvPr>
        </p:nvSpPr>
        <p:spPr>
          <a:xfrm>
            <a:off x="8695615" y="6483701"/>
            <a:ext cx="2743200" cy="365125"/>
          </a:xfrm>
        </p:spPr>
        <p:txBody>
          <a:bodyPr/>
          <a:lstStyle/>
          <a:p>
            <a:fld id="{FFEC67FC-8107-4C00-9415-4D1567E899B9}" type="slidenum">
              <a:rPr lang="en-US" smtClean="0"/>
              <a:t>6</a:t>
            </a:fld>
            <a:endParaRPr lang="en-US" dirty="0"/>
          </a:p>
        </p:txBody>
      </p:sp>
    </p:spTree>
    <p:extLst>
      <p:ext uri="{BB962C8B-B14F-4D97-AF65-F5344CB8AC3E}">
        <p14:creationId xmlns:p14="http://schemas.microsoft.com/office/powerpoint/2010/main" val="34050995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515" y="344809"/>
            <a:ext cx="10515600" cy="596069"/>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Research Gaps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
        <p:nvSpPr>
          <p:cNvPr id="5" name="Date Placeholder 4"/>
          <p:cNvSpPr>
            <a:spLocks noGrp="1"/>
          </p:cNvSpPr>
          <p:nvPr>
            <p:ph type="dt" sz="half" idx="10"/>
          </p:nvPr>
        </p:nvSpPr>
        <p:spPr/>
        <p:txBody>
          <a:bodyPr/>
          <a:lstStyle/>
          <a:p>
            <a:fld id="{DBDDDEC8-F6D0-4E45-94EC-34186037ACAE}"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7</a:t>
            </a:fld>
            <a:endParaRPr lang="en-US"/>
          </a:p>
        </p:txBody>
      </p:sp>
      <p:sp>
        <p:nvSpPr>
          <p:cNvPr id="39" name="TextBox 38"/>
          <p:cNvSpPr txBox="1"/>
          <p:nvPr/>
        </p:nvSpPr>
        <p:spPr>
          <a:xfrm>
            <a:off x="435429" y="1233371"/>
            <a:ext cx="184731" cy="369332"/>
          </a:xfrm>
          <a:prstGeom prst="rect">
            <a:avLst/>
          </a:prstGeom>
          <a:noFill/>
        </p:spPr>
        <p:txBody>
          <a:bodyPr wrap="none" rtlCol="0">
            <a:spAutoFit/>
          </a:bodyPr>
          <a:lstStyle/>
          <a:p>
            <a:endParaRPr lang="en-IN" dirty="0"/>
          </a:p>
        </p:txBody>
      </p:sp>
      <p:sp>
        <p:nvSpPr>
          <p:cNvPr id="43" name="object 3"/>
          <p:cNvSpPr txBox="1"/>
          <p:nvPr/>
        </p:nvSpPr>
        <p:spPr>
          <a:xfrm>
            <a:off x="620160" y="940878"/>
            <a:ext cx="10798955" cy="4624343"/>
          </a:xfrm>
          <a:prstGeom prst="rect">
            <a:avLst/>
          </a:prstGeom>
          <a:ln>
            <a:solidFill>
              <a:srgbClr val="7030A0"/>
            </a:solidFill>
          </a:ln>
        </p:spPr>
        <p:txBody>
          <a:bodyPr vert="horz" wrap="square" lIns="0" tIns="99060" rIns="0" bIns="0" rtlCol="0">
            <a:spAutoFit/>
          </a:bodyPr>
          <a:lstStyle/>
          <a:p>
            <a:r>
              <a:rPr lang="en-US" sz="2400" b="1" u="sng" dirty="0" smtClean="0">
                <a:latin typeface="Times New Roman" panose="02020603050405020304" pitchFamily="18" charset="0"/>
                <a:cs typeface="Times New Roman" pitchFamily="18" charset="0"/>
              </a:rPr>
              <a:t> </a:t>
            </a:r>
            <a:r>
              <a:rPr lang="en-US" sz="2000" b="1" u="sng" dirty="0" smtClean="0">
                <a:latin typeface="Times New Roman" panose="02020603050405020304" pitchFamily="18" charset="0"/>
                <a:cs typeface="Times New Roman" pitchFamily="18" charset="0"/>
              </a:rPr>
              <a:t>Research </a:t>
            </a:r>
            <a:r>
              <a:rPr lang="en-US" sz="2000" b="1" u="sng" dirty="0">
                <a:latin typeface="Times New Roman" panose="02020603050405020304" pitchFamily="18" charset="0"/>
                <a:cs typeface="Times New Roman" pitchFamily="18" charset="0"/>
              </a:rPr>
              <a:t>Gaps </a:t>
            </a:r>
            <a:r>
              <a:rPr lang="en-US" sz="2000" b="1" u="sng" dirty="0" smtClean="0">
                <a:latin typeface="Times New Roman" panose="02020603050405020304" pitchFamily="18" charset="0"/>
                <a:cs typeface="Times New Roman" pitchFamily="18" charset="0"/>
              </a:rPr>
              <a:t>Identified </a:t>
            </a:r>
            <a:endParaRPr lang="en-US" sz="2400" b="1" u="sng" dirty="0">
              <a:latin typeface="Times New Roman" panose="02020603050405020304" pitchFamily="18" charset="0"/>
              <a:cs typeface="Times New Roman" pitchFamily="18" charset="0"/>
            </a:endParaRPr>
          </a:p>
          <a:p>
            <a:r>
              <a:rPr lang="en-US" b="1" dirty="0" smtClean="0">
                <a:latin typeface="Times New Roman" pitchFamily="18" charset="0"/>
                <a:cs typeface="Times New Roman" pitchFamily="18" charset="0"/>
              </a:rPr>
              <a:t> </a:t>
            </a:r>
            <a:r>
              <a:rPr lang="en-US" b="1" dirty="0" smtClean="0">
                <a:latin typeface="Times New Roman" pitchFamily="18" charset="0"/>
                <a:cs typeface="Times New Roman" pitchFamily="18" charset="0"/>
              </a:rPr>
              <a:t>1.  </a:t>
            </a:r>
            <a:r>
              <a:rPr lang="en-US" b="1" dirty="0">
                <a:latin typeface="Times New Roman" panose="02020603050405020304" pitchFamily="18" charset="0"/>
                <a:cs typeface="Times New Roman" panose="02020603050405020304" pitchFamily="18" charset="0"/>
              </a:rPr>
              <a:t>Weak Semantic Understanding</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Earlier models failed to capture full meaning of user </a:t>
            </a:r>
            <a:r>
              <a:rPr lang="en-US" dirty="0" smtClean="0">
                <a:latin typeface="Times New Roman" panose="02020603050405020304" pitchFamily="18" charset="0"/>
                <a:cs typeface="Times New Roman" panose="02020603050405020304" pitchFamily="18" charset="0"/>
              </a:rPr>
              <a:t>reviews</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Subtle contextual cues were lost.</a:t>
            </a:r>
          </a:p>
          <a:p>
            <a:r>
              <a:rPr lang="en-US" b="1" dirty="0" smtClean="0">
                <a:latin typeface="Times New Roman" panose="02020603050405020304" pitchFamily="18" charset="0"/>
                <a:cs typeface="Times New Roman" panose="02020603050405020304" pitchFamily="18" charset="0"/>
              </a:rPr>
              <a:t> 2. Noisy </a:t>
            </a:r>
            <a:r>
              <a:rPr lang="en-US" b="1" dirty="0">
                <a:latin typeface="Times New Roman" panose="02020603050405020304" pitchFamily="18" charset="0"/>
                <a:cs typeface="Times New Roman" panose="02020603050405020304" pitchFamily="18" charset="0"/>
              </a:rPr>
              <a:t>&amp; Irrelevant KG Data</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High-order neighbors introduce noise.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Graph edges become unreliable.</a:t>
            </a:r>
          </a:p>
          <a:p>
            <a:r>
              <a:rPr lang="en-US" b="1" dirty="0" smtClean="0">
                <a:latin typeface="Times New Roman" panose="02020603050405020304" pitchFamily="18" charset="0"/>
                <a:cs typeface="Times New Roman" panose="02020603050405020304" pitchFamily="18" charset="0"/>
              </a:rPr>
              <a:t> 3. Over-Reliance </a:t>
            </a:r>
            <a:r>
              <a:rPr lang="en-US" b="1" dirty="0">
                <a:latin typeface="Times New Roman" panose="02020603050405020304" pitchFamily="18" charset="0"/>
                <a:cs typeface="Times New Roman" panose="02020603050405020304" pitchFamily="18" charset="0"/>
              </a:rPr>
              <a:t>on Graph Structure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Review content was ignored in most systems.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Structure-only models produced </a:t>
            </a:r>
            <a:r>
              <a:rPr lang="en-US" dirty="0" smtClean="0">
                <a:latin typeface="Times New Roman" panose="02020603050405020304" pitchFamily="18" charset="0"/>
                <a:cs typeface="Times New Roman" panose="02020603050405020304" pitchFamily="18" charset="0"/>
              </a:rPr>
              <a:t>shallow representations</a:t>
            </a:r>
            <a:r>
              <a:rPr lang="en-US" dirty="0">
                <a:latin typeface="Times New Roman" panose="02020603050405020304" pitchFamily="18" charset="0"/>
                <a:cs typeface="Times New Roman" panose="02020603050405020304" pitchFamily="18" charset="0"/>
              </a:rPr>
              <a:t>.</a:t>
            </a:r>
          </a:p>
          <a:p>
            <a:r>
              <a:rPr lang="en-US" b="1" dirty="0" smtClean="0">
                <a:latin typeface="Times New Roman" panose="02020603050405020304" pitchFamily="18" charset="0"/>
                <a:cs typeface="Times New Roman" panose="02020603050405020304" pitchFamily="18" charset="0"/>
              </a:rPr>
              <a:t> 4. Poor </a:t>
            </a:r>
            <a:r>
              <a:rPr lang="en-US" b="1" dirty="0">
                <a:latin typeface="Times New Roman" panose="02020603050405020304" pitchFamily="18" charset="0"/>
                <a:cs typeface="Times New Roman" panose="02020603050405020304" pitchFamily="18" charset="0"/>
              </a:rPr>
              <a:t>Scalability &amp; Real-Time Limitations</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Models struggled on large datasets.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Real-time KG updating not supported.</a:t>
            </a:r>
          </a:p>
          <a:p>
            <a:r>
              <a:rPr lang="en-US" b="1" dirty="0" smtClean="0">
                <a:latin typeface="Times New Roman" panose="02020603050405020304" pitchFamily="18" charset="0"/>
                <a:cs typeface="Times New Roman" panose="02020603050405020304" pitchFamily="18" charset="0"/>
              </a:rPr>
              <a:t> 5. Limited </a:t>
            </a:r>
            <a:r>
              <a:rPr lang="en-US" b="1" dirty="0">
                <a:latin typeface="Times New Roman" panose="02020603050405020304" pitchFamily="18" charset="0"/>
                <a:cs typeface="Times New Roman" panose="02020603050405020304" pitchFamily="18" charset="0"/>
              </a:rPr>
              <a:t>Interpretability &amp; No </a:t>
            </a:r>
            <a:r>
              <a:rPr lang="en-US" b="1" dirty="0" smtClean="0">
                <a:latin typeface="Times New Roman" panose="02020603050405020304" pitchFamily="18" charset="0"/>
                <a:cs typeface="Times New Roman" panose="02020603050405020304" pitchFamily="18" charset="0"/>
              </a:rPr>
              <a:t>User-Centered </a:t>
            </a:r>
            <a:r>
              <a:rPr lang="en-US" b="1" dirty="0" smtClean="0">
                <a:latin typeface="Times New Roman" panose="02020603050405020304" pitchFamily="18" charset="0"/>
                <a:cs typeface="Times New Roman" panose="02020603050405020304" pitchFamily="18" charset="0"/>
              </a:rPr>
              <a:t>Evaluation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Models acted as black boxes.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No real user feedback or </a:t>
            </a:r>
            <a:r>
              <a:rPr lang="en-US" dirty="0" smtClean="0">
                <a:latin typeface="Times New Roman" panose="02020603050405020304" pitchFamily="18" charset="0"/>
                <a:cs typeface="Times New Roman" panose="02020603050405020304" pitchFamily="18" charset="0"/>
              </a:rPr>
              <a:t>explainability</a:t>
            </a:r>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644158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3515" y="432074"/>
            <a:ext cx="10515600" cy="596069"/>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Research Gaps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
        <p:nvSpPr>
          <p:cNvPr id="5" name="Date Placeholder 4"/>
          <p:cNvSpPr>
            <a:spLocks noGrp="1"/>
          </p:cNvSpPr>
          <p:nvPr>
            <p:ph type="dt" sz="half" idx="10"/>
          </p:nvPr>
        </p:nvSpPr>
        <p:spPr/>
        <p:txBody>
          <a:bodyPr/>
          <a:lstStyle/>
          <a:p>
            <a:fld id="{DBDDDEC8-F6D0-4E45-94EC-34186037ACAE}"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8</a:t>
            </a:fld>
            <a:endParaRPr lang="en-US"/>
          </a:p>
        </p:txBody>
      </p:sp>
      <p:sp>
        <p:nvSpPr>
          <p:cNvPr id="39" name="TextBox 38"/>
          <p:cNvSpPr txBox="1"/>
          <p:nvPr/>
        </p:nvSpPr>
        <p:spPr>
          <a:xfrm>
            <a:off x="435429" y="1233371"/>
            <a:ext cx="184731" cy="369332"/>
          </a:xfrm>
          <a:prstGeom prst="rect">
            <a:avLst/>
          </a:prstGeom>
          <a:noFill/>
        </p:spPr>
        <p:txBody>
          <a:bodyPr wrap="none" rtlCol="0">
            <a:spAutoFit/>
          </a:bodyPr>
          <a:lstStyle/>
          <a:p>
            <a:endParaRPr lang="en-IN" dirty="0"/>
          </a:p>
        </p:txBody>
      </p:sp>
      <p:sp>
        <p:nvSpPr>
          <p:cNvPr id="44" name="TextBox 43"/>
          <p:cNvSpPr txBox="1"/>
          <p:nvPr/>
        </p:nvSpPr>
        <p:spPr>
          <a:xfrm>
            <a:off x="688911" y="1060579"/>
            <a:ext cx="10944808" cy="4462760"/>
          </a:xfrm>
          <a:prstGeom prst="rect">
            <a:avLst/>
          </a:prstGeom>
          <a:noFill/>
          <a:ln>
            <a:solidFill>
              <a:srgbClr val="7030A0"/>
            </a:solidFill>
          </a:ln>
        </p:spPr>
        <p:txBody>
          <a:bodyPr wrap="square" rtlCol="0">
            <a:spAutoFit/>
          </a:bodyPr>
          <a:lstStyle/>
          <a:p>
            <a:r>
              <a:rPr lang="en-US" sz="2000" b="1" u="sng" dirty="0" smtClean="0">
                <a:latin typeface="Times New Roman" pitchFamily="18" charset="0"/>
                <a:cs typeface="Times New Roman" pitchFamily="18" charset="0"/>
              </a:rPr>
              <a:t>How Our Project Addresses These Gaps</a:t>
            </a:r>
          </a:p>
          <a:p>
            <a:endParaRPr lang="en-US" sz="1200" b="1" u="sng"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1. </a:t>
            </a:r>
            <a:r>
              <a:rPr lang="en-IN" b="1" dirty="0" smtClean="0">
                <a:latin typeface="Times New Roman" panose="02020603050405020304" pitchFamily="18" charset="0"/>
                <a:cs typeface="Times New Roman" panose="02020603050405020304" pitchFamily="18" charset="0"/>
              </a:rPr>
              <a:t>Semantic-Rich </a:t>
            </a:r>
            <a:r>
              <a:rPr lang="en-IN" b="1" dirty="0">
                <a:latin typeface="Times New Roman" panose="02020603050405020304" pitchFamily="18" charset="0"/>
                <a:cs typeface="Times New Roman" panose="02020603050405020304" pitchFamily="18" charset="0"/>
              </a:rPr>
              <a:t>Review Modeling</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 Uses transformer embeddings to capture </a:t>
            </a:r>
            <a:r>
              <a:rPr lang="en-IN" dirty="0" smtClean="0">
                <a:latin typeface="Times New Roman" panose="02020603050405020304" pitchFamily="18" charset="0"/>
                <a:cs typeface="Times New Roman" panose="02020603050405020304" pitchFamily="18" charset="0"/>
              </a:rPr>
              <a:t>deep contextual </a:t>
            </a:r>
            <a:r>
              <a:rPr lang="en-IN" dirty="0">
                <a:latin typeface="Times New Roman" panose="02020603050405020304" pitchFamily="18" charset="0"/>
                <a:cs typeface="Times New Roman" panose="02020603050405020304" pitchFamily="18" charset="0"/>
              </a:rPr>
              <a:t>meaning.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 Improves understanding of review semantics.</a:t>
            </a:r>
          </a:p>
          <a:p>
            <a:r>
              <a:rPr lang="en-IN" b="1" dirty="0" smtClean="0">
                <a:latin typeface="Times New Roman" panose="02020603050405020304" pitchFamily="18" charset="0"/>
                <a:cs typeface="Times New Roman" panose="02020603050405020304" pitchFamily="18" charset="0"/>
              </a:rPr>
              <a:t>2. Noise-Resistant </a:t>
            </a:r>
            <a:r>
              <a:rPr lang="en-IN" b="1" dirty="0">
                <a:latin typeface="Times New Roman" panose="02020603050405020304" pitchFamily="18" charset="0"/>
                <a:cs typeface="Times New Roman" panose="02020603050405020304" pitchFamily="18" charset="0"/>
              </a:rPr>
              <a:t>KG Construction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 GAT + R-GCN reduce noisy edges and high-order </a:t>
            </a:r>
            <a:r>
              <a:rPr lang="en-IN" dirty="0" smtClean="0">
                <a:latin typeface="Times New Roman" panose="02020603050405020304" pitchFamily="18" charset="0"/>
                <a:cs typeface="Times New Roman" panose="02020603050405020304" pitchFamily="18" charset="0"/>
              </a:rPr>
              <a:t>propagation</a:t>
            </a:r>
            <a:r>
              <a:rPr lang="en-IN" dirty="0">
                <a:latin typeface="Times New Roman" panose="02020603050405020304" pitchFamily="18" charset="0"/>
                <a:cs typeface="Times New Roman" panose="02020603050405020304" pitchFamily="18" charset="0"/>
              </a:rPr>
              <a: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 Contrastive learning aligns and denoises multi-views.</a:t>
            </a:r>
          </a:p>
          <a:p>
            <a:r>
              <a:rPr lang="en-IN" b="1" dirty="0" smtClean="0">
                <a:latin typeface="Times New Roman" panose="02020603050405020304" pitchFamily="18" charset="0"/>
                <a:cs typeface="Times New Roman" panose="02020603050405020304" pitchFamily="18" charset="0"/>
              </a:rPr>
              <a:t>3. Balanced </a:t>
            </a:r>
            <a:r>
              <a:rPr lang="en-IN" b="1" dirty="0">
                <a:latin typeface="Times New Roman" panose="02020603050405020304" pitchFamily="18" charset="0"/>
                <a:cs typeface="Times New Roman" panose="02020603050405020304" pitchFamily="18" charset="0"/>
              </a:rPr>
              <a:t>Text–Structure Fusion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 Integrates review embeddings directly into KG nodes.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 Eliminates over-dependence on graph topology.</a:t>
            </a:r>
          </a:p>
          <a:p>
            <a:r>
              <a:rPr lang="en-IN" b="1" dirty="0" smtClean="0">
                <a:latin typeface="Times New Roman" panose="02020603050405020304" pitchFamily="18" charset="0"/>
                <a:cs typeface="Times New Roman" panose="02020603050405020304" pitchFamily="18" charset="0"/>
              </a:rPr>
              <a:t>4. Modular </a:t>
            </a:r>
            <a:r>
              <a:rPr lang="en-IN" b="1" dirty="0">
                <a:latin typeface="Times New Roman" panose="02020603050405020304" pitchFamily="18" charset="0"/>
                <a:cs typeface="Times New Roman" panose="02020603050405020304" pitchFamily="18" charset="0"/>
              </a:rPr>
              <a:t>&amp; Scalable Architecture</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 Lightweight multi-view model improves scalability.</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 Framework designed for future real-time dynamic </a:t>
            </a:r>
            <a:r>
              <a:rPr lang="en-IN" dirty="0" smtClean="0">
                <a:latin typeface="Times New Roman" panose="02020603050405020304" pitchFamily="18" charset="0"/>
                <a:cs typeface="Times New Roman" panose="02020603050405020304" pitchFamily="18" charset="0"/>
              </a:rPr>
              <a:t>KG </a:t>
            </a:r>
            <a:r>
              <a:rPr lang="en-IN" dirty="0" smtClean="0">
                <a:latin typeface="Times New Roman" panose="02020603050405020304" pitchFamily="18" charset="0"/>
                <a:cs typeface="Times New Roman" panose="02020603050405020304" pitchFamily="18" charset="0"/>
              </a:rPr>
              <a:t>updates</a:t>
            </a:r>
            <a:r>
              <a:rPr lang="en-IN" dirty="0">
                <a:latin typeface="Times New Roman" panose="02020603050405020304" pitchFamily="18" charset="0"/>
                <a:cs typeface="Times New Roman" panose="02020603050405020304" pitchFamily="18" charset="0"/>
              </a:rPr>
              <a:t>.</a:t>
            </a:r>
          </a:p>
          <a:p>
            <a:r>
              <a:rPr lang="en-IN" b="1" dirty="0" smtClean="0">
                <a:latin typeface="Times New Roman" panose="02020603050405020304" pitchFamily="18" charset="0"/>
                <a:cs typeface="Times New Roman" panose="02020603050405020304" pitchFamily="18" charset="0"/>
              </a:rPr>
              <a:t>5. Enhanced </a:t>
            </a:r>
            <a:r>
              <a:rPr lang="en-IN" b="1" dirty="0">
                <a:latin typeface="Times New Roman" panose="02020603050405020304" pitchFamily="18" charset="0"/>
                <a:cs typeface="Times New Roman" panose="02020603050405020304" pitchFamily="18" charset="0"/>
              </a:rPr>
              <a:t>Interpretability &amp; Evaluation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 Semantic + structural alignment offers clearer </a:t>
            </a:r>
            <a:r>
              <a:rPr lang="en-IN" dirty="0" smtClean="0">
                <a:latin typeface="Times New Roman" panose="02020603050405020304" pitchFamily="18" charset="0"/>
                <a:cs typeface="Times New Roman" panose="02020603050405020304" pitchFamily="18" charset="0"/>
              </a:rPr>
              <a:t>reasoning</a:t>
            </a:r>
            <a:r>
              <a:rPr lang="en-IN"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28076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523" y="535893"/>
            <a:ext cx="10515600" cy="87892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Problem Statements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
        <p:nvSpPr>
          <p:cNvPr id="3" name="Content Placeholder 2"/>
          <p:cNvSpPr>
            <a:spLocks noGrp="1"/>
          </p:cNvSpPr>
          <p:nvPr>
            <p:ph idx="1"/>
          </p:nvPr>
        </p:nvSpPr>
        <p:spPr>
          <a:xfrm>
            <a:off x="875523" y="1414818"/>
            <a:ext cx="10515600" cy="4351338"/>
          </a:xfrm>
        </p:spPr>
        <p:txBody>
          <a:bodyPr>
            <a:normAutofit/>
          </a:bodyPr>
          <a:lstStyle/>
          <a:p>
            <a:r>
              <a:rPr lang="en-US" sz="1800" b="1" dirty="0">
                <a:latin typeface="Times New Roman" panose="02020603050405020304" pitchFamily="18" charset="0"/>
                <a:cs typeface="Times New Roman" panose="02020603050405020304" pitchFamily="18" charset="0"/>
              </a:rPr>
              <a:t>Noisy Knowledge </a:t>
            </a:r>
            <a:r>
              <a:rPr lang="en-US" sz="1800" b="1" dirty="0" smtClean="0">
                <a:latin typeface="Times New Roman" panose="02020603050405020304" pitchFamily="18" charset="0"/>
                <a:cs typeface="Times New Roman" panose="02020603050405020304" pitchFamily="18" charset="0"/>
              </a:rPr>
              <a:t>Graphs:</a:t>
            </a:r>
            <a:r>
              <a:rPr lang="en-US" sz="1800" dirty="0" smtClean="0">
                <a:latin typeface="Times New Roman" panose="02020603050405020304" pitchFamily="18" charset="0"/>
                <a:cs typeface="Times New Roman" panose="02020603050405020304" pitchFamily="18" charset="0"/>
              </a:rPr>
              <a:t/>
            </a:r>
            <a:br>
              <a:rPr lang="en-US" sz="1800" dirty="0" smtClean="0">
                <a:latin typeface="Times New Roman" panose="02020603050405020304" pitchFamily="18" charset="0"/>
                <a:cs typeface="Times New Roman" panose="02020603050405020304" pitchFamily="18" charset="0"/>
              </a:rPr>
            </a:br>
            <a:r>
              <a:rPr lang="en-US" sz="1800" dirty="0" smtClean="0">
                <a:latin typeface="Times New Roman" panose="02020603050405020304" pitchFamily="18" charset="0"/>
                <a:cs typeface="Times New Roman" panose="02020603050405020304" pitchFamily="18" charset="0"/>
              </a:rPr>
              <a:t>Existing </a:t>
            </a:r>
            <a:r>
              <a:rPr lang="en-US" sz="1800" dirty="0">
                <a:latin typeface="Times New Roman" panose="02020603050405020304" pitchFamily="18" charset="0"/>
                <a:cs typeface="Times New Roman" panose="02020603050405020304" pitchFamily="18" charset="0"/>
              </a:rPr>
              <a:t>KGs contain irrelevant, incomplete, or misleading links, failing to incorporate rich review context.</a:t>
            </a:r>
          </a:p>
          <a:p>
            <a:r>
              <a:rPr lang="en-US" sz="1800" b="1" dirty="0">
                <a:latin typeface="Times New Roman" panose="02020603050405020304" pitchFamily="18" charset="0"/>
                <a:cs typeface="Times New Roman" panose="02020603050405020304" pitchFamily="18" charset="0"/>
              </a:rPr>
              <a:t>Over-Propagation in GNNs</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Graph Neural Networks often spread structural noise across high-order neighbors, weakening representation quality.</a:t>
            </a:r>
          </a:p>
          <a:p>
            <a:r>
              <a:rPr lang="en-US" sz="1800" b="1" dirty="0">
                <a:latin typeface="Times New Roman" panose="02020603050405020304" pitchFamily="18" charset="0"/>
                <a:cs typeface="Times New Roman" panose="02020603050405020304" pitchFamily="18" charset="0"/>
              </a:rPr>
              <a:t>Weak Semantic Understanding</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Many models do not capture deep meaning, sentiment, or contextual cues present in user reviews.</a:t>
            </a:r>
          </a:p>
          <a:p>
            <a:r>
              <a:rPr lang="en-US" sz="1800" b="1" dirty="0">
                <a:latin typeface="Times New Roman" panose="02020603050405020304" pitchFamily="18" charset="0"/>
                <a:cs typeface="Times New Roman" panose="02020603050405020304" pitchFamily="18" charset="0"/>
              </a:rPr>
              <a:t>Scalability Limitations</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Current architectures struggle to process large-scale, multi-domain data efficiently, reducing real-time applicability.</a:t>
            </a:r>
          </a:p>
          <a:p>
            <a:r>
              <a:rPr lang="en-US" sz="1800" b="1" dirty="0">
                <a:latin typeface="Times New Roman" panose="02020603050405020304" pitchFamily="18" charset="0"/>
                <a:cs typeface="Times New Roman" panose="02020603050405020304" pitchFamily="18" charset="0"/>
              </a:rPr>
              <a:t>Low Interpretability</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Learned embeddings and predictions are difficult to explain, limiting trust and transparency in the system.</a:t>
            </a:r>
          </a:p>
        </p:txBody>
      </p:sp>
      <p:sp>
        <p:nvSpPr>
          <p:cNvPr id="5" name="Date Placeholder 4"/>
          <p:cNvSpPr>
            <a:spLocks noGrp="1"/>
          </p:cNvSpPr>
          <p:nvPr>
            <p:ph type="dt" sz="half" idx="10"/>
          </p:nvPr>
        </p:nvSpPr>
        <p:spPr/>
        <p:txBody>
          <a:bodyPr/>
          <a:lstStyle/>
          <a:p>
            <a:fld id="{39A2F229-3BDE-4E4A-B6AC-4FB7A4C7AB95}"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9</a:t>
            </a:fld>
            <a:endParaRPr lang="en-US"/>
          </a:p>
        </p:txBody>
      </p:sp>
    </p:spTree>
    <p:extLst>
      <p:ext uri="{BB962C8B-B14F-4D97-AF65-F5344CB8AC3E}">
        <p14:creationId xmlns:p14="http://schemas.microsoft.com/office/powerpoint/2010/main" val="11248606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523" y="535893"/>
            <a:ext cx="10515600" cy="878925"/>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Objectives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
        <p:nvSpPr>
          <p:cNvPr id="3" name="Content Placeholder 2"/>
          <p:cNvSpPr>
            <a:spLocks noGrp="1"/>
          </p:cNvSpPr>
          <p:nvPr>
            <p:ph idx="1"/>
          </p:nvPr>
        </p:nvSpPr>
        <p:spPr>
          <a:xfrm>
            <a:off x="875523" y="1414818"/>
            <a:ext cx="10515600" cy="4351338"/>
          </a:xfrm>
        </p:spPr>
        <p:txBody>
          <a:bodyPr>
            <a:normAutofit/>
          </a:bodyPr>
          <a:lstStyle/>
          <a:p>
            <a:r>
              <a:rPr lang="en-US" sz="1800" b="1" dirty="0">
                <a:latin typeface="Times New Roman" panose="02020603050405020304" pitchFamily="18" charset="0"/>
                <a:cs typeface="Times New Roman" panose="02020603050405020304" pitchFamily="18" charset="0"/>
              </a:rPr>
              <a:t>Semantic–Structural Integration</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Establish a strong connection between review semantics and knowledge graph structure using contrastive learning to align multiple information views.</a:t>
            </a:r>
          </a:p>
          <a:p>
            <a:r>
              <a:rPr lang="en-US" sz="1800" b="1" dirty="0">
                <a:latin typeface="Times New Roman" panose="02020603050405020304" pitchFamily="18" charset="0"/>
                <a:cs typeface="Times New Roman" panose="02020603050405020304" pitchFamily="18" charset="0"/>
              </a:rPr>
              <a:t>Enhanced Representation Learning</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Combine textual features and structural relationships through attention-based GNNs to generate richer and more meaningful node embeddings.</a:t>
            </a:r>
          </a:p>
          <a:p>
            <a:r>
              <a:rPr lang="en-US" sz="1800" b="1" dirty="0">
                <a:latin typeface="Times New Roman" panose="02020603050405020304" pitchFamily="18" charset="0"/>
                <a:cs typeface="Times New Roman" panose="02020603050405020304" pitchFamily="18" charset="0"/>
              </a:rPr>
              <a:t>Noise Reduction &amp; Robust Generalization</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Minimize high-order noise propagation in GNNs and improve the model’s ability to generalize across diverse and noisy datasets.</a:t>
            </a:r>
          </a:p>
          <a:p>
            <a:r>
              <a:rPr lang="en-US" sz="1800" b="1" dirty="0">
                <a:latin typeface="Times New Roman" panose="02020603050405020304" pitchFamily="18" charset="0"/>
                <a:cs typeface="Times New Roman" panose="02020603050405020304" pitchFamily="18" charset="0"/>
              </a:rPr>
              <a:t>Lightweight, Clear, and Extensible Design</a:t>
            </a:r>
            <a:r>
              <a:rPr lang="en-US" sz="1800" dirty="0">
                <a:latin typeface="Times New Roman" panose="02020603050405020304" pitchFamily="18" charset="0"/>
                <a:cs typeface="Times New Roman" panose="02020603050405020304" pitchFamily="18" charset="0"/>
              </a:rPr>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Develop a modular, efficient, and interpretable framework that remains easy to extend for </a:t>
            </a:r>
            <a:r>
              <a:rPr lang="en-US" sz="1800" dirty="0" smtClean="0">
                <a:latin typeface="Times New Roman" panose="02020603050405020304" pitchFamily="18" charset="0"/>
                <a:cs typeface="Times New Roman" panose="02020603050405020304" pitchFamily="18" charset="0"/>
              </a:rPr>
              <a:t>future functionalities </a:t>
            </a:r>
            <a:r>
              <a:rPr lang="en-US" sz="1800" dirty="0">
                <a:latin typeface="Times New Roman" panose="02020603050405020304" pitchFamily="18" charset="0"/>
                <a:cs typeface="Times New Roman" panose="02020603050405020304" pitchFamily="18" charset="0"/>
              </a:rPr>
              <a:t>such as explainability or temporal modeling.</a:t>
            </a:r>
          </a:p>
        </p:txBody>
      </p:sp>
      <p:sp>
        <p:nvSpPr>
          <p:cNvPr id="5" name="Date Placeholder 4"/>
          <p:cNvSpPr>
            <a:spLocks noGrp="1"/>
          </p:cNvSpPr>
          <p:nvPr>
            <p:ph type="dt" sz="half" idx="10"/>
          </p:nvPr>
        </p:nvSpPr>
        <p:spPr/>
        <p:txBody>
          <a:bodyPr/>
          <a:lstStyle/>
          <a:p>
            <a:fld id="{E7D6579D-7E25-4D8E-B04A-C6965DEDC847}"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10</a:t>
            </a:fld>
            <a:endParaRPr lang="en-US"/>
          </a:p>
        </p:txBody>
      </p:sp>
    </p:spTree>
    <p:extLst>
      <p:ext uri="{BB962C8B-B14F-4D97-AF65-F5344CB8AC3E}">
        <p14:creationId xmlns:p14="http://schemas.microsoft.com/office/powerpoint/2010/main" val="24423873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612" y="643811"/>
            <a:ext cx="12269755" cy="503853"/>
          </a:xfrm>
        </p:spPr>
        <p:txBody>
          <a:bodyPr>
            <a:normAutofit/>
          </a:bodyPr>
          <a:lstStyle/>
          <a:p>
            <a:pPr algn="ctr"/>
            <a:r>
              <a:rPr lang="en-US" sz="2800" b="1" dirty="0">
                <a:latin typeface="Times New Roman" panose="02020603050405020304" pitchFamily="18" charset="0"/>
                <a:cs typeface="Times New Roman" panose="02020603050405020304" pitchFamily="18" charset="0"/>
              </a:rPr>
              <a:t>Proposed Methodology Flow </a:t>
            </a:r>
            <a:r>
              <a:rPr lang="en-US" sz="2800" b="1" dirty="0" smtClean="0">
                <a:latin typeface="Times New Roman" panose="02020603050405020304" pitchFamily="18" charset="0"/>
                <a:cs typeface="Times New Roman" panose="02020603050405020304" pitchFamily="18" charset="0"/>
              </a:rPr>
              <a:t>Chart</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sp>
        <p:nvSpPr>
          <p:cNvPr id="3" name="Date Placeholder 2"/>
          <p:cNvSpPr>
            <a:spLocks noGrp="1"/>
          </p:cNvSpPr>
          <p:nvPr>
            <p:ph type="dt" sz="half" idx="10"/>
          </p:nvPr>
        </p:nvSpPr>
        <p:spPr/>
        <p:txBody>
          <a:bodyPr/>
          <a:lstStyle/>
          <a:p>
            <a:fld id="{319A19CD-7FAB-477C-9CEC-859CD4C5B5E3}"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11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7805" y="1306285"/>
            <a:ext cx="4596390" cy="4739951"/>
          </a:xfrm>
          <a:prstGeom prst="rect">
            <a:avLst/>
          </a:prstGeom>
        </p:spPr>
      </p:pic>
    </p:spTree>
    <p:extLst>
      <p:ext uri="{BB962C8B-B14F-4D97-AF65-F5344CB8AC3E}">
        <p14:creationId xmlns:p14="http://schemas.microsoft.com/office/powerpoint/2010/main" val="1768043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Methodology</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24133" y="1473932"/>
            <a:ext cx="10515600" cy="4351338"/>
          </a:xfrm>
        </p:spPr>
        <p:txBody>
          <a:bodyPr>
            <a:normAutofit fontScale="92500"/>
          </a:bodyPr>
          <a:lstStyle/>
          <a:p>
            <a:r>
              <a:rPr lang="en-US" sz="1800" b="1" dirty="0">
                <a:latin typeface="Times New Roman" panose="02020603050405020304" pitchFamily="18" charset="0"/>
                <a:cs typeface="Times New Roman" panose="02020603050405020304" pitchFamily="18" charset="0"/>
              </a:rPr>
              <a:t>Data Collection &amp; </a:t>
            </a:r>
            <a:r>
              <a:rPr lang="en-US" sz="1800" b="1" dirty="0" smtClean="0">
                <a:latin typeface="Times New Roman" panose="02020603050405020304" pitchFamily="18" charset="0"/>
                <a:cs typeface="Times New Roman" panose="02020603050405020304" pitchFamily="18" charset="0"/>
              </a:rPr>
              <a:t>Preprocessing : </a:t>
            </a:r>
            <a:r>
              <a:rPr lang="en-US" sz="1800" dirty="0" smtClean="0">
                <a:latin typeface="Times New Roman" panose="02020603050405020304" pitchFamily="18" charset="0"/>
                <a:cs typeface="Times New Roman" panose="02020603050405020304" pitchFamily="18" charset="0"/>
              </a:rPr>
              <a:t>Collect </a:t>
            </a:r>
            <a:r>
              <a:rPr lang="en-US" sz="1800" dirty="0">
                <a:latin typeface="Times New Roman" panose="02020603050405020304" pitchFamily="18" charset="0"/>
                <a:cs typeface="Times New Roman" panose="02020603050405020304" pitchFamily="18" charset="0"/>
              </a:rPr>
              <a:t>and clean review datasets, then tokenize and normalize text for modeling.</a:t>
            </a:r>
          </a:p>
          <a:p>
            <a:r>
              <a:rPr lang="en-US" sz="1800" b="1" dirty="0" smtClean="0">
                <a:latin typeface="Times New Roman" panose="02020603050405020304" pitchFamily="18" charset="0"/>
                <a:cs typeface="Times New Roman" panose="02020603050405020304" pitchFamily="18" charset="0"/>
              </a:rPr>
              <a:t>Data Splitting: </a:t>
            </a:r>
            <a:r>
              <a:rPr lang="en-US" sz="1800" dirty="0" smtClean="0">
                <a:latin typeface="Times New Roman" panose="02020603050405020304" pitchFamily="18" charset="0"/>
                <a:cs typeface="Times New Roman" panose="02020603050405020304" pitchFamily="18" charset="0"/>
              </a:rPr>
              <a:t>Divide </a:t>
            </a:r>
            <a:r>
              <a:rPr lang="en-US" sz="1800" dirty="0">
                <a:latin typeface="Times New Roman" panose="02020603050405020304" pitchFamily="18" charset="0"/>
                <a:cs typeface="Times New Roman" panose="02020603050405020304" pitchFamily="18" charset="0"/>
              </a:rPr>
              <a:t>data into train, validation, and test sets to ensure unbiased evaluation.</a:t>
            </a:r>
          </a:p>
          <a:p>
            <a:r>
              <a:rPr lang="en-US" sz="1800" b="1" dirty="0" smtClean="0">
                <a:latin typeface="Times New Roman" panose="02020603050405020304" pitchFamily="18" charset="0"/>
                <a:cs typeface="Times New Roman" panose="02020603050405020304" pitchFamily="18" charset="0"/>
              </a:rPr>
              <a:t>Keyword </a:t>
            </a:r>
            <a:r>
              <a:rPr lang="en-US" sz="1800" b="1" dirty="0">
                <a:latin typeface="Times New Roman" panose="02020603050405020304" pitchFamily="18" charset="0"/>
                <a:cs typeface="Times New Roman" panose="02020603050405020304" pitchFamily="18" charset="0"/>
              </a:rPr>
              <a:t>&amp; Entity </a:t>
            </a:r>
            <a:r>
              <a:rPr lang="en-US" sz="1800" b="1" dirty="0" smtClean="0">
                <a:latin typeface="Times New Roman" panose="02020603050405020304" pitchFamily="18" charset="0"/>
                <a:cs typeface="Times New Roman" panose="02020603050405020304" pitchFamily="18" charset="0"/>
              </a:rPr>
              <a:t>Extraction: </a:t>
            </a:r>
            <a:r>
              <a:rPr lang="en-US" sz="1800" dirty="0" smtClean="0">
                <a:latin typeface="Times New Roman" panose="02020603050405020304" pitchFamily="18" charset="0"/>
                <a:cs typeface="Times New Roman" panose="02020603050405020304" pitchFamily="18" charset="0"/>
              </a:rPr>
              <a:t>Extract </a:t>
            </a:r>
            <a:r>
              <a:rPr lang="en-US" sz="1800" dirty="0">
                <a:latin typeface="Times New Roman" panose="02020603050405020304" pitchFamily="18" charset="0"/>
                <a:cs typeface="Times New Roman" panose="02020603050405020304" pitchFamily="18" charset="0"/>
              </a:rPr>
              <a:t>important terms and entities using TF-IDF or NER for KG node creation.</a:t>
            </a:r>
          </a:p>
          <a:p>
            <a:r>
              <a:rPr lang="en-US" sz="1800" b="1" dirty="0" smtClean="0">
                <a:latin typeface="Times New Roman" panose="02020603050405020304" pitchFamily="18" charset="0"/>
                <a:cs typeface="Times New Roman" panose="02020603050405020304" pitchFamily="18" charset="0"/>
              </a:rPr>
              <a:t>Embedding Generation: </a:t>
            </a:r>
            <a:r>
              <a:rPr lang="en-US" sz="1800" dirty="0" smtClean="0">
                <a:latin typeface="Times New Roman" panose="02020603050405020304" pitchFamily="18" charset="0"/>
                <a:cs typeface="Times New Roman" panose="02020603050405020304" pitchFamily="18" charset="0"/>
              </a:rPr>
              <a:t>Generate </a:t>
            </a:r>
            <a:r>
              <a:rPr lang="en-US" sz="1800" dirty="0">
                <a:latin typeface="Times New Roman" panose="02020603050405020304" pitchFamily="18" charset="0"/>
                <a:cs typeface="Times New Roman" panose="02020603050405020304" pitchFamily="18" charset="0"/>
              </a:rPr>
              <a:t>semantic embeddings using the transformer model </a:t>
            </a:r>
            <a:r>
              <a:rPr lang="en-US" sz="1800" i="1" dirty="0">
                <a:latin typeface="Times New Roman" panose="02020603050405020304" pitchFamily="18" charset="0"/>
                <a:cs typeface="Times New Roman" panose="02020603050405020304" pitchFamily="18" charset="0"/>
              </a:rPr>
              <a:t>all-MiniLM-L6-v2</a:t>
            </a:r>
            <a:r>
              <a:rPr lang="en-US" sz="1800" dirty="0">
                <a:latin typeface="Times New Roman" panose="02020603050405020304" pitchFamily="18" charset="0"/>
                <a:cs typeface="Times New Roman" panose="02020603050405020304" pitchFamily="18" charset="0"/>
              </a:rPr>
              <a:t>.</a:t>
            </a:r>
          </a:p>
          <a:p>
            <a:r>
              <a:rPr lang="en-US" sz="1800" b="1" dirty="0" smtClean="0">
                <a:latin typeface="Times New Roman" panose="02020603050405020304" pitchFamily="18" charset="0"/>
                <a:cs typeface="Times New Roman" panose="02020603050405020304" pitchFamily="18" charset="0"/>
              </a:rPr>
              <a:t>KG </a:t>
            </a:r>
            <a:r>
              <a:rPr lang="en-US" sz="1800" b="1" dirty="0">
                <a:latin typeface="Times New Roman" panose="02020603050405020304" pitchFamily="18" charset="0"/>
                <a:cs typeface="Times New Roman" panose="02020603050405020304" pitchFamily="18" charset="0"/>
              </a:rPr>
              <a:t>Schema </a:t>
            </a:r>
            <a:r>
              <a:rPr lang="en-US" sz="1800" b="1" dirty="0" smtClean="0">
                <a:latin typeface="Times New Roman" panose="02020603050405020304" pitchFamily="18" charset="0"/>
                <a:cs typeface="Times New Roman" panose="02020603050405020304" pitchFamily="18" charset="0"/>
              </a:rPr>
              <a:t>Design: </a:t>
            </a:r>
            <a:r>
              <a:rPr lang="en-US" sz="1800" dirty="0" smtClean="0">
                <a:latin typeface="Times New Roman" panose="02020603050405020304" pitchFamily="18" charset="0"/>
                <a:cs typeface="Times New Roman" panose="02020603050405020304" pitchFamily="18" charset="0"/>
              </a:rPr>
              <a:t>Define </a:t>
            </a:r>
            <a:r>
              <a:rPr lang="en-US" sz="1800" dirty="0">
                <a:latin typeface="Times New Roman" panose="02020603050405020304" pitchFamily="18" charset="0"/>
                <a:cs typeface="Times New Roman" panose="02020603050405020304" pitchFamily="18" charset="0"/>
              </a:rPr>
              <a:t>node and edge types to structure the knowledge graph properly.</a:t>
            </a:r>
          </a:p>
          <a:p>
            <a:r>
              <a:rPr lang="en-US" sz="1800" b="1" dirty="0" smtClean="0">
                <a:latin typeface="Times New Roman" panose="02020603050405020304" pitchFamily="18" charset="0"/>
                <a:cs typeface="Times New Roman" panose="02020603050405020304" pitchFamily="18" charset="0"/>
              </a:rPr>
              <a:t>Graph Construction: </a:t>
            </a:r>
            <a:r>
              <a:rPr lang="en-US" sz="1800" dirty="0" smtClean="0">
                <a:latin typeface="Times New Roman" panose="02020603050405020304" pitchFamily="18" charset="0"/>
                <a:cs typeface="Times New Roman" panose="02020603050405020304" pitchFamily="18" charset="0"/>
              </a:rPr>
              <a:t>Build </a:t>
            </a:r>
            <a:r>
              <a:rPr lang="en-US" sz="1800" dirty="0">
                <a:latin typeface="Times New Roman" panose="02020603050405020304" pitchFamily="18" charset="0"/>
                <a:cs typeface="Times New Roman" panose="02020603050405020304" pitchFamily="18" charset="0"/>
              </a:rPr>
              <a:t>a heterogeneous graph linking users, items, reviews, and keywords by similarity or co-occurrence.</a:t>
            </a:r>
          </a:p>
          <a:p>
            <a:r>
              <a:rPr lang="en-US" sz="1800" b="1" dirty="0" smtClean="0">
                <a:latin typeface="Times New Roman" panose="02020603050405020304" pitchFamily="18" charset="0"/>
                <a:cs typeface="Times New Roman" panose="02020603050405020304" pitchFamily="18" charset="0"/>
              </a:rPr>
              <a:t>Edge </a:t>
            </a:r>
            <a:r>
              <a:rPr lang="en-US" sz="1800" b="1" dirty="0">
                <a:latin typeface="Times New Roman" panose="02020603050405020304" pitchFamily="18" charset="0"/>
                <a:cs typeface="Times New Roman" panose="02020603050405020304" pitchFamily="18" charset="0"/>
              </a:rPr>
              <a:t>Weighting &amp; Noise </a:t>
            </a:r>
            <a:r>
              <a:rPr lang="en-US" sz="1800" b="1" dirty="0" smtClean="0">
                <a:latin typeface="Times New Roman" panose="02020603050405020304" pitchFamily="18" charset="0"/>
                <a:cs typeface="Times New Roman" panose="02020603050405020304" pitchFamily="18" charset="0"/>
              </a:rPr>
              <a:t>Control: </a:t>
            </a:r>
            <a:r>
              <a:rPr lang="en-US" sz="1800" dirty="0" smtClean="0">
                <a:latin typeface="Times New Roman" panose="02020603050405020304" pitchFamily="18" charset="0"/>
                <a:cs typeface="Times New Roman" panose="02020603050405020304" pitchFamily="18" charset="0"/>
              </a:rPr>
              <a:t>Prune </a:t>
            </a:r>
            <a:r>
              <a:rPr lang="en-US" sz="1800" dirty="0">
                <a:latin typeface="Times New Roman" panose="02020603050405020304" pitchFamily="18" charset="0"/>
                <a:cs typeface="Times New Roman" panose="02020603050405020304" pitchFamily="18" charset="0"/>
              </a:rPr>
              <a:t>weak or noisy edges to improve graph quality and reduce propagation errors.</a:t>
            </a:r>
          </a:p>
          <a:p>
            <a:r>
              <a:rPr lang="en-US" sz="1800" b="1" dirty="0" smtClean="0">
                <a:latin typeface="Times New Roman" panose="02020603050405020304" pitchFamily="18" charset="0"/>
                <a:cs typeface="Times New Roman" panose="02020603050405020304" pitchFamily="18" charset="0"/>
              </a:rPr>
              <a:t>GNN Modeling: </a:t>
            </a:r>
            <a:r>
              <a:rPr lang="en-US" sz="1800" dirty="0" smtClean="0">
                <a:latin typeface="Times New Roman" panose="02020603050405020304" pitchFamily="18" charset="0"/>
                <a:cs typeface="Times New Roman" panose="02020603050405020304" pitchFamily="18" charset="0"/>
              </a:rPr>
              <a:t>Apply </a:t>
            </a:r>
            <a:r>
              <a:rPr lang="en-US" sz="1800" dirty="0">
                <a:latin typeface="Times New Roman" panose="02020603050405020304" pitchFamily="18" charset="0"/>
                <a:cs typeface="Times New Roman" panose="02020603050405020304" pitchFamily="18" charset="0"/>
              </a:rPr>
              <a:t>GAT and R-GCN to learn structural and relational representations.</a:t>
            </a:r>
          </a:p>
          <a:p>
            <a:r>
              <a:rPr lang="en-US" sz="1800" b="1" dirty="0" smtClean="0">
                <a:latin typeface="Times New Roman" panose="02020603050405020304" pitchFamily="18" charset="0"/>
                <a:cs typeface="Times New Roman" panose="02020603050405020304" pitchFamily="18" charset="0"/>
              </a:rPr>
              <a:t>Contrastive Learning: </a:t>
            </a:r>
            <a:r>
              <a:rPr lang="en-US" sz="1800" dirty="0" smtClean="0">
                <a:latin typeface="Times New Roman" panose="02020603050405020304" pitchFamily="18" charset="0"/>
                <a:cs typeface="Times New Roman" panose="02020603050405020304" pitchFamily="18" charset="0"/>
              </a:rPr>
              <a:t>Align </a:t>
            </a:r>
            <a:r>
              <a:rPr lang="en-US" sz="1800" dirty="0">
                <a:latin typeface="Times New Roman" panose="02020603050405020304" pitchFamily="18" charset="0"/>
                <a:cs typeface="Times New Roman" panose="02020603050405020304" pitchFamily="18" charset="0"/>
              </a:rPr>
              <a:t>semantic and structural embeddings using contrastive loss for robust feature learning.</a:t>
            </a:r>
          </a:p>
          <a:p>
            <a:r>
              <a:rPr lang="en-US" sz="1800" b="1" dirty="0" smtClean="0">
                <a:latin typeface="Times New Roman" panose="02020603050405020304" pitchFamily="18" charset="0"/>
                <a:cs typeface="Times New Roman" panose="02020603050405020304" pitchFamily="18" charset="0"/>
              </a:rPr>
              <a:t>Classification </a:t>
            </a:r>
            <a:r>
              <a:rPr lang="en-US" sz="1800" b="1" dirty="0">
                <a:latin typeface="Times New Roman" panose="02020603050405020304" pitchFamily="18" charset="0"/>
                <a:cs typeface="Times New Roman" panose="02020603050405020304" pitchFamily="18" charset="0"/>
              </a:rPr>
              <a:t>&amp; KG </a:t>
            </a:r>
            <a:r>
              <a:rPr lang="en-US" sz="1800" b="1" dirty="0" smtClean="0">
                <a:latin typeface="Times New Roman" panose="02020603050405020304" pitchFamily="18" charset="0"/>
                <a:cs typeface="Times New Roman" panose="02020603050405020304" pitchFamily="18" charset="0"/>
              </a:rPr>
              <a:t>Output: </a:t>
            </a:r>
            <a:r>
              <a:rPr lang="en-US" sz="1800" dirty="0" smtClean="0">
                <a:latin typeface="Times New Roman" panose="02020603050405020304" pitchFamily="18" charset="0"/>
                <a:cs typeface="Times New Roman" panose="02020603050405020304" pitchFamily="18" charset="0"/>
              </a:rPr>
              <a:t>Classify </a:t>
            </a:r>
            <a:r>
              <a:rPr lang="en-US" sz="1800" dirty="0">
                <a:latin typeface="Times New Roman" panose="02020603050405020304" pitchFamily="18" charset="0"/>
                <a:cs typeface="Times New Roman" panose="02020603050405020304" pitchFamily="18" charset="0"/>
              </a:rPr>
              <a:t>node embeddings and generate an enriched, cleaner knowledge graph.</a:t>
            </a:r>
          </a:p>
          <a:p>
            <a:pPr marL="0" indent="0" algn="just">
              <a:buNone/>
            </a:pPr>
            <a:endParaRPr lang="en-US" sz="1800" dirty="0" smtClean="0">
              <a:latin typeface="Times New Roman" panose="02020603050405020304" pitchFamily="18" charset="0"/>
              <a:cs typeface="Times New Roman" panose="02020603050405020304" pitchFamily="18" charset="0"/>
            </a:endParaRP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sp>
        <p:nvSpPr>
          <p:cNvPr id="5" name="Date Placeholder 4"/>
          <p:cNvSpPr>
            <a:spLocks noGrp="1"/>
          </p:cNvSpPr>
          <p:nvPr>
            <p:ph type="dt" sz="half" idx="10"/>
          </p:nvPr>
        </p:nvSpPr>
        <p:spPr/>
        <p:txBody>
          <a:bodyPr/>
          <a:lstStyle/>
          <a:p>
            <a:fld id="{A78B8CD1-BAFC-4053-AC27-B6C124AC3AB3}"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12</a:t>
            </a:fld>
            <a:endParaRPr lang="en-US"/>
          </a:p>
        </p:txBody>
      </p:sp>
    </p:spTree>
    <p:extLst>
      <p:ext uri="{BB962C8B-B14F-4D97-AF65-F5344CB8AC3E}">
        <p14:creationId xmlns:p14="http://schemas.microsoft.com/office/powerpoint/2010/main" val="21129213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216" y="46345"/>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Methodology</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50167" y="1359094"/>
            <a:ext cx="10515600" cy="4351338"/>
          </a:xfrm>
        </p:spPr>
        <p:txBody>
          <a:bodyPr>
            <a:normAutofit/>
          </a:bodyPr>
          <a:lstStyle/>
          <a:p>
            <a:pPr marL="0" indent="0" algn="just">
              <a:buNone/>
            </a:pPr>
            <a:endParaRPr lang="en-US" sz="1800" b="1" dirty="0" smtClean="0">
              <a:latin typeface="Times New Roman" panose="02020603050405020304" pitchFamily="18" charset="0"/>
              <a:cs typeface="Times New Roman" panose="02020603050405020304" pitchFamily="18" charset="0"/>
            </a:endParaRPr>
          </a:p>
          <a:p>
            <a:pPr marL="0" indent="0" algn="just">
              <a:buNone/>
            </a:pPr>
            <a:endParaRPr lang="en-US" sz="1800" dirty="0" smtClean="0">
              <a:latin typeface="Times New Roman" panose="02020603050405020304" pitchFamily="18" charset="0"/>
              <a:cs typeface="Times New Roman" panose="02020603050405020304" pitchFamily="18" charset="0"/>
            </a:endParaRPr>
          </a:p>
          <a:p>
            <a:pPr marL="0" indent="0" algn="just">
              <a:buNone/>
            </a:pPr>
            <a:endParaRPr lang="en-US" sz="1800" dirty="0" smtClean="0">
              <a:latin typeface="Times New Roman" panose="02020603050405020304" pitchFamily="18" charset="0"/>
              <a:cs typeface="Times New Roman" panose="02020603050405020304" pitchFamily="18" charset="0"/>
            </a:endParaRP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043686567"/>
                  </p:ext>
                </p:extLst>
              </p:nvPr>
            </p:nvGraphicFramePr>
            <p:xfrm>
              <a:off x="2090057" y="1431198"/>
              <a:ext cx="8416212" cy="4055203"/>
            </p:xfrm>
            <a:graphic>
              <a:graphicData uri="http://schemas.openxmlformats.org/drawingml/2006/table">
                <a:tbl>
                  <a:tblPr/>
                  <a:tblGrid>
                    <a:gridCol w="746449">
                      <a:extLst>
                        <a:ext uri="{9D8B030D-6E8A-4147-A177-3AD203B41FA5}">
                          <a16:colId xmlns:a16="http://schemas.microsoft.com/office/drawing/2014/main" val="3978707173"/>
                        </a:ext>
                      </a:extLst>
                    </a:gridCol>
                    <a:gridCol w="4562670">
                      <a:extLst>
                        <a:ext uri="{9D8B030D-6E8A-4147-A177-3AD203B41FA5}">
                          <a16:colId xmlns:a16="http://schemas.microsoft.com/office/drawing/2014/main" val="3964123981"/>
                        </a:ext>
                      </a:extLst>
                    </a:gridCol>
                    <a:gridCol w="3107093">
                      <a:extLst>
                        <a:ext uri="{9D8B030D-6E8A-4147-A177-3AD203B41FA5}">
                          <a16:colId xmlns:a16="http://schemas.microsoft.com/office/drawing/2014/main" val="3441961894"/>
                        </a:ext>
                      </a:extLst>
                    </a:gridCol>
                  </a:tblGrid>
                  <a:tr h="306261">
                    <a:tc>
                      <a:txBody>
                        <a:bodyPr/>
                        <a:lstStyle/>
                        <a:p>
                          <a:r>
                            <a:rPr lang="en-US" sz="1400" b="1" dirty="0" err="1">
                              <a:latin typeface="Times New Roman" panose="02020603050405020304" pitchFamily="18" charset="0"/>
                              <a:cs typeface="Times New Roman" panose="02020603050405020304" pitchFamily="18" charset="0"/>
                            </a:rPr>
                            <a:t>S.No</a:t>
                          </a:r>
                          <a:endParaRPr lang="en-US" sz="14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latin typeface="Times New Roman" panose="02020603050405020304" pitchFamily="18" charset="0"/>
                              <a:cs typeface="Times New Roman" panose="02020603050405020304" pitchFamily="18" charset="0"/>
                            </a:rPr>
                            <a:t>Formula </a:t>
                          </a:r>
                          <a:endParaRPr lang="en-US" sz="14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smtClean="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Purpose</a:t>
                          </a:r>
                          <a:endParaRPr lang="en-US" sz="12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9107234"/>
                      </a:ext>
                    </a:extLst>
                  </a:tr>
                  <a:tr h="678947">
                    <a:tc>
                      <a:txBody>
                        <a:bodyPr/>
                        <a:lstStyle/>
                        <a:p>
                          <a:r>
                            <a:rPr lang="en-US" sz="1200" dirty="0">
                              <a:latin typeface="Times New Roman" panose="02020603050405020304" pitchFamily="18" charset="0"/>
                              <a:cs typeface="Times New Roman" panose="02020603050405020304" pitchFamily="18" charset="0"/>
                            </a:rPr>
                            <a:t>1</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latin typeface="Times New Roman" panose="02020603050405020304" pitchFamily="18" charset="0"/>
                              <a:cs typeface="Times New Roman" panose="02020603050405020304" pitchFamily="18" charset="0"/>
                            </a:rPr>
                            <a:t>G = (V, E, R)</a:t>
                          </a:r>
                          <a:endParaRPr lang="en-US" sz="12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Times New Roman" panose="02020603050405020304" pitchFamily="18" charset="0"/>
                              <a:cs typeface="Times New Roman" panose="02020603050405020304" pitchFamily="18" charset="0"/>
                            </a:rPr>
                            <a:t>Defines a </a:t>
                          </a:r>
                          <a:r>
                            <a:rPr lang="en-US" sz="1200" b="1" dirty="0">
                              <a:latin typeface="Times New Roman" panose="02020603050405020304" pitchFamily="18" charset="0"/>
                              <a:cs typeface="Times New Roman" panose="02020603050405020304" pitchFamily="18" charset="0"/>
                            </a:rPr>
                            <a:t>heterogeneous graph</a:t>
                          </a:r>
                          <a:r>
                            <a:rPr lang="en-US" sz="1200" dirty="0">
                              <a:latin typeface="Times New Roman" panose="02020603050405020304" pitchFamily="18" charset="0"/>
                              <a:cs typeface="Times New Roman" panose="02020603050405020304" pitchFamily="18" charset="0"/>
                            </a:rPr>
                            <a:t> with nodes (V), edges (E), and relation types (R).</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3353187"/>
                      </a:ext>
                    </a:extLst>
                  </a:tr>
                  <a:tr h="1042971">
                    <a:tc>
                      <a:txBody>
                        <a:bodyPr/>
                        <a:lstStyle/>
                        <a:p>
                          <a:r>
                            <a:rPr lang="en-US" sz="1200" dirty="0">
                              <a:latin typeface="Times New Roman" panose="02020603050405020304" pitchFamily="18" charset="0"/>
                              <a:cs typeface="Times New Roman" panose="02020603050405020304" pitchFamily="18" charset="0"/>
                            </a:rPr>
                            <a:t>2</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latin typeface="Times New Roman" panose="02020603050405020304" pitchFamily="18" charset="0"/>
                              <a:cs typeface="Times New Roman" panose="02020603050405020304" pitchFamily="18" charset="0"/>
                            </a:rPr>
                            <a:t>GAT </a:t>
                          </a:r>
                          <a:r>
                            <a:rPr lang="en-US" sz="1200" b="1" dirty="0" smtClean="0">
                              <a:latin typeface="Times New Roman" panose="02020603050405020304" pitchFamily="18" charset="0"/>
                              <a:cs typeface="Times New Roman" panose="02020603050405020304" pitchFamily="18" charset="0"/>
                            </a:rPr>
                            <a:t>:</a:t>
                          </a:r>
                          <a:endParaRPr lang="en-US" sz="1400" i="1" kern="1200" dirty="0" smtClean="0">
                            <a:solidFill>
                              <a:schemeClr val="tx1"/>
                            </a:solidFill>
                            <a:effectLst/>
                            <a:latin typeface="Times New Roman" panose="02020603050405020304" pitchFamily="18" charset="0"/>
                            <a:ea typeface="+mn-ea"/>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200" i="1" kern="1200" smtClean="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h</m:t>
                                    </m:r>
                                    <m:r>
                                      <a:rPr lang="en-US" sz="1200" i="1" kern="1200">
                                        <a:solidFill>
                                          <a:schemeClr val="tx1"/>
                                        </a:solidFill>
                                        <a:effectLst/>
                                        <a:latin typeface="Cambria Math" panose="02040503050406030204" pitchFamily="18" charset="0"/>
                                        <a:ea typeface="+mn-ea"/>
                                        <a:cs typeface="+mn-cs"/>
                                      </a:rPr>
                                      <m:t>′</m:t>
                                    </m:r>
                                  </m:e>
                                  <m:sub>
                                    <m:r>
                                      <a:rPr lang="en-US" sz="1200" i="1" kern="1200">
                                        <a:solidFill>
                                          <a:schemeClr val="tx1"/>
                                        </a:solidFill>
                                        <a:effectLst/>
                                        <a:latin typeface="Cambria Math" panose="02040503050406030204" pitchFamily="18" charset="0"/>
                                        <a:ea typeface="+mn-ea"/>
                                        <a:cs typeface="+mn-cs"/>
                                      </a:rPr>
                                      <m:t>𝑖</m:t>
                                    </m:r>
                                  </m:sub>
                                </m:sSub>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𝜎</m:t>
                                </m:r>
                                <m:d>
                                  <m:dPr>
                                    <m:ctrlPr>
                                      <a:rPr lang="en-US" sz="1200" i="1" kern="1200">
                                        <a:solidFill>
                                          <a:schemeClr val="tx1"/>
                                        </a:solidFill>
                                        <a:effectLst/>
                                        <a:latin typeface="Cambria Math" panose="02040503050406030204" pitchFamily="18" charset="0"/>
                                        <a:ea typeface="+mn-ea"/>
                                        <a:cs typeface="+mn-cs"/>
                                      </a:rPr>
                                    </m:ctrlPr>
                                  </m:dPr>
                                  <m:e>
                                    <m:nary>
                                      <m:naryPr>
                                        <m:chr m:val="∑"/>
                                        <m:limLoc m:val="undOvr"/>
                                        <m:supHide m:val="on"/>
                                        <m:ctrlPr>
                                          <a:rPr lang="en-US" sz="1200" i="1" kern="1200">
                                            <a:solidFill>
                                              <a:schemeClr val="tx1"/>
                                            </a:solidFill>
                                            <a:effectLst/>
                                            <a:latin typeface="Cambria Math" panose="02040503050406030204" pitchFamily="18" charset="0"/>
                                            <a:ea typeface="+mn-ea"/>
                                            <a:cs typeface="+mn-cs"/>
                                          </a:rPr>
                                        </m:ctrlPr>
                                      </m:naryPr>
                                      <m:sub>
                                        <m:r>
                                          <a:rPr lang="en-US" sz="1200" i="1" kern="1200">
                                            <a:solidFill>
                                              <a:schemeClr val="tx1"/>
                                            </a:solidFill>
                                            <a:effectLst/>
                                            <a:latin typeface="Cambria Math" panose="02040503050406030204" pitchFamily="18" charset="0"/>
                                            <a:ea typeface="+mn-ea"/>
                                            <a:cs typeface="+mn-cs"/>
                                          </a:rPr>
                                          <m:t>𝑗</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𝑁</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𝑖</m:t>
                                        </m:r>
                                        <m:r>
                                          <a:rPr lang="en-US" sz="1200" i="1" kern="1200">
                                            <a:solidFill>
                                              <a:schemeClr val="tx1"/>
                                            </a:solidFill>
                                            <a:effectLst/>
                                            <a:latin typeface="Cambria Math" panose="02040503050406030204" pitchFamily="18" charset="0"/>
                                            <a:ea typeface="+mn-ea"/>
                                            <a:cs typeface="+mn-cs"/>
                                          </a:rPr>
                                          <m:t>)</m:t>
                                        </m:r>
                                      </m:sub>
                                      <m:sup/>
                                      <m:e>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m:t>
                                            </m:r>
                                          </m:e>
                                          <m:sub>
                                            <m:r>
                                              <a:rPr lang="en-US" sz="1200" i="1" kern="1200">
                                                <a:solidFill>
                                                  <a:schemeClr val="tx1"/>
                                                </a:solidFill>
                                                <a:effectLst/>
                                                <a:latin typeface="Cambria Math" panose="02040503050406030204" pitchFamily="18" charset="0"/>
                                                <a:ea typeface="+mn-ea"/>
                                                <a:cs typeface="+mn-cs"/>
                                              </a:rPr>
                                              <m:t>𝑖𝑗</m:t>
                                            </m:r>
                                          </m:sub>
                                        </m:sSub>
                                        <m:r>
                                          <a:rPr lang="en-US" sz="1200" i="1" kern="1200">
                                            <a:solidFill>
                                              <a:schemeClr val="tx1"/>
                                            </a:solidFill>
                                            <a:effectLst/>
                                            <a:latin typeface="Cambria Math" panose="02040503050406030204" pitchFamily="18" charset="0"/>
                                            <a:ea typeface="+mn-ea"/>
                                            <a:cs typeface="+mn-cs"/>
                                          </a:rPr>
                                          <m:t>𝑊</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h</m:t>
                                            </m:r>
                                          </m:e>
                                          <m:sub>
                                            <m:r>
                                              <a:rPr lang="en-US" sz="1200" i="1" kern="1200">
                                                <a:solidFill>
                                                  <a:schemeClr val="tx1"/>
                                                </a:solidFill>
                                                <a:effectLst/>
                                                <a:latin typeface="Cambria Math" panose="02040503050406030204" pitchFamily="18" charset="0"/>
                                                <a:ea typeface="+mn-ea"/>
                                                <a:cs typeface="+mn-cs"/>
                                              </a:rPr>
                                              <m:t>𝑗</m:t>
                                            </m:r>
                                          </m:sub>
                                        </m:sSub>
                                      </m:e>
                                    </m:nary>
                                  </m:e>
                                </m:d>
                              </m:oMath>
                            </m:oMathPara>
                          </a14:m>
                          <a:endParaRPr lang="en-US" sz="14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Times New Roman" panose="02020603050405020304" pitchFamily="18" charset="0"/>
                              <a:cs typeface="Times New Roman" panose="02020603050405020304" pitchFamily="18" charset="0"/>
                            </a:rPr>
                            <a:t>Graph Attention Network (GAT) layer updates node </a:t>
                          </a:r>
                          <a:r>
                            <a:rPr lang="en-US" sz="1200" i="1" dirty="0" err="1">
                              <a:latin typeface="Times New Roman" panose="02020603050405020304" pitchFamily="18" charset="0"/>
                              <a:cs typeface="Times New Roman" panose="02020603050405020304" pitchFamily="18" charset="0"/>
                            </a:rPr>
                            <a:t>i</a:t>
                          </a:r>
                          <a:r>
                            <a:rPr lang="en-US" sz="1200" dirty="0">
                              <a:latin typeface="Times New Roman" panose="02020603050405020304" pitchFamily="18" charset="0"/>
                              <a:cs typeface="Times New Roman" panose="02020603050405020304" pitchFamily="18" charset="0"/>
                            </a:rPr>
                            <a:t> using neighbor features weighted by learned attention scores ( </a:t>
                          </a:r>
                          <a:r>
                            <a:rPr lang="en-US" sz="1200" dirty="0" smtClean="0">
                              <a:latin typeface="Times New Roman" panose="02020603050405020304" pitchFamily="18" charset="0"/>
                              <a:cs typeface="Times New Roman" panose="02020603050405020304" pitchFamily="18" charset="0"/>
                            </a:rPr>
                            <a:t>α</a:t>
                          </a:r>
                          <a:r>
                            <a:rPr lang="en-US" sz="1200" dirty="0" err="1" smtClean="0">
                              <a:latin typeface="Times New Roman" panose="02020603050405020304" pitchFamily="18" charset="0"/>
                              <a:cs typeface="Times New Roman" panose="02020603050405020304" pitchFamily="18" charset="0"/>
                            </a:rPr>
                            <a:t>ij</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1538043"/>
                      </a:ext>
                    </a:extLst>
                  </a:tr>
                  <a:tr h="1013512">
                    <a:tc>
                      <a:txBody>
                        <a:bodyPr/>
                        <a:lstStyle/>
                        <a:p>
                          <a:r>
                            <a:rPr lang="en-US" sz="1200" dirty="0">
                              <a:latin typeface="Times New Roman" panose="02020603050405020304" pitchFamily="18" charset="0"/>
                              <a:cs typeface="Times New Roman" panose="02020603050405020304" pitchFamily="18" charset="0"/>
                            </a:rPr>
                            <a:t>3</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smtClean="0">
                              <a:latin typeface="Times New Roman" panose="02020603050405020304" pitchFamily="18" charset="0"/>
                              <a:cs typeface="Times New Roman" panose="02020603050405020304" pitchFamily="18" charset="0"/>
                            </a:rPr>
                            <a:t>R-GCN :</a:t>
                          </a:r>
                          <a14:m>
                            <m:oMath xmlns:m="http://schemas.openxmlformats.org/officeDocument/2006/math">
                              <m:sSubSup>
                                <m:sSubSupPr>
                                  <m:ctrlPr>
                                    <a:rPr lang="en-US" sz="1200" i="1" kern="1200" smtClean="0">
                                      <a:solidFill>
                                        <a:schemeClr val="tx1"/>
                                      </a:solidFill>
                                      <a:effectLst/>
                                      <a:latin typeface="Cambria Math" panose="02040503050406030204" pitchFamily="18" charset="0"/>
                                      <a:ea typeface="+mn-ea"/>
                                      <a:cs typeface="+mn-cs"/>
                                    </a:rPr>
                                  </m:ctrlPr>
                                </m:sSubSupPr>
                                <m:e>
                                  <m:r>
                                    <a:rPr lang="en-US" sz="1200" i="1" kern="1200">
                                      <a:solidFill>
                                        <a:schemeClr val="tx1"/>
                                      </a:solidFill>
                                      <a:effectLst/>
                                      <a:latin typeface="Cambria Math" panose="02040503050406030204" pitchFamily="18" charset="0"/>
                                      <a:ea typeface="+mn-ea"/>
                                      <a:cs typeface="+mn-cs"/>
                                    </a:rPr>
                                    <m:t>h</m:t>
                                  </m:r>
                                </m:e>
                                <m:sub>
                                  <m:r>
                                    <a:rPr lang="en-US" sz="1200" i="1" kern="1200">
                                      <a:solidFill>
                                        <a:schemeClr val="tx1"/>
                                      </a:solidFill>
                                      <a:effectLst/>
                                      <a:latin typeface="Cambria Math" panose="02040503050406030204" pitchFamily="18" charset="0"/>
                                      <a:ea typeface="+mn-ea"/>
                                      <a:cs typeface="+mn-cs"/>
                                    </a:rPr>
                                    <m:t>𝑖</m:t>
                                  </m:r>
                                </m:sub>
                                <m:sup>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𝑙</m:t>
                                  </m:r>
                                  <m:r>
                                    <a:rPr lang="en-US" sz="1200" i="1" kern="1200">
                                      <a:solidFill>
                                        <a:schemeClr val="tx1"/>
                                      </a:solidFill>
                                      <a:effectLst/>
                                      <a:latin typeface="Cambria Math" panose="02040503050406030204" pitchFamily="18" charset="0"/>
                                      <a:ea typeface="+mn-ea"/>
                                      <a:cs typeface="+mn-cs"/>
                                    </a:rPr>
                                    <m:t>+1)</m:t>
                                  </m:r>
                                </m:sup>
                              </m:sSubSup>
                              <m:r>
                                <a:rPr lang="en-US" sz="1200" b="0" i="1" kern="1200" smtClean="0">
                                  <a:solidFill>
                                    <a:schemeClr val="tx1"/>
                                  </a:solidFill>
                                  <a:effectLst/>
                                  <a:latin typeface="Cambria Math" panose="02040503050406030204" pitchFamily="18" charset="0"/>
                                  <a:ea typeface="+mn-ea"/>
                                  <a:cs typeface="+mn-cs"/>
                                </a:rPr>
                                <m:t>=  </m:t>
                              </m:r>
                              <m:r>
                                <a:rPr lang="en-US" sz="1200" i="1" kern="1200">
                                  <a:solidFill>
                                    <a:schemeClr val="tx1"/>
                                  </a:solidFill>
                                  <a:effectLst/>
                                  <a:latin typeface="Cambria Math" panose="02040503050406030204" pitchFamily="18" charset="0"/>
                                  <a:ea typeface="+mn-ea"/>
                                  <a:cs typeface="+mn-cs"/>
                                </a:rPr>
                                <m:t>𝜎</m:t>
                              </m:r>
                              <m:d>
                                <m:dPr>
                                  <m:ctrlPr>
                                    <a:rPr lang="en-US" sz="1200" i="1" kern="1200">
                                      <a:solidFill>
                                        <a:schemeClr val="tx1"/>
                                      </a:solidFill>
                                      <a:effectLst/>
                                      <a:latin typeface="Cambria Math" panose="02040503050406030204" pitchFamily="18" charset="0"/>
                                      <a:ea typeface="+mn-ea"/>
                                      <a:cs typeface="+mn-cs"/>
                                    </a:rPr>
                                  </m:ctrlPr>
                                </m:dPr>
                                <m:e>
                                  <m:nary>
                                    <m:naryPr>
                                      <m:chr m:val="∑"/>
                                      <m:limLoc m:val="undOvr"/>
                                      <m:supHide m:val="on"/>
                                      <m:ctrlPr>
                                        <a:rPr lang="en-US" sz="1200" i="1" kern="1200">
                                          <a:solidFill>
                                            <a:schemeClr val="tx1"/>
                                          </a:solidFill>
                                          <a:effectLst/>
                                          <a:latin typeface="Cambria Math" panose="02040503050406030204" pitchFamily="18" charset="0"/>
                                          <a:ea typeface="+mn-ea"/>
                                          <a:cs typeface="+mn-cs"/>
                                        </a:rPr>
                                      </m:ctrlPr>
                                    </m:naryPr>
                                    <m:sub>
                                      <m:r>
                                        <a:rPr lang="en-US" sz="1200" i="1" kern="1200">
                                          <a:solidFill>
                                            <a:schemeClr val="tx1"/>
                                          </a:solidFill>
                                          <a:effectLst/>
                                          <a:latin typeface="Cambria Math" panose="02040503050406030204" pitchFamily="18" charset="0"/>
                                          <a:ea typeface="+mn-ea"/>
                                          <a:cs typeface="+mn-cs"/>
                                        </a:rPr>
                                        <m:t>𝑟</m:t>
                                      </m:r>
                                      <m:r>
                                        <a:rPr lang="en-US" sz="1200" i="1" kern="1200">
                                          <a:solidFill>
                                            <a:schemeClr val="tx1"/>
                                          </a:solidFill>
                                          <a:effectLst/>
                                          <a:latin typeface="Cambria Math" panose="02040503050406030204" pitchFamily="18" charset="0"/>
                                          <a:ea typeface="+mn-ea"/>
                                          <a:cs typeface="+mn-cs"/>
                                        </a:rPr>
                                        <m:t>𝜖</m:t>
                                      </m:r>
                                      <m:r>
                                        <a:rPr lang="en-US" sz="1200" i="1" kern="1200">
                                          <a:solidFill>
                                            <a:schemeClr val="tx1"/>
                                          </a:solidFill>
                                          <a:effectLst/>
                                          <a:latin typeface="Cambria Math" panose="02040503050406030204" pitchFamily="18" charset="0"/>
                                          <a:ea typeface="+mn-ea"/>
                                          <a:cs typeface="+mn-cs"/>
                                        </a:rPr>
                                        <m:t>𝑅</m:t>
                                      </m:r>
                                    </m:sub>
                                    <m:sup/>
                                    <m:e>
                                      <m:nary>
                                        <m:naryPr>
                                          <m:chr m:val="∑"/>
                                          <m:limLoc m:val="undOvr"/>
                                          <m:supHide m:val="on"/>
                                          <m:ctrlPr>
                                            <a:rPr lang="en-US" sz="1200" i="1" kern="1200">
                                              <a:solidFill>
                                                <a:schemeClr val="tx1"/>
                                              </a:solidFill>
                                              <a:effectLst/>
                                              <a:latin typeface="Cambria Math" panose="02040503050406030204" pitchFamily="18" charset="0"/>
                                              <a:ea typeface="+mn-ea"/>
                                              <a:cs typeface="+mn-cs"/>
                                            </a:rPr>
                                          </m:ctrlPr>
                                        </m:naryPr>
                                        <m:sub>
                                          <m:r>
                                            <a:rPr lang="en-US" sz="1200" i="1" kern="1200">
                                              <a:solidFill>
                                                <a:schemeClr val="tx1"/>
                                              </a:solidFill>
                                              <a:effectLst/>
                                              <a:latin typeface="Cambria Math" panose="02040503050406030204" pitchFamily="18" charset="0"/>
                                              <a:ea typeface="+mn-ea"/>
                                              <a:cs typeface="+mn-cs"/>
                                            </a:rPr>
                                            <m:t>𝑗</m:t>
                                          </m:r>
                                          <m:r>
                                            <a:rPr lang="en-US"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𝑁</m:t>
                                              </m:r>
                                            </m:e>
                                            <m:sub>
                                              <m:r>
                                                <a:rPr lang="en-US" sz="1200" i="1" kern="1200">
                                                  <a:solidFill>
                                                    <a:schemeClr val="tx1"/>
                                                  </a:solidFill>
                                                  <a:effectLst/>
                                                  <a:latin typeface="Cambria Math" panose="02040503050406030204" pitchFamily="18" charset="0"/>
                                                  <a:ea typeface="+mn-ea"/>
                                                  <a:cs typeface="+mn-cs"/>
                                                </a:rPr>
                                                <m:t>𝑟</m:t>
                                              </m:r>
                                            </m:sub>
                                          </m:sSub>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𝑖</m:t>
                                          </m:r>
                                          <m:r>
                                            <a:rPr lang="en-US" sz="1200" i="1" kern="1200">
                                              <a:solidFill>
                                                <a:schemeClr val="tx1"/>
                                              </a:solidFill>
                                              <a:effectLst/>
                                              <a:latin typeface="Cambria Math" panose="02040503050406030204" pitchFamily="18" charset="0"/>
                                              <a:ea typeface="+mn-ea"/>
                                              <a:cs typeface="+mn-cs"/>
                                            </a:rPr>
                                            <m:t>)</m:t>
                                          </m:r>
                                        </m:sub>
                                        <m:sup/>
                                        <m:e>
                                          <m:f>
                                            <m:fPr>
                                              <m:ctrlPr>
                                                <a:rPr lang="en-US" sz="1200" i="1" kern="1200">
                                                  <a:solidFill>
                                                    <a:schemeClr val="tx1"/>
                                                  </a:solidFill>
                                                  <a:effectLst/>
                                                  <a:latin typeface="Cambria Math" panose="02040503050406030204" pitchFamily="18" charset="0"/>
                                                  <a:ea typeface="+mn-ea"/>
                                                  <a:cs typeface="+mn-cs"/>
                                                </a:rPr>
                                              </m:ctrlPr>
                                            </m:fPr>
                                            <m:num>
                                              <m:r>
                                                <a:rPr lang="en-US" sz="1200" i="1" kern="1200">
                                                  <a:solidFill>
                                                    <a:schemeClr val="tx1"/>
                                                  </a:solidFill>
                                                  <a:effectLst/>
                                                  <a:latin typeface="Cambria Math" panose="02040503050406030204" pitchFamily="18" charset="0"/>
                                                  <a:ea typeface="+mn-ea"/>
                                                  <a:cs typeface="+mn-cs"/>
                                                </a:rPr>
                                                <m:t>1</m:t>
                                              </m:r>
                                            </m:num>
                                            <m:den>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𝐶</m:t>
                                                  </m:r>
                                                </m:e>
                                                <m:sub>
                                                  <m:r>
                                                    <a:rPr lang="en-US" sz="1200" i="1" kern="1200">
                                                      <a:solidFill>
                                                        <a:schemeClr val="tx1"/>
                                                      </a:solidFill>
                                                      <a:effectLst/>
                                                      <a:latin typeface="Cambria Math" panose="02040503050406030204" pitchFamily="18" charset="0"/>
                                                      <a:ea typeface="+mn-ea"/>
                                                      <a:cs typeface="+mn-cs"/>
                                                    </a:rPr>
                                                    <m:t>𝑖</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𝑟</m:t>
                                                  </m:r>
                                                </m:sub>
                                              </m:sSub>
                                            </m:den>
                                          </m:f>
                                        </m:e>
                                      </m:nary>
                                    </m:e>
                                  </m:nary>
                                  <m:sSubSup>
                                    <m:sSubSupPr>
                                      <m:ctrlPr>
                                        <a:rPr lang="en-US" sz="1200" i="1" kern="1200">
                                          <a:solidFill>
                                            <a:schemeClr val="tx1"/>
                                          </a:solidFill>
                                          <a:effectLst/>
                                          <a:latin typeface="Cambria Math" panose="02040503050406030204" pitchFamily="18" charset="0"/>
                                          <a:ea typeface="+mn-ea"/>
                                          <a:cs typeface="+mn-cs"/>
                                        </a:rPr>
                                      </m:ctrlPr>
                                    </m:sSubSupPr>
                                    <m:e>
                                      <m:r>
                                        <a:rPr lang="en-US" sz="1200" i="1" kern="1200">
                                          <a:solidFill>
                                            <a:schemeClr val="tx1"/>
                                          </a:solidFill>
                                          <a:effectLst/>
                                          <a:latin typeface="Cambria Math" panose="02040503050406030204" pitchFamily="18" charset="0"/>
                                          <a:ea typeface="+mn-ea"/>
                                          <a:cs typeface="+mn-cs"/>
                                        </a:rPr>
                                        <m:t>𝑊</m:t>
                                      </m:r>
                                    </m:e>
                                    <m:sub>
                                      <m:r>
                                        <a:rPr lang="en-US" sz="1200" i="1" kern="1200">
                                          <a:solidFill>
                                            <a:schemeClr val="tx1"/>
                                          </a:solidFill>
                                          <a:effectLst/>
                                          <a:latin typeface="Cambria Math" panose="02040503050406030204" pitchFamily="18" charset="0"/>
                                          <a:ea typeface="+mn-ea"/>
                                          <a:cs typeface="+mn-cs"/>
                                        </a:rPr>
                                        <m:t>𝑟</m:t>
                                      </m:r>
                                    </m:sub>
                                    <m:sup>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𝑙</m:t>
                                      </m:r>
                                      <m:r>
                                        <a:rPr lang="en-US" sz="1200" i="1" kern="1200">
                                          <a:solidFill>
                                            <a:schemeClr val="tx1"/>
                                          </a:solidFill>
                                          <a:effectLst/>
                                          <a:latin typeface="Cambria Math" panose="02040503050406030204" pitchFamily="18" charset="0"/>
                                          <a:ea typeface="+mn-ea"/>
                                          <a:cs typeface="+mn-cs"/>
                                        </a:rPr>
                                        <m:t>)</m:t>
                                      </m:r>
                                    </m:sup>
                                  </m:sSubSup>
                                  <m:sSubSup>
                                    <m:sSubSupPr>
                                      <m:ctrlPr>
                                        <a:rPr lang="en-US" sz="1200" i="1" kern="1200">
                                          <a:solidFill>
                                            <a:schemeClr val="tx1"/>
                                          </a:solidFill>
                                          <a:effectLst/>
                                          <a:latin typeface="Cambria Math" panose="02040503050406030204" pitchFamily="18" charset="0"/>
                                          <a:ea typeface="+mn-ea"/>
                                          <a:cs typeface="+mn-cs"/>
                                        </a:rPr>
                                      </m:ctrlPr>
                                    </m:sSubSupPr>
                                    <m:e>
                                      <m:r>
                                        <a:rPr lang="en-US" sz="1200" i="1" kern="1200">
                                          <a:solidFill>
                                            <a:schemeClr val="tx1"/>
                                          </a:solidFill>
                                          <a:effectLst/>
                                          <a:latin typeface="Cambria Math" panose="02040503050406030204" pitchFamily="18" charset="0"/>
                                          <a:ea typeface="+mn-ea"/>
                                          <a:cs typeface="+mn-cs"/>
                                        </a:rPr>
                                        <m:t>h</m:t>
                                      </m:r>
                                    </m:e>
                                    <m:sub>
                                      <m:r>
                                        <a:rPr lang="en-US" sz="1200" i="1" kern="1200">
                                          <a:solidFill>
                                            <a:schemeClr val="tx1"/>
                                          </a:solidFill>
                                          <a:effectLst/>
                                          <a:latin typeface="Cambria Math" panose="02040503050406030204" pitchFamily="18" charset="0"/>
                                          <a:ea typeface="+mn-ea"/>
                                          <a:cs typeface="+mn-cs"/>
                                        </a:rPr>
                                        <m:t>𝑗</m:t>
                                      </m:r>
                                    </m:sub>
                                    <m:sup>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𝑙</m:t>
                                      </m:r>
                                      <m:r>
                                        <a:rPr lang="en-US" sz="1200" i="1" kern="1200">
                                          <a:solidFill>
                                            <a:schemeClr val="tx1"/>
                                          </a:solidFill>
                                          <a:effectLst/>
                                          <a:latin typeface="Cambria Math" panose="02040503050406030204" pitchFamily="18" charset="0"/>
                                          <a:ea typeface="+mn-ea"/>
                                          <a:cs typeface="+mn-cs"/>
                                        </a:rPr>
                                        <m:t>)</m:t>
                                      </m:r>
                                    </m:sup>
                                  </m:sSubSup>
                                  <m:r>
                                    <a:rPr lang="en-US" sz="1200" i="1" kern="1200">
                                      <a:solidFill>
                                        <a:schemeClr val="tx1"/>
                                      </a:solidFill>
                                      <a:effectLst/>
                                      <a:latin typeface="Cambria Math" panose="02040503050406030204" pitchFamily="18" charset="0"/>
                                      <a:ea typeface="+mn-ea"/>
                                      <a:cs typeface="+mn-cs"/>
                                    </a:rPr>
                                    <m:t>+</m:t>
                                  </m:r>
                                  <m:sSubSup>
                                    <m:sSubSupPr>
                                      <m:ctrlPr>
                                        <a:rPr lang="en-US" sz="1200" i="1" kern="1200">
                                          <a:solidFill>
                                            <a:schemeClr val="tx1"/>
                                          </a:solidFill>
                                          <a:effectLst/>
                                          <a:latin typeface="Cambria Math" panose="02040503050406030204" pitchFamily="18" charset="0"/>
                                          <a:ea typeface="+mn-ea"/>
                                          <a:cs typeface="+mn-cs"/>
                                        </a:rPr>
                                      </m:ctrlPr>
                                    </m:sSubSupPr>
                                    <m:e>
                                      <m:r>
                                        <a:rPr lang="en-US" sz="1200" i="1" kern="1200">
                                          <a:solidFill>
                                            <a:schemeClr val="tx1"/>
                                          </a:solidFill>
                                          <a:effectLst/>
                                          <a:latin typeface="Cambria Math" panose="02040503050406030204" pitchFamily="18" charset="0"/>
                                          <a:ea typeface="+mn-ea"/>
                                          <a:cs typeface="+mn-cs"/>
                                        </a:rPr>
                                        <m:t>𝑊</m:t>
                                      </m:r>
                                    </m:e>
                                    <m:sub>
                                      <m:r>
                                        <a:rPr lang="en-US" sz="1200" i="1" kern="1200">
                                          <a:solidFill>
                                            <a:schemeClr val="tx1"/>
                                          </a:solidFill>
                                          <a:effectLst/>
                                          <a:latin typeface="Cambria Math" panose="02040503050406030204" pitchFamily="18" charset="0"/>
                                          <a:ea typeface="+mn-ea"/>
                                          <a:cs typeface="+mn-cs"/>
                                        </a:rPr>
                                        <m:t>0</m:t>
                                      </m:r>
                                    </m:sub>
                                    <m:sup>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𝑙</m:t>
                                      </m:r>
                                      <m:r>
                                        <a:rPr lang="en-US" sz="1200" i="1" kern="1200">
                                          <a:solidFill>
                                            <a:schemeClr val="tx1"/>
                                          </a:solidFill>
                                          <a:effectLst/>
                                          <a:latin typeface="Cambria Math" panose="02040503050406030204" pitchFamily="18" charset="0"/>
                                          <a:ea typeface="+mn-ea"/>
                                          <a:cs typeface="+mn-cs"/>
                                        </a:rPr>
                                        <m:t>)</m:t>
                                      </m:r>
                                    </m:sup>
                                  </m:sSubSup>
                                  <m:sSubSup>
                                    <m:sSubSupPr>
                                      <m:ctrlPr>
                                        <a:rPr lang="en-US" sz="1200" i="1" kern="1200">
                                          <a:solidFill>
                                            <a:schemeClr val="tx1"/>
                                          </a:solidFill>
                                          <a:effectLst/>
                                          <a:latin typeface="Cambria Math" panose="02040503050406030204" pitchFamily="18" charset="0"/>
                                          <a:ea typeface="+mn-ea"/>
                                          <a:cs typeface="+mn-cs"/>
                                        </a:rPr>
                                      </m:ctrlPr>
                                    </m:sSubSupPr>
                                    <m:e>
                                      <m:r>
                                        <a:rPr lang="en-US" sz="1200" i="1" kern="1200">
                                          <a:solidFill>
                                            <a:schemeClr val="tx1"/>
                                          </a:solidFill>
                                          <a:effectLst/>
                                          <a:latin typeface="Cambria Math" panose="02040503050406030204" pitchFamily="18" charset="0"/>
                                          <a:ea typeface="+mn-ea"/>
                                          <a:cs typeface="+mn-cs"/>
                                        </a:rPr>
                                        <m:t>h</m:t>
                                      </m:r>
                                    </m:e>
                                    <m:sub>
                                      <m:r>
                                        <a:rPr lang="en-US" sz="1200" i="1" kern="1200">
                                          <a:solidFill>
                                            <a:schemeClr val="tx1"/>
                                          </a:solidFill>
                                          <a:effectLst/>
                                          <a:latin typeface="Cambria Math" panose="02040503050406030204" pitchFamily="18" charset="0"/>
                                          <a:ea typeface="+mn-ea"/>
                                          <a:cs typeface="+mn-cs"/>
                                        </a:rPr>
                                        <m:t>𝑖</m:t>
                                      </m:r>
                                    </m:sub>
                                    <m:sup>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𝑙</m:t>
                                      </m:r>
                                      <m:r>
                                        <a:rPr lang="en-US" sz="1200" i="1" kern="1200">
                                          <a:solidFill>
                                            <a:schemeClr val="tx1"/>
                                          </a:solidFill>
                                          <a:effectLst/>
                                          <a:latin typeface="Cambria Math" panose="02040503050406030204" pitchFamily="18" charset="0"/>
                                          <a:ea typeface="+mn-ea"/>
                                          <a:cs typeface="+mn-cs"/>
                                        </a:rPr>
                                        <m:t>)</m:t>
                                      </m:r>
                                    </m:sup>
                                  </m:sSubSup>
                                </m:e>
                              </m:d>
                            </m:oMath>
                          </a14:m>
                          <a:r>
                            <a:rPr lang="en-US" sz="1800" kern="1200" dirty="0">
                              <a:solidFill>
                                <a:schemeClr val="tx1"/>
                              </a:solidFill>
                              <a:effectLst/>
                              <a:latin typeface="Times New Roman" panose="02020603050405020304" pitchFamily="18" charset="0"/>
                              <a:ea typeface="+mn-ea"/>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Times New Roman" panose="02020603050405020304" pitchFamily="18" charset="0"/>
                              <a:cs typeface="Times New Roman" panose="02020603050405020304" pitchFamily="18" charset="0"/>
                            </a:rPr>
                            <a:t>Relational Graph Convolutional Network formula—captures </a:t>
                          </a:r>
                          <a:r>
                            <a:rPr lang="en-US" sz="1200" b="1" dirty="0">
                              <a:latin typeface="Times New Roman" panose="02020603050405020304" pitchFamily="18" charset="0"/>
                              <a:cs typeface="Times New Roman" panose="02020603050405020304" pitchFamily="18" charset="0"/>
                            </a:rPr>
                            <a:t>multi-relational graph structures</a:t>
                          </a:r>
                          <a:r>
                            <a:rPr lang="en-US" sz="1200" dirty="0">
                              <a:latin typeface="Times New Roman" panose="02020603050405020304" pitchFamily="18" charset="0"/>
                              <a:cs typeface="Times New Roman" panose="02020603050405020304" pitchFamily="18" charset="0"/>
                            </a:rPr>
                            <a:t>.</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6382843"/>
                      </a:ext>
                    </a:extLst>
                  </a:tr>
                  <a:tr h="1013512">
                    <a:tc>
                      <a:txBody>
                        <a:bodyPr/>
                        <a:lstStyle/>
                        <a:p>
                          <a:r>
                            <a:rPr lang="en-US" sz="1200" dirty="0">
                              <a:latin typeface="Times New Roman" panose="02020603050405020304" pitchFamily="18" charset="0"/>
                              <a:cs typeface="Times New Roman" panose="02020603050405020304" pitchFamily="18" charset="0"/>
                            </a:rPr>
                            <a:t>4</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latin typeface="Times New Roman" panose="02020603050405020304" pitchFamily="18" charset="0"/>
                              <a:cs typeface="Times New Roman" panose="02020603050405020304" pitchFamily="18" charset="0"/>
                            </a:rPr>
                            <a:t>Contrastive Loss Function</a:t>
                          </a:r>
                          <a:r>
                            <a:rPr lang="en-US" sz="1200" b="1" dirty="0" smtClean="0">
                              <a:latin typeface="Times New Roman" panose="02020603050405020304" pitchFamily="18" charset="0"/>
                              <a:cs typeface="Times New Roman" panose="02020603050405020304" pitchFamily="18" charset="0"/>
                            </a:rPr>
                            <a:t>:</a:t>
                          </a:r>
                        </a:p>
                        <a:p>
                          <a:pPr/>
                          <a14:m>
                            <m:oMathPara xmlns:m="http://schemas.openxmlformats.org/officeDocument/2006/math">
                              <m:oMathParaPr>
                                <m:jc m:val="centerGroup"/>
                              </m:oMathParaPr>
                              <m:oMath xmlns:m="http://schemas.openxmlformats.org/officeDocument/2006/math">
                                <m:sSub>
                                  <m:sSubPr>
                                    <m:ctrlPr>
                                      <a:rPr lang="en-US" sz="1200" i="1" kern="1200" smtClean="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𝐿</m:t>
                                    </m:r>
                                  </m:e>
                                  <m:sub>
                                    <m:r>
                                      <a:rPr lang="en-US" sz="1200" i="1" kern="1200">
                                        <a:solidFill>
                                          <a:schemeClr val="tx1"/>
                                        </a:solidFill>
                                        <a:effectLst/>
                                        <a:latin typeface="Cambria Math" panose="02040503050406030204" pitchFamily="18" charset="0"/>
                                        <a:ea typeface="+mn-ea"/>
                                        <a:cs typeface="+mn-cs"/>
                                      </a:rPr>
                                      <m:t>𝑐𝑜𝑛𝑡𝑟𝑎𝑠𝑡𝑖𝑣𝑒</m:t>
                                    </m:r>
                                  </m:sub>
                                </m:sSub>
                                <m:r>
                                  <a:rPr lang="en-US" sz="1200" i="1" kern="1200">
                                    <a:solidFill>
                                      <a:schemeClr val="tx1"/>
                                    </a:solidFill>
                                    <a:effectLst/>
                                    <a:latin typeface="Cambria Math" panose="02040503050406030204" pitchFamily="18" charset="0"/>
                                    <a:ea typeface="+mn-ea"/>
                                    <a:cs typeface="+mn-cs"/>
                                  </a:rPr>
                                  <m:t>=−</m:t>
                                </m:r>
                                <m:func>
                                  <m:funcPr>
                                    <m:ctrlPr>
                                      <a:rPr lang="en-US" sz="1200" i="1" kern="1200">
                                        <a:solidFill>
                                          <a:schemeClr val="tx1"/>
                                        </a:solidFill>
                                        <a:effectLst/>
                                        <a:latin typeface="Cambria Math" panose="02040503050406030204" pitchFamily="18" charset="0"/>
                                        <a:ea typeface="+mn-ea"/>
                                        <a:cs typeface="+mn-cs"/>
                                      </a:rPr>
                                    </m:ctrlPr>
                                  </m:funcPr>
                                  <m:fName>
                                    <m:r>
                                      <a:rPr lang="en-US" sz="1200" i="1" kern="1200">
                                        <a:solidFill>
                                          <a:schemeClr val="tx1"/>
                                        </a:solidFill>
                                        <a:effectLst/>
                                        <a:latin typeface="Cambria Math" panose="02040503050406030204" pitchFamily="18" charset="0"/>
                                        <a:ea typeface="+mn-ea"/>
                                        <a:cs typeface="+mn-cs"/>
                                      </a:rPr>
                                      <m:t>𝑙𝑜𝑔</m:t>
                                    </m:r>
                                  </m:fName>
                                  <m:e>
                                    <m:d>
                                      <m:dPr>
                                        <m:ctrlPr>
                                          <a:rPr lang="en-US" sz="1200" i="1" kern="1200">
                                            <a:solidFill>
                                              <a:schemeClr val="tx1"/>
                                            </a:solidFill>
                                            <a:effectLst/>
                                            <a:latin typeface="Cambria Math" panose="02040503050406030204" pitchFamily="18" charset="0"/>
                                            <a:ea typeface="+mn-ea"/>
                                            <a:cs typeface="+mn-cs"/>
                                          </a:rPr>
                                        </m:ctrlPr>
                                      </m:dPr>
                                      <m:e>
                                        <m:f>
                                          <m:fPr>
                                            <m:ctrlPr>
                                              <a:rPr lang="en-US" sz="1200" i="1" kern="1200">
                                                <a:solidFill>
                                                  <a:schemeClr val="tx1"/>
                                                </a:solidFill>
                                                <a:effectLst/>
                                                <a:latin typeface="Cambria Math" panose="02040503050406030204" pitchFamily="18" charset="0"/>
                                                <a:ea typeface="+mn-ea"/>
                                                <a:cs typeface="+mn-cs"/>
                                              </a:rPr>
                                            </m:ctrlPr>
                                          </m:fPr>
                                          <m:num>
                                            <m:r>
                                              <a:rPr lang="en-US" sz="1200" i="1" kern="1200">
                                                <a:solidFill>
                                                  <a:schemeClr val="tx1"/>
                                                </a:solidFill>
                                                <a:effectLst/>
                                                <a:latin typeface="Cambria Math" panose="02040503050406030204" pitchFamily="18" charset="0"/>
                                                <a:ea typeface="+mn-ea"/>
                                                <a:cs typeface="+mn-cs"/>
                                              </a:rPr>
                                              <m:t>𝑒𝑥𝑝</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𝑠𝑖𝑚</m:t>
                                            </m:r>
                                            <m:f>
                                              <m:fPr>
                                                <m:type m:val="lin"/>
                                                <m:ctrlPr>
                                                  <a:rPr lang="en-US" sz="1200" i="1" kern="1200">
                                                    <a:solidFill>
                                                      <a:schemeClr val="tx1"/>
                                                    </a:solidFill>
                                                    <a:effectLst/>
                                                    <a:latin typeface="Cambria Math" panose="02040503050406030204" pitchFamily="18" charset="0"/>
                                                    <a:ea typeface="+mn-ea"/>
                                                    <a:cs typeface="+mn-cs"/>
                                                  </a:rPr>
                                                </m:ctrlPr>
                                              </m:fPr>
                                              <m:num>
                                                <m:r>
                                                  <a:rPr lang="en-US"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𝑧</m:t>
                                                    </m:r>
                                                  </m:e>
                                                  <m:sub>
                                                    <m:r>
                                                      <a:rPr lang="en-US" sz="1200" i="1" kern="1200">
                                                        <a:solidFill>
                                                          <a:schemeClr val="tx1"/>
                                                        </a:solidFill>
                                                        <a:effectLst/>
                                                        <a:latin typeface="Cambria Math" panose="02040503050406030204" pitchFamily="18" charset="0"/>
                                                        <a:ea typeface="+mn-ea"/>
                                                        <a:cs typeface="+mn-cs"/>
                                                      </a:rPr>
                                                      <m:t>𝑖</m:t>
                                                    </m:r>
                                                    <m:r>
                                                      <a:rPr lang="en-US" sz="1200" i="1" kern="1200">
                                                        <a:solidFill>
                                                          <a:schemeClr val="tx1"/>
                                                        </a:solidFill>
                                                        <a:effectLst/>
                                                        <a:latin typeface="Cambria Math" panose="02040503050406030204" pitchFamily="18" charset="0"/>
                                                        <a:ea typeface="+mn-ea"/>
                                                        <a:cs typeface="+mn-cs"/>
                                                      </a:rPr>
                                                      <m:t>,</m:t>
                                                    </m:r>
                                                  </m:sub>
                                                </m:sSub>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𝑧</m:t>
                                                    </m:r>
                                                  </m:e>
                                                  <m:sub>
                                                    <m:r>
                                                      <a:rPr lang="en-US" sz="1200" i="1" kern="1200">
                                                        <a:solidFill>
                                                          <a:schemeClr val="tx1"/>
                                                        </a:solidFill>
                                                        <a:effectLst/>
                                                        <a:latin typeface="Cambria Math" panose="02040503050406030204" pitchFamily="18" charset="0"/>
                                                        <a:ea typeface="+mn-ea"/>
                                                        <a:cs typeface="+mn-cs"/>
                                                      </a:rPr>
                                                      <m:t>𝑗</m:t>
                                                    </m:r>
                                                  </m:sub>
                                                </m:sSub>
                                              </m:num>
                                              <m:den>
                                                <m:r>
                                                  <a:rPr lang="en-US" sz="1200" i="1" kern="1200">
                                                    <a:solidFill>
                                                      <a:schemeClr val="tx1"/>
                                                    </a:solidFill>
                                                    <a:effectLst/>
                                                    <a:latin typeface="Cambria Math" panose="02040503050406030204" pitchFamily="18" charset="0"/>
                                                    <a:ea typeface="+mn-ea"/>
                                                    <a:cs typeface="+mn-cs"/>
                                                  </a:rPr>
                                                  <m:t>𝑇</m:t>
                                                </m:r>
                                                <m:r>
                                                  <a:rPr lang="en-US" sz="1200" i="1" kern="1200">
                                                    <a:solidFill>
                                                      <a:schemeClr val="tx1"/>
                                                    </a:solidFill>
                                                    <a:effectLst/>
                                                    <a:latin typeface="Cambria Math" panose="02040503050406030204" pitchFamily="18" charset="0"/>
                                                    <a:ea typeface="+mn-ea"/>
                                                    <a:cs typeface="+mn-cs"/>
                                                  </a:rPr>
                                                  <m:t>)</m:t>
                                                </m:r>
                                              </m:den>
                                            </m:f>
                                          </m:num>
                                          <m:den>
                                            <m:nary>
                                              <m:naryPr>
                                                <m:chr m:val="∑"/>
                                                <m:limLoc m:val="subSup"/>
                                                <m:supHide m:val="on"/>
                                                <m:ctrlPr>
                                                  <a:rPr lang="en-US" sz="1200" i="1" kern="1200">
                                                    <a:solidFill>
                                                      <a:schemeClr val="tx1"/>
                                                    </a:solidFill>
                                                    <a:effectLst/>
                                                    <a:latin typeface="Cambria Math" panose="02040503050406030204" pitchFamily="18" charset="0"/>
                                                    <a:ea typeface="+mn-ea"/>
                                                    <a:cs typeface="+mn-cs"/>
                                                  </a:rPr>
                                                </m:ctrlPr>
                                              </m:naryPr>
                                              <m:sub>
                                                <m:r>
                                                  <a:rPr lang="en-US" sz="1200" i="1" kern="1200">
                                                    <a:solidFill>
                                                      <a:schemeClr val="tx1"/>
                                                    </a:solidFill>
                                                    <a:effectLst/>
                                                    <a:latin typeface="Cambria Math" panose="02040503050406030204" pitchFamily="18" charset="0"/>
                                                    <a:ea typeface="+mn-ea"/>
                                                    <a:cs typeface="+mn-cs"/>
                                                  </a:rPr>
                                                  <m:t>𝑘</m:t>
                                                </m:r>
                                              </m:sub>
                                              <m:sup/>
                                              <m:e>
                                                <m:r>
                                                  <a:rPr lang="en-US" sz="1200" i="1" kern="1200">
                                                    <a:solidFill>
                                                      <a:schemeClr val="tx1"/>
                                                    </a:solidFill>
                                                    <a:effectLst/>
                                                    <a:latin typeface="Cambria Math" panose="02040503050406030204" pitchFamily="18" charset="0"/>
                                                    <a:ea typeface="+mn-ea"/>
                                                    <a:cs typeface="+mn-cs"/>
                                                  </a:rPr>
                                                  <m:t>𝑒𝑥𝑝</m:t>
                                                </m:r>
                                                <m:r>
                                                  <a:rPr lang="en-US" sz="1200" i="1" kern="1200">
                                                    <a:solidFill>
                                                      <a:schemeClr val="tx1"/>
                                                    </a:solidFill>
                                                    <a:effectLst/>
                                                    <a:latin typeface="Cambria Math" panose="02040503050406030204" pitchFamily="18" charset="0"/>
                                                    <a:ea typeface="+mn-ea"/>
                                                    <a:cs typeface="+mn-cs"/>
                                                  </a:rPr>
                                                  <m:t>(</m:t>
                                                </m:r>
                                                <m:r>
                                                  <a:rPr lang="en-US" sz="1200" i="1" kern="1200">
                                                    <a:solidFill>
                                                      <a:schemeClr val="tx1"/>
                                                    </a:solidFill>
                                                    <a:effectLst/>
                                                    <a:latin typeface="Cambria Math" panose="02040503050406030204" pitchFamily="18" charset="0"/>
                                                    <a:ea typeface="+mn-ea"/>
                                                    <a:cs typeface="+mn-cs"/>
                                                  </a:rPr>
                                                  <m:t>𝑠𝑖𝑚</m:t>
                                                </m:r>
                                                <m:f>
                                                  <m:fPr>
                                                    <m:type m:val="lin"/>
                                                    <m:ctrlPr>
                                                      <a:rPr lang="en-US" sz="1200" i="1" kern="1200">
                                                        <a:solidFill>
                                                          <a:schemeClr val="tx1"/>
                                                        </a:solidFill>
                                                        <a:effectLst/>
                                                        <a:latin typeface="Cambria Math" panose="02040503050406030204" pitchFamily="18" charset="0"/>
                                                        <a:ea typeface="+mn-ea"/>
                                                        <a:cs typeface="+mn-cs"/>
                                                      </a:rPr>
                                                    </m:ctrlPr>
                                                  </m:fPr>
                                                  <m:num>
                                                    <m:r>
                                                      <a:rPr lang="en-US" sz="1200" i="1" kern="1200">
                                                        <a:solidFill>
                                                          <a:schemeClr val="tx1"/>
                                                        </a:solidFill>
                                                        <a:effectLst/>
                                                        <a:latin typeface="Cambria Math" panose="02040503050406030204" pitchFamily="18" charset="0"/>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𝑧</m:t>
                                                        </m:r>
                                                      </m:e>
                                                      <m:sub>
                                                        <m:r>
                                                          <a:rPr lang="en-US" sz="1200" i="1" kern="1200">
                                                            <a:solidFill>
                                                              <a:schemeClr val="tx1"/>
                                                            </a:solidFill>
                                                            <a:effectLst/>
                                                            <a:latin typeface="Cambria Math" panose="02040503050406030204" pitchFamily="18" charset="0"/>
                                                            <a:ea typeface="+mn-ea"/>
                                                            <a:cs typeface="+mn-cs"/>
                                                          </a:rPr>
                                                          <m:t>𝑖</m:t>
                                                        </m:r>
                                                        <m:r>
                                                          <a:rPr lang="en-US" sz="1200" i="1" kern="1200">
                                                            <a:solidFill>
                                                              <a:schemeClr val="tx1"/>
                                                            </a:solidFill>
                                                            <a:effectLst/>
                                                            <a:latin typeface="Cambria Math" panose="02040503050406030204" pitchFamily="18" charset="0"/>
                                                            <a:ea typeface="+mn-ea"/>
                                                            <a:cs typeface="+mn-cs"/>
                                                          </a:rPr>
                                                          <m:t>,</m:t>
                                                        </m:r>
                                                      </m:sub>
                                                    </m:sSub>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𝑧</m:t>
                                                        </m:r>
                                                      </m:e>
                                                      <m:sub>
                                                        <m:r>
                                                          <a:rPr lang="en-US" sz="1200" i="1" kern="1200">
                                                            <a:solidFill>
                                                              <a:schemeClr val="tx1"/>
                                                            </a:solidFill>
                                                            <a:effectLst/>
                                                            <a:latin typeface="Cambria Math" panose="02040503050406030204" pitchFamily="18" charset="0"/>
                                                            <a:ea typeface="+mn-ea"/>
                                                            <a:cs typeface="+mn-cs"/>
                                                          </a:rPr>
                                                          <m:t>𝑗</m:t>
                                                        </m:r>
                                                      </m:sub>
                                                    </m:sSub>
                                                  </m:num>
                                                  <m:den>
                                                    <m:r>
                                                      <a:rPr lang="en-US" sz="1200" i="1" kern="1200">
                                                        <a:solidFill>
                                                          <a:schemeClr val="tx1"/>
                                                        </a:solidFill>
                                                        <a:effectLst/>
                                                        <a:latin typeface="Cambria Math" panose="02040503050406030204" pitchFamily="18" charset="0"/>
                                                        <a:ea typeface="+mn-ea"/>
                                                        <a:cs typeface="+mn-cs"/>
                                                      </a:rPr>
                                                      <m:t>𝑇</m:t>
                                                    </m:r>
                                                    <m:r>
                                                      <a:rPr lang="en-US" sz="1200" i="1" kern="1200">
                                                        <a:solidFill>
                                                          <a:schemeClr val="tx1"/>
                                                        </a:solidFill>
                                                        <a:effectLst/>
                                                        <a:latin typeface="Cambria Math" panose="02040503050406030204" pitchFamily="18" charset="0"/>
                                                        <a:ea typeface="+mn-ea"/>
                                                        <a:cs typeface="+mn-cs"/>
                                                      </a:rPr>
                                                      <m:t>)</m:t>
                                                    </m:r>
                                                  </m:den>
                                                </m:f>
                                              </m:e>
                                            </m:nary>
                                          </m:den>
                                        </m:f>
                                      </m:e>
                                    </m:d>
                                  </m:e>
                                </m:func>
                              </m:oMath>
                            </m:oMathPara>
                          </a14:m>
                          <a:endParaRPr lang="el-GR" sz="12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Times New Roman" panose="02020603050405020304" pitchFamily="18" charset="0"/>
                              <a:cs typeface="Times New Roman" panose="02020603050405020304" pitchFamily="18" charset="0"/>
                            </a:rPr>
                            <a:t>Used to </a:t>
                          </a:r>
                          <a:r>
                            <a:rPr lang="en-US" sz="1200" b="1" dirty="0">
                              <a:latin typeface="Times New Roman" panose="02020603050405020304" pitchFamily="18" charset="0"/>
                              <a:cs typeface="Times New Roman" panose="02020603050405020304" pitchFamily="18" charset="0"/>
                            </a:rPr>
                            <a:t>align </a:t>
                          </a:r>
                          <a:r>
                            <a:rPr lang="en-US" sz="1200" b="1" dirty="0" smtClean="0">
                              <a:latin typeface="Times New Roman" panose="02020603050405020304" pitchFamily="18" charset="0"/>
                              <a:cs typeface="Times New Roman" panose="02020603050405020304" pitchFamily="18" charset="0"/>
                            </a:rPr>
                            <a:t>embedding's</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from GAT and R-GCN, pulling similar pairs closer and pushing dissimilar ones apart.</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6590488"/>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043686567"/>
                  </p:ext>
                </p:extLst>
              </p:nvPr>
            </p:nvGraphicFramePr>
            <p:xfrm>
              <a:off x="2090057" y="1431198"/>
              <a:ext cx="8416212" cy="4055203"/>
            </p:xfrm>
            <a:graphic>
              <a:graphicData uri="http://schemas.openxmlformats.org/drawingml/2006/table">
                <a:tbl>
                  <a:tblPr/>
                  <a:tblGrid>
                    <a:gridCol w="746449">
                      <a:extLst>
                        <a:ext uri="{9D8B030D-6E8A-4147-A177-3AD203B41FA5}">
                          <a16:colId xmlns:a16="http://schemas.microsoft.com/office/drawing/2014/main" val="3978707173"/>
                        </a:ext>
                      </a:extLst>
                    </a:gridCol>
                    <a:gridCol w="4562670">
                      <a:extLst>
                        <a:ext uri="{9D8B030D-6E8A-4147-A177-3AD203B41FA5}">
                          <a16:colId xmlns:a16="http://schemas.microsoft.com/office/drawing/2014/main" val="3964123981"/>
                        </a:ext>
                      </a:extLst>
                    </a:gridCol>
                    <a:gridCol w="3107093">
                      <a:extLst>
                        <a:ext uri="{9D8B030D-6E8A-4147-A177-3AD203B41FA5}">
                          <a16:colId xmlns:a16="http://schemas.microsoft.com/office/drawing/2014/main" val="3441961894"/>
                        </a:ext>
                      </a:extLst>
                    </a:gridCol>
                  </a:tblGrid>
                  <a:tr h="306261">
                    <a:tc>
                      <a:txBody>
                        <a:bodyPr/>
                        <a:lstStyle/>
                        <a:p>
                          <a:r>
                            <a:rPr lang="en-US" sz="1400" b="1" dirty="0" err="1">
                              <a:latin typeface="Times New Roman" panose="02020603050405020304" pitchFamily="18" charset="0"/>
                              <a:cs typeface="Times New Roman" panose="02020603050405020304" pitchFamily="18" charset="0"/>
                            </a:rPr>
                            <a:t>S.No</a:t>
                          </a:r>
                          <a:endParaRPr lang="en-US" sz="14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latin typeface="Times New Roman" panose="02020603050405020304" pitchFamily="18" charset="0"/>
                              <a:cs typeface="Times New Roman" panose="02020603050405020304" pitchFamily="18" charset="0"/>
                            </a:rPr>
                            <a:t>Formula </a:t>
                          </a:r>
                          <a:endParaRPr lang="en-US" sz="14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smtClean="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Purpose</a:t>
                          </a:r>
                          <a:endParaRPr lang="en-US" sz="12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9107234"/>
                      </a:ext>
                    </a:extLst>
                  </a:tr>
                  <a:tr h="678947">
                    <a:tc>
                      <a:txBody>
                        <a:bodyPr/>
                        <a:lstStyle/>
                        <a:p>
                          <a:r>
                            <a:rPr lang="en-US" sz="1200" dirty="0">
                              <a:latin typeface="Times New Roman" panose="02020603050405020304" pitchFamily="18" charset="0"/>
                              <a:cs typeface="Times New Roman" panose="02020603050405020304" pitchFamily="18" charset="0"/>
                            </a:rPr>
                            <a:t>1</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latin typeface="Times New Roman" panose="02020603050405020304" pitchFamily="18" charset="0"/>
                              <a:cs typeface="Times New Roman" panose="02020603050405020304" pitchFamily="18" charset="0"/>
                            </a:rPr>
                            <a:t>G = (V, E, R)</a:t>
                          </a:r>
                          <a:endParaRPr lang="en-US" sz="1200" dirty="0">
                            <a:latin typeface="Times New Roman" panose="02020603050405020304" pitchFamily="18" charset="0"/>
                            <a:cs typeface="Times New Roman" panose="02020603050405020304" pitchFamily="18" charset="0"/>
                          </a:endParaRP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Times New Roman" panose="02020603050405020304" pitchFamily="18" charset="0"/>
                              <a:cs typeface="Times New Roman" panose="02020603050405020304" pitchFamily="18" charset="0"/>
                            </a:rPr>
                            <a:t>Defines a </a:t>
                          </a:r>
                          <a:r>
                            <a:rPr lang="en-US" sz="1200" b="1" dirty="0">
                              <a:latin typeface="Times New Roman" panose="02020603050405020304" pitchFamily="18" charset="0"/>
                              <a:cs typeface="Times New Roman" panose="02020603050405020304" pitchFamily="18" charset="0"/>
                            </a:rPr>
                            <a:t>heterogeneous graph</a:t>
                          </a:r>
                          <a:r>
                            <a:rPr lang="en-US" sz="1200" dirty="0">
                              <a:latin typeface="Times New Roman" panose="02020603050405020304" pitchFamily="18" charset="0"/>
                              <a:cs typeface="Times New Roman" panose="02020603050405020304" pitchFamily="18" charset="0"/>
                            </a:rPr>
                            <a:t> with nodes (V), edges (E), and relation types (R).</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3353187"/>
                      </a:ext>
                    </a:extLst>
                  </a:tr>
                  <a:tr h="1042971">
                    <a:tc>
                      <a:txBody>
                        <a:bodyPr/>
                        <a:lstStyle/>
                        <a:p>
                          <a:r>
                            <a:rPr lang="en-US" sz="1200" dirty="0">
                              <a:latin typeface="Times New Roman" panose="02020603050405020304" pitchFamily="18" charset="0"/>
                              <a:cs typeface="Times New Roman" panose="02020603050405020304" pitchFamily="18" charset="0"/>
                            </a:rPr>
                            <a:t>2</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555" t="-94767" r="-68358" b="-218605"/>
                          </a:stretch>
                        </a:blipFill>
                      </a:tcPr>
                    </a:tc>
                    <a:tc>
                      <a:txBody>
                        <a:bodyPr/>
                        <a:lstStyle/>
                        <a:p>
                          <a:r>
                            <a:rPr lang="en-US" sz="1200" dirty="0">
                              <a:latin typeface="Times New Roman" panose="02020603050405020304" pitchFamily="18" charset="0"/>
                              <a:cs typeface="Times New Roman" panose="02020603050405020304" pitchFamily="18" charset="0"/>
                            </a:rPr>
                            <a:t>Graph Attention Network (GAT) layer updates node </a:t>
                          </a:r>
                          <a:r>
                            <a:rPr lang="en-US" sz="1200" i="1" dirty="0" err="1">
                              <a:latin typeface="Times New Roman" panose="02020603050405020304" pitchFamily="18" charset="0"/>
                              <a:cs typeface="Times New Roman" panose="02020603050405020304" pitchFamily="18" charset="0"/>
                            </a:rPr>
                            <a:t>i</a:t>
                          </a:r>
                          <a:r>
                            <a:rPr lang="en-US" sz="1200" dirty="0">
                              <a:latin typeface="Times New Roman" panose="02020603050405020304" pitchFamily="18" charset="0"/>
                              <a:cs typeface="Times New Roman" panose="02020603050405020304" pitchFamily="18" charset="0"/>
                            </a:rPr>
                            <a:t> using neighbor features weighted by learned attention scores ( </a:t>
                          </a:r>
                          <a:r>
                            <a:rPr lang="en-US" sz="1200" dirty="0" smtClean="0">
                              <a:latin typeface="Times New Roman" panose="02020603050405020304" pitchFamily="18" charset="0"/>
                              <a:cs typeface="Times New Roman" panose="02020603050405020304" pitchFamily="18" charset="0"/>
                            </a:rPr>
                            <a:t>α</a:t>
                          </a:r>
                          <a:r>
                            <a:rPr lang="en-US" sz="1200" dirty="0" err="1" smtClean="0">
                              <a:latin typeface="Times New Roman" panose="02020603050405020304" pitchFamily="18" charset="0"/>
                              <a:cs typeface="Times New Roman" panose="02020603050405020304" pitchFamily="18" charset="0"/>
                            </a:rPr>
                            <a:t>ij</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1538043"/>
                      </a:ext>
                    </a:extLst>
                  </a:tr>
                  <a:tr h="1013512">
                    <a:tc>
                      <a:txBody>
                        <a:bodyPr/>
                        <a:lstStyle/>
                        <a:p>
                          <a:r>
                            <a:rPr lang="en-US" sz="1200" dirty="0">
                              <a:latin typeface="Times New Roman" panose="02020603050405020304" pitchFamily="18" charset="0"/>
                              <a:cs typeface="Times New Roman" panose="02020603050405020304" pitchFamily="18" charset="0"/>
                            </a:rPr>
                            <a:t>3</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555" t="-201807" r="-68358" b="-126506"/>
                          </a:stretch>
                        </a:blipFill>
                      </a:tcPr>
                    </a:tc>
                    <a:tc>
                      <a:txBody>
                        <a:bodyPr/>
                        <a:lstStyle/>
                        <a:p>
                          <a:r>
                            <a:rPr lang="en-US" sz="1200" dirty="0">
                              <a:latin typeface="Times New Roman" panose="02020603050405020304" pitchFamily="18" charset="0"/>
                              <a:cs typeface="Times New Roman" panose="02020603050405020304" pitchFamily="18" charset="0"/>
                            </a:rPr>
                            <a:t>Relational Graph Convolutional Network formula—captures </a:t>
                          </a:r>
                          <a:r>
                            <a:rPr lang="en-US" sz="1200" b="1" dirty="0">
                              <a:latin typeface="Times New Roman" panose="02020603050405020304" pitchFamily="18" charset="0"/>
                              <a:cs typeface="Times New Roman" panose="02020603050405020304" pitchFamily="18" charset="0"/>
                            </a:rPr>
                            <a:t>multi-relational graph structures</a:t>
                          </a:r>
                          <a:r>
                            <a:rPr lang="en-US" sz="1200" dirty="0">
                              <a:latin typeface="Times New Roman" panose="02020603050405020304" pitchFamily="18" charset="0"/>
                              <a:cs typeface="Times New Roman" panose="02020603050405020304" pitchFamily="18" charset="0"/>
                            </a:rPr>
                            <a:t>.</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6382843"/>
                      </a:ext>
                    </a:extLst>
                  </a:tr>
                  <a:tr h="1013512">
                    <a:tc>
                      <a:txBody>
                        <a:bodyPr/>
                        <a:lstStyle/>
                        <a:p>
                          <a:r>
                            <a:rPr lang="en-US" sz="1200" dirty="0">
                              <a:latin typeface="Times New Roman" panose="02020603050405020304" pitchFamily="18" charset="0"/>
                              <a:cs typeface="Times New Roman" panose="02020603050405020304" pitchFamily="18" charset="0"/>
                            </a:rPr>
                            <a:t>4</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6555" t="-300000" r="-68358" b="-25749"/>
                          </a:stretch>
                        </a:blipFill>
                      </a:tcPr>
                    </a:tc>
                    <a:tc>
                      <a:txBody>
                        <a:bodyPr/>
                        <a:lstStyle/>
                        <a:p>
                          <a:r>
                            <a:rPr lang="en-US" sz="1200" dirty="0">
                              <a:latin typeface="Times New Roman" panose="02020603050405020304" pitchFamily="18" charset="0"/>
                              <a:cs typeface="Times New Roman" panose="02020603050405020304" pitchFamily="18" charset="0"/>
                            </a:rPr>
                            <a:t>Used to </a:t>
                          </a:r>
                          <a:r>
                            <a:rPr lang="en-US" sz="1200" b="1" dirty="0">
                              <a:latin typeface="Times New Roman" panose="02020603050405020304" pitchFamily="18" charset="0"/>
                              <a:cs typeface="Times New Roman" panose="02020603050405020304" pitchFamily="18" charset="0"/>
                            </a:rPr>
                            <a:t>align </a:t>
                          </a:r>
                          <a:r>
                            <a:rPr lang="en-US" sz="1200" b="1" dirty="0" smtClean="0">
                              <a:latin typeface="Times New Roman" panose="02020603050405020304" pitchFamily="18" charset="0"/>
                              <a:cs typeface="Times New Roman" panose="02020603050405020304" pitchFamily="18" charset="0"/>
                            </a:rPr>
                            <a:t>embedding's</a:t>
                          </a:r>
                          <a:r>
                            <a:rPr lang="en-US" sz="1200" dirty="0" smtClean="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from GAT and R-GCN, pulling similar pairs closer and pushing dissimilar ones apart.</a:t>
                          </a:r>
                        </a:p>
                      </a:txBody>
                      <a:tcPr marL="62162" marR="62162" marT="31081" marB="3108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6590488"/>
                      </a:ext>
                    </a:extLst>
                  </a:tr>
                </a:tbl>
              </a:graphicData>
            </a:graphic>
          </p:graphicFrame>
        </mc:Fallback>
      </mc:AlternateContent>
      <p:sp>
        <p:nvSpPr>
          <p:cNvPr id="6" name="Date Placeholder 5"/>
          <p:cNvSpPr>
            <a:spLocks noGrp="1"/>
          </p:cNvSpPr>
          <p:nvPr>
            <p:ph type="dt" sz="half" idx="10"/>
          </p:nvPr>
        </p:nvSpPr>
        <p:spPr/>
        <p:txBody>
          <a:bodyPr/>
          <a:lstStyle/>
          <a:p>
            <a:fld id="{8EDBFE0B-A472-462E-AA10-F32D53831F6C}" type="datetime1">
              <a:rPr lang="en-US" smtClean="0"/>
              <a:t>2/9/2026</a:t>
            </a:fld>
            <a:endParaRPr lang="en-US"/>
          </a:p>
        </p:txBody>
      </p:sp>
      <p:sp>
        <p:nvSpPr>
          <p:cNvPr id="7" name="Footer Placeholder 6"/>
          <p:cNvSpPr>
            <a:spLocks noGrp="1"/>
          </p:cNvSpPr>
          <p:nvPr>
            <p:ph type="ftr" sz="quarter" idx="11"/>
          </p:nvPr>
        </p:nvSpPr>
        <p:spPr/>
        <p:txBody>
          <a:bodyPr/>
          <a:lstStyle/>
          <a:p>
            <a:r>
              <a:rPr lang="en-US" smtClean="0"/>
              <a:t>Review No. 3     Batch No.CG11         Department of CSE</a:t>
            </a:r>
            <a:endParaRPr lang="en-US"/>
          </a:p>
        </p:txBody>
      </p:sp>
      <p:sp>
        <p:nvSpPr>
          <p:cNvPr id="8" name="Slide Number Placeholder 7"/>
          <p:cNvSpPr>
            <a:spLocks noGrp="1"/>
          </p:cNvSpPr>
          <p:nvPr>
            <p:ph type="sldNum" sz="quarter" idx="12"/>
          </p:nvPr>
        </p:nvSpPr>
        <p:spPr/>
        <p:txBody>
          <a:bodyPr/>
          <a:lstStyle/>
          <a:p>
            <a:fld id="{FFEC67FC-8107-4C00-9415-4D1567E899B9}" type="slidenum">
              <a:rPr lang="en-US" smtClean="0"/>
              <a:t>13</a:t>
            </a:fld>
            <a:endParaRPr lang="en-US"/>
          </a:p>
        </p:txBody>
      </p:sp>
    </p:spTree>
    <p:extLst>
      <p:ext uri="{BB962C8B-B14F-4D97-AF65-F5344CB8AC3E}">
        <p14:creationId xmlns:p14="http://schemas.microsoft.com/office/powerpoint/2010/main" val="252527267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Methodology</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graphicFrame>
        <p:nvGraphicFramePr>
          <p:cNvPr id="7" name="Content Placeholder 6"/>
          <p:cNvGraphicFramePr>
            <a:graphicFrameLocks noGrp="1"/>
          </p:cNvGraphicFramePr>
          <p:nvPr>
            <p:ph idx="1"/>
            <p:extLst>
              <p:ext uri="{D42A27DB-BD31-4B8C-83A1-F6EECF244321}">
                <p14:modId xmlns:p14="http://schemas.microsoft.com/office/powerpoint/2010/main" val="2635397630"/>
              </p:ext>
            </p:extLst>
          </p:nvPr>
        </p:nvGraphicFramePr>
        <p:xfrm>
          <a:off x="1375209" y="1586475"/>
          <a:ext cx="9441582" cy="4351338"/>
        </p:xfrm>
        <a:graphic>
          <a:graphicData uri="http://schemas.openxmlformats.org/drawingml/2006/table">
            <a:tbl>
              <a:tblPr/>
              <a:tblGrid>
                <a:gridCol w="3147194">
                  <a:extLst>
                    <a:ext uri="{9D8B030D-6E8A-4147-A177-3AD203B41FA5}">
                      <a16:colId xmlns:a16="http://schemas.microsoft.com/office/drawing/2014/main" val="1528066748"/>
                    </a:ext>
                  </a:extLst>
                </a:gridCol>
                <a:gridCol w="3147194">
                  <a:extLst>
                    <a:ext uri="{9D8B030D-6E8A-4147-A177-3AD203B41FA5}">
                      <a16:colId xmlns:a16="http://schemas.microsoft.com/office/drawing/2014/main" val="3894369423"/>
                    </a:ext>
                  </a:extLst>
                </a:gridCol>
                <a:gridCol w="3147194">
                  <a:extLst>
                    <a:ext uri="{9D8B030D-6E8A-4147-A177-3AD203B41FA5}">
                      <a16:colId xmlns:a16="http://schemas.microsoft.com/office/drawing/2014/main" val="1392413510"/>
                    </a:ext>
                  </a:extLst>
                </a:gridCol>
              </a:tblGrid>
              <a:tr h="328403">
                <a:tc>
                  <a:txBody>
                    <a:bodyPr/>
                    <a:lstStyle/>
                    <a:p>
                      <a:r>
                        <a:rPr lang="en-US" sz="1600" b="1" dirty="0">
                          <a:latin typeface="Times New Roman" panose="02020603050405020304" pitchFamily="18" charset="0"/>
                          <a:cs typeface="Times New Roman" panose="02020603050405020304" pitchFamily="18" charset="0"/>
                        </a:rPr>
                        <a:t>Category</a:t>
                      </a:r>
                      <a:endParaRPr lang="en-US" sz="1600"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latin typeface="Times New Roman" panose="02020603050405020304" pitchFamily="18" charset="0"/>
                          <a:cs typeface="Times New Roman" panose="02020603050405020304" pitchFamily="18" charset="0"/>
                        </a:rPr>
                        <a:t>Tools / Libraries</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latin typeface="Times New Roman" panose="02020603050405020304" pitchFamily="18" charset="0"/>
                          <a:cs typeface="Times New Roman" panose="02020603050405020304" pitchFamily="18" charset="0"/>
                        </a:rPr>
                        <a:t>Purpose / Functionality</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3783853"/>
                  </a:ext>
                </a:extLst>
              </a:tr>
              <a:tr h="574705">
                <a:tc>
                  <a:txBody>
                    <a:bodyPr/>
                    <a:lstStyle/>
                    <a:p>
                      <a:r>
                        <a:rPr lang="en-US" sz="1600" b="1">
                          <a:latin typeface="Times New Roman" panose="02020603050405020304" pitchFamily="18" charset="0"/>
                          <a:cs typeface="Times New Roman" panose="02020603050405020304" pitchFamily="18" charset="0"/>
                        </a:rPr>
                        <a:t>Programming Language</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latin typeface="Times New Roman" panose="02020603050405020304" pitchFamily="18" charset="0"/>
                          <a:cs typeface="Times New Roman" panose="02020603050405020304" pitchFamily="18" charset="0"/>
                        </a:rPr>
                        <a:t>Python</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latin typeface="Times New Roman" panose="02020603050405020304" pitchFamily="18" charset="0"/>
                          <a:cs typeface="Times New Roman" panose="02020603050405020304" pitchFamily="18" charset="0"/>
                        </a:rPr>
                        <a:t>Main language used for implementation</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4548068"/>
                  </a:ext>
                </a:extLst>
              </a:tr>
              <a:tr h="574705">
                <a:tc>
                  <a:txBody>
                    <a:bodyPr/>
                    <a:lstStyle/>
                    <a:p>
                      <a:r>
                        <a:rPr lang="en-US" sz="1600" b="1">
                          <a:latin typeface="Times New Roman" panose="02020603050405020304" pitchFamily="18" charset="0"/>
                          <a:cs typeface="Times New Roman" panose="02020603050405020304" pitchFamily="18" charset="0"/>
                        </a:rPr>
                        <a:t>Deep Learning Framework</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latin typeface="Times New Roman" panose="02020603050405020304" pitchFamily="18" charset="0"/>
                          <a:cs typeface="Times New Roman" panose="02020603050405020304" pitchFamily="18" charset="0"/>
                        </a:rPr>
                        <a:t>PyTorch Geometric</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Times New Roman" panose="02020603050405020304" pitchFamily="18" charset="0"/>
                          <a:cs typeface="Times New Roman" panose="02020603050405020304" pitchFamily="18" charset="0"/>
                        </a:rPr>
                        <a:t>To build and train GAT and R-GCN models</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3092104"/>
                  </a:ext>
                </a:extLst>
              </a:tr>
              <a:tr h="574705">
                <a:tc>
                  <a:txBody>
                    <a:bodyPr/>
                    <a:lstStyle/>
                    <a:p>
                      <a:r>
                        <a:rPr lang="en-US" sz="1600" b="1">
                          <a:latin typeface="Times New Roman" panose="02020603050405020304" pitchFamily="18" charset="0"/>
                          <a:cs typeface="Times New Roman" panose="02020603050405020304" pitchFamily="18" charset="0"/>
                        </a:rPr>
                        <a:t>Transformer Model</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latin typeface="Times New Roman" panose="02020603050405020304" pitchFamily="18" charset="0"/>
                          <a:cs typeface="Times New Roman" panose="02020603050405020304" pitchFamily="18" charset="0"/>
                        </a:rPr>
                        <a:t>SentenceTransformers (all-MiniLM-L6-v2)</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latin typeface="Times New Roman" panose="02020603050405020304" pitchFamily="18" charset="0"/>
                          <a:cs typeface="Times New Roman" panose="02020603050405020304" pitchFamily="18" charset="0"/>
                        </a:rPr>
                        <a:t>For semantic embedding of reviews</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3943910"/>
                  </a:ext>
                </a:extLst>
              </a:tr>
              <a:tr h="574705">
                <a:tc>
                  <a:txBody>
                    <a:bodyPr/>
                    <a:lstStyle/>
                    <a:p>
                      <a:r>
                        <a:rPr lang="en-US" sz="1600" b="1">
                          <a:latin typeface="Times New Roman" panose="02020603050405020304" pitchFamily="18" charset="0"/>
                          <a:cs typeface="Times New Roman" panose="02020603050405020304" pitchFamily="18" charset="0"/>
                        </a:rPr>
                        <a:t>NLP Toolkit</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latin typeface="Times New Roman" panose="02020603050405020304" pitchFamily="18" charset="0"/>
                          <a:cs typeface="Times New Roman" panose="02020603050405020304" pitchFamily="18" charset="0"/>
                        </a:rPr>
                        <a:t>NLTK</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latin typeface="Times New Roman" panose="02020603050405020304" pitchFamily="18" charset="0"/>
                          <a:cs typeface="Times New Roman" panose="02020603050405020304" pitchFamily="18" charset="0"/>
                        </a:rPr>
                        <a:t>For stop-word removal, tokenization, normalization</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5823776"/>
                  </a:ext>
                </a:extLst>
              </a:tr>
              <a:tr h="821007">
                <a:tc>
                  <a:txBody>
                    <a:bodyPr/>
                    <a:lstStyle/>
                    <a:p>
                      <a:r>
                        <a:rPr lang="en-US" sz="1600" b="1">
                          <a:latin typeface="Times New Roman" panose="02020603050405020304" pitchFamily="18" charset="0"/>
                          <a:cs typeface="Times New Roman" panose="02020603050405020304" pitchFamily="18" charset="0"/>
                        </a:rPr>
                        <a:t>Feature Extraction</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a:latin typeface="Times New Roman" panose="02020603050405020304" pitchFamily="18" charset="0"/>
                          <a:cs typeface="Times New Roman" panose="02020603050405020304" pitchFamily="18" charset="0"/>
                        </a:rPr>
                        <a:t>Scikit-learn (TF-IDF, PCA, Classifier)</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Times New Roman" panose="02020603050405020304" pitchFamily="18" charset="0"/>
                          <a:cs typeface="Times New Roman" panose="02020603050405020304" pitchFamily="18" charset="0"/>
                        </a:rPr>
                        <a:t>For keyword extraction, dimensionality reduction, and classification</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4793103"/>
                  </a:ext>
                </a:extLst>
              </a:tr>
              <a:tr h="574705">
                <a:tc>
                  <a:txBody>
                    <a:bodyPr/>
                    <a:lstStyle/>
                    <a:p>
                      <a:r>
                        <a:rPr lang="en-US" sz="1600" b="1">
                          <a:latin typeface="Times New Roman" panose="02020603050405020304" pitchFamily="18" charset="0"/>
                          <a:cs typeface="Times New Roman" panose="02020603050405020304" pitchFamily="18" charset="0"/>
                        </a:rPr>
                        <a:t>Visualization</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b="1" dirty="0" err="1">
                          <a:latin typeface="Times New Roman" panose="02020603050405020304" pitchFamily="18" charset="0"/>
                          <a:cs typeface="Times New Roman" panose="02020603050405020304" pitchFamily="18" charset="0"/>
                        </a:rPr>
                        <a:t>Matplotlib</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NetworkX</a:t>
                      </a:r>
                      <a:endParaRPr lang="en-US" sz="1600" dirty="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Times New Roman" panose="02020603050405020304" pitchFamily="18" charset="0"/>
                          <a:cs typeface="Times New Roman" panose="02020603050405020304" pitchFamily="18" charset="0"/>
                        </a:rPr>
                        <a:t>For plotting training curves and knowledge graph structures</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7993499"/>
                  </a:ext>
                </a:extLst>
              </a:tr>
              <a:tr h="328403">
                <a:tc>
                  <a:txBody>
                    <a:bodyPr/>
                    <a:lstStyle/>
                    <a:p>
                      <a:r>
                        <a:rPr lang="en-US" sz="1600" b="1">
                          <a:latin typeface="Times New Roman" panose="02020603050405020304" pitchFamily="18" charset="0"/>
                          <a:cs typeface="Times New Roman" panose="02020603050405020304" pitchFamily="18" charset="0"/>
                        </a:rPr>
                        <a:t>Hardware Used</a:t>
                      </a:r>
                      <a:endParaRPr lang="en-US" sz="1600">
                        <a:latin typeface="Times New Roman" panose="02020603050405020304" pitchFamily="18" charset="0"/>
                        <a:cs typeface="Times New Roman" panose="02020603050405020304" pitchFamily="18" charset="0"/>
                      </a:endParaRP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Times New Roman" panose="02020603050405020304" pitchFamily="18" charset="0"/>
                          <a:cs typeface="Times New Roman" panose="02020603050405020304" pitchFamily="18" charset="0"/>
                        </a:rPr>
                        <a:t>64-bit </a:t>
                      </a:r>
                      <a:r>
                        <a:rPr lang="en-US" sz="1600" dirty="0" smtClean="0">
                          <a:latin typeface="Times New Roman" panose="02020603050405020304" pitchFamily="18" charset="0"/>
                          <a:cs typeface="Times New Roman" panose="02020603050405020304" pitchFamily="18" charset="0"/>
                        </a:rPr>
                        <a:t>Intel core i5, </a:t>
                      </a:r>
                      <a:r>
                        <a:rPr lang="en-US" sz="1600" dirty="0">
                          <a:latin typeface="Times New Roman" panose="02020603050405020304" pitchFamily="18" charset="0"/>
                          <a:cs typeface="Times New Roman" panose="02020603050405020304" pitchFamily="18" charset="0"/>
                        </a:rPr>
                        <a:t>16GB RAM</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latin typeface="Times New Roman" panose="02020603050405020304" pitchFamily="18" charset="0"/>
                          <a:cs typeface="Times New Roman" panose="02020603050405020304" pitchFamily="18" charset="0"/>
                        </a:rPr>
                        <a:t>Model training and testing setup</a:t>
                      </a:r>
                    </a:p>
                  </a:txBody>
                  <a:tcPr marL="82101" marR="82101" marT="41050" marB="41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8799760"/>
                  </a:ext>
                </a:extLst>
              </a:tr>
            </a:tbl>
          </a:graphicData>
        </a:graphic>
      </p:graphicFrame>
      <p:sp>
        <p:nvSpPr>
          <p:cNvPr id="3" name="Date Placeholder 2"/>
          <p:cNvSpPr>
            <a:spLocks noGrp="1"/>
          </p:cNvSpPr>
          <p:nvPr>
            <p:ph type="dt" sz="half" idx="10"/>
          </p:nvPr>
        </p:nvSpPr>
        <p:spPr/>
        <p:txBody>
          <a:bodyPr/>
          <a:lstStyle/>
          <a:p>
            <a:fld id="{80E2839A-7C11-493F-8F14-4EEF7F94DB85}"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14</a:t>
            </a:fld>
            <a:endParaRPr lang="en-US"/>
          </a:p>
        </p:txBody>
      </p:sp>
    </p:spTree>
    <p:extLst>
      <p:ext uri="{BB962C8B-B14F-4D97-AF65-F5344CB8AC3E}">
        <p14:creationId xmlns:p14="http://schemas.microsoft.com/office/powerpoint/2010/main" val="36744050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Implementation</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sp>
        <p:nvSpPr>
          <p:cNvPr id="3" name="Date Placeholder 2"/>
          <p:cNvSpPr>
            <a:spLocks noGrp="1"/>
          </p:cNvSpPr>
          <p:nvPr>
            <p:ph type="dt" sz="half" idx="10"/>
          </p:nvPr>
        </p:nvSpPr>
        <p:spPr/>
        <p:txBody>
          <a:bodyPr/>
          <a:lstStyle/>
          <a:p>
            <a:fld id="{F58B7708-0DAE-4FAB-993B-A1DFB96A4E9C}"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15</a:t>
            </a:fld>
            <a:endParaRPr lang="en-US"/>
          </a:p>
        </p:txBody>
      </p:sp>
      <p:sp>
        <p:nvSpPr>
          <p:cNvPr id="8" name="Content Placeholder 7"/>
          <p:cNvSpPr>
            <a:spLocks noGrp="1"/>
          </p:cNvSpPr>
          <p:nvPr>
            <p:ph idx="1"/>
          </p:nvPr>
        </p:nvSpPr>
        <p:spPr>
          <a:xfrm>
            <a:off x="931506" y="1380784"/>
            <a:ext cx="10515600" cy="4861396"/>
          </a:xfrm>
        </p:spPr>
        <p:txBody>
          <a:bodyPr>
            <a:normAutofit fontScale="92500" lnSpcReduction="20000"/>
          </a:bodyPr>
          <a:lstStyle/>
          <a:p>
            <a:pPr marL="342900" indent="-342900">
              <a:buFont typeface="+mj-lt"/>
              <a:buAutoNum type="arabicPeriod"/>
            </a:pPr>
            <a:r>
              <a:rPr lang="en-US" sz="1800" b="1" dirty="0" smtClean="0">
                <a:latin typeface="Times New Roman" panose="02020603050405020304" pitchFamily="18" charset="0"/>
                <a:cs typeface="Times New Roman" panose="02020603050405020304" pitchFamily="18" charset="0"/>
              </a:rPr>
              <a:t> Data Collection &amp; Preprocessing </a:t>
            </a:r>
          </a:p>
          <a:p>
            <a:r>
              <a:rPr lang="en-US" sz="1800" dirty="0">
                <a:latin typeface="Times New Roman" panose="02020603050405020304" pitchFamily="18" charset="0"/>
                <a:cs typeface="Times New Roman" panose="02020603050405020304" pitchFamily="18" charset="0"/>
              </a:rPr>
              <a:t>    Collected real review datasets (Books, Prime Titles, IMDB Reviews) containing text + metadata</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Cleaned data by removing duplicates, handling missing values, and dropping irrelevant features</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Normalized review text using lowercasing, punctuation removal, tokenization, and </a:t>
            </a:r>
            <a:r>
              <a:rPr lang="en-US" sz="1800" dirty="0" err="1">
                <a:latin typeface="Times New Roman" panose="02020603050405020304" pitchFamily="18" charset="0"/>
                <a:cs typeface="Times New Roman" panose="02020603050405020304" pitchFamily="18" charset="0"/>
              </a:rPr>
              <a:t>stopword</a:t>
            </a:r>
            <a:r>
              <a:rPr lang="en-US" sz="1800" dirty="0">
                <a:latin typeface="Times New Roman" panose="02020603050405020304" pitchFamily="18" charset="0"/>
                <a:cs typeface="Times New Roman" panose="02020603050405020304" pitchFamily="18" charset="0"/>
              </a:rPr>
              <a:t> removal to </a:t>
            </a:r>
            <a:endParaRPr lang="en-US" sz="1800" dirty="0" smtClean="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reduce </a:t>
            </a:r>
            <a:r>
              <a:rPr lang="en-US" sz="1800" dirty="0">
                <a:latin typeface="Times New Roman" panose="02020603050405020304" pitchFamily="18" charset="0"/>
                <a:cs typeface="Times New Roman" panose="02020603050405020304" pitchFamily="18" charset="0"/>
              </a:rPr>
              <a:t>noise</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Converted multi-valued attributes (Genres, Cast, Authors) into lists for later node creation in KG</a:t>
            </a:r>
            <a:r>
              <a:rPr lang="en-US" sz="1800" dirty="0" smtClean="0">
                <a:latin typeface="Times New Roman" panose="02020603050405020304" pitchFamily="18" charset="0"/>
                <a:cs typeface="Times New Roman" panose="02020603050405020304" pitchFamily="18" charset="0"/>
              </a:rPr>
              <a:t>.</a:t>
            </a:r>
          </a:p>
          <a:p>
            <a:pPr marL="342900" indent="-342900">
              <a:buFont typeface="+mj-lt"/>
              <a:buAutoNum type="arabicPeriod" startAt="2"/>
            </a:pPr>
            <a:r>
              <a:rPr lang="en-US" sz="1800" b="1" dirty="0" smtClean="0">
                <a:latin typeface="Times New Roman" panose="02020603050405020304" pitchFamily="18" charset="0"/>
                <a:cs typeface="Times New Roman" panose="02020603050405020304" pitchFamily="18" charset="0"/>
              </a:rPr>
              <a:t>Data Splitting </a:t>
            </a:r>
          </a:p>
          <a:p>
            <a:r>
              <a:rPr lang="en-US" sz="1800" dirty="0">
                <a:latin typeface="Times New Roman" panose="02020603050405020304" pitchFamily="18" charset="0"/>
                <a:cs typeface="Times New Roman" panose="02020603050405020304" pitchFamily="18" charset="0"/>
              </a:rPr>
              <a:t>   Extracted sentiment labels from review datasets to form the target class</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Applied </a:t>
            </a:r>
            <a:r>
              <a:rPr lang="en-US" sz="1800" b="1" dirty="0">
                <a:latin typeface="Times New Roman" panose="02020603050405020304" pitchFamily="18" charset="0"/>
                <a:cs typeface="Times New Roman" panose="02020603050405020304" pitchFamily="18" charset="0"/>
              </a:rPr>
              <a:t>Stratified</a:t>
            </a:r>
            <a:r>
              <a:rPr lang="en-US" sz="1800" dirty="0">
                <a:latin typeface="Times New Roman" panose="02020603050405020304" pitchFamily="18" charset="0"/>
                <a:cs typeface="Times New Roman" panose="02020603050405020304" pitchFamily="18" charset="0"/>
              </a:rPr>
              <a:t> Train–Validation–Test split to preserve class ratios in all partitions</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Ensured test set remains completely unseen to evaluate real-world model performance.</a:t>
            </a:r>
            <a:endParaRPr lang="en-US" sz="1800" dirty="0" smtClean="0">
              <a:latin typeface="Times New Roman" panose="02020603050405020304" pitchFamily="18" charset="0"/>
              <a:cs typeface="Times New Roman" panose="02020603050405020304" pitchFamily="18" charset="0"/>
            </a:endParaRPr>
          </a:p>
          <a:p>
            <a:pPr marL="342900" indent="-342900">
              <a:buFont typeface="+mj-lt"/>
              <a:buAutoNum type="arabicPeriod" startAt="3"/>
            </a:pPr>
            <a:r>
              <a:rPr lang="en-US" sz="1800" b="1" dirty="0" smtClean="0">
                <a:latin typeface="Times New Roman" panose="02020603050405020304" pitchFamily="18" charset="0"/>
                <a:cs typeface="Times New Roman" panose="02020603050405020304" pitchFamily="18" charset="0"/>
              </a:rPr>
              <a:t>Keyword &amp; Entity Extraction</a:t>
            </a:r>
          </a:p>
          <a:p>
            <a:r>
              <a:rPr lang="en-US" sz="1800" dirty="0" smtClean="0">
                <a:latin typeface="Times New Roman" panose="02020603050405020304" pitchFamily="18" charset="0"/>
                <a:cs typeface="Times New Roman" panose="02020603050405020304" pitchFamily="18" charset="0"/>
              </a:rPr>
              <a:t>  Used </a:t>
            </a:r>
            <a:r>
              <a:rPr lang="en-US" sz="1800" b="1" dirty="0">
                <a:latin typeface="Times New Roman" panose="02020603050405020304" pitchFamily="18" charset="0"/>
                <a:cs typeface="Times New Roman" panose="02020603050405020304" pitchFamily="18" charset="0"/>
              </a:rPr>
              <a:t>TF-IDF</a:t>
            </a:r>
            <a:r>
              <a:rPr lang="en-US" sz="1800" dirty="0">
                <a:latin typeface="Times New Roman" panose="02020603050405020304" pitchFamily="18" charset="0"/>
                <a:cs typeface="Times New Roman" panose="02020603050405020304" pitchFamily="18" charset="0"/>
              </a:rPr>
              <a:t> to extract top scoring keywords from each review, which represent important </a:t>
            </a:r>
            <a:r>
              <a:rPr lang="en-US" sz="1800" dirty="0" smtClean="0">
                <a:latin typeface="Times New Roman" panose="02020603050405020304" pitchFamily="18" charset="0"/>
                <a:cs typeface="Times New Roman" panose="02020603050405020304" pitchFamily="18" charset="0"/>
              </a:rPr>
              <a:t>semantic</a:t>
            </a:r>
          </a:p>
          <a:p>
            <a:pPr marL="0" indent="0">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concepts.</a:t>
            </a:r>
          </a:p>
          <a:p>
            <a:r>
              <a:rPr lang="en-US" sz="1800" dirty="0" smtClean="0">
                <a:latin typeface="Times New Roman" panose="02020603050405020304" pitchFamily="18" charset="0"/>
                <a:cs typeface="Times New Roman" panose="02020603050405020304" pitchFamily="18" charset="0"/>
              </a:rPr>
              <a:t>  Applied </a:t>
            </a:r>
            <a:r>
              <a:rPr lang="en-US" sz="1800" dirty="0">
                <a:latin typeface="Times New Roman" panose="02020603050405020304" pitchFamily="18" charset="0"/>
                <a:cs typeface="Times New Roman" panose="02020603050405020304" pitchFamily="18" charset="0"/>
              </a:rPr>
              <a:t>simple NER/entity extraction for real-world entities like Actors, Authors, Products, Genres, etc</a:t>
            </a:r>
            <a:r>
              <a:rPr lang="en-US" sz="1800" dirty="0" smtClean="0">
                <a:latin typeface="Times New Roman" panose="02020603050405020304" pitchFamily="18" charset="0"/>
                <a:cs typeface="Times New Roman" panose="02020603050405020304" pitchFamily="18" charset="0"/>
              </a:rPr>
              <a:t>.</a:t>
            </a:r>
          </a:p>
          <a:p>
            <a:r>
              <a:rPr lang="en-US" sz="1800" dirty="0" smtClean="0">
                <a:latin typeface="Times New Roman" panose="02020603050405020304" pitchFamily="18" charset="0"/>
                <a:cs typeface="Times New Roman" panose="02020603050405020304" pitchFamily="18" charset="0"/>
              </a:rPr>
              <a:t>  These </a:t>
            </a:r>
            <a:r>
              <a:rPr lang="en-US" sz="1800" dirty="0">
                <a:latin typeface="Times New Roman" panose="02020603050405020304" pitchFamily="18" charset="0"/>
                <a:cs typeface="Times New Roman" panose="02020603050405020304" pitchFamily="18" charset="0"/>
              </a:rPr>
              <a:t>extracted terms are later converted into additional nodes to enrich the Knowledge Graph.</a:t>
            </a:r>
            <a:endParaRPr lang="en-US" sz="1800" dirty="0" smtClean="0">
              <a:latin typeface="Times New Roman" panose="02020603050405020304" pitchFamily="18" charset="0"/>
              <a:cs typeface="Times New Roman" panose="02020603050405020304" pitchFamily="18" charset="0"/>
            </a:endParaRPr>
          </a:p>
          <a:p>
            <a:pPr marL="0" indent="0">
              <a:buNone/>
            </a:pPr>
            <a:endParaRPr lang="en-US" sz="1800" dirty="0" smtClean="0"/>
          </a:p>
          <a:p>
            <a:pPr marL="0" indent="0">
              <a:buNone/>
            </a:pPr>
            <a:endParaRPr lang="en-US" sz="1800" dirty="0" smtClean="0"/>
          </a:p>
          <a:p>
            <a:endParaRPr lang="en-US" sz="1800" dirty="0" smtClean="0"/>
          </a:p>
        </p:txBody>
      </p:sp>
    </p:spTree>
    <p:extLst>
      <p:ext uri="{BB962C8B-B14F-4D97-AF65-F5344CB8AC3E}">
        <p14:creationId xmlns:p14="http://schemas.microsoft.com/office/powerpoint/2010/main" val="1073658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Implementation</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sp>
        <p:nvSpPr>
          <p:cNvPr id="3" name="Date Placeholder 2"/>
          <p:cNvSpPr>
            <a:spLocks noGrp="1"/>
          </p:cNvSpPr>
          <p:nvPr>
            <p:ph type="dt" sz="half" idx="10"/>
          </p:nvPr>
        </p:nvSpPr>
        <p:spPr/>
        <p:txBody>
          <a:bodyPr/>
          <a:lstStyle/>
          <a:p>
            <a:fld id="{82DF8A6E-3DD0-4AB5-8C83-EFBD2716CD65}"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16</a:t>
            </a:fld>
            <a:endParaRPr lang="en-US"/>
          </a:p>
        </p:txBody>
      </p:sp>
      <p:sp>
        <p:nvSpPr>
          <p:cNvPr id="8" name="Content Placeholder 7"/>
          <p:cNvSpPr>
            <a:spLocks noGrp="1"/>
          </p:cNvSpPr>
          <p:nvPr>
            <p:ph idx="1"/>
          </p:nvPr>
        </p:nvSpPr>
        <p:spPr>
          <a:xfrm>
            <a:off x="968829" y="1278147"/>
            <a:ext cx="10515600" cy="4861396"/>
          </a:xfrm>
        </p:spPr>
        <p:txBody>
          <a:bodyPr>
            <a:normAutofit lnSpcReduction="10000"/>
          </a:bodyPr>
          <a:lstStyle/>
          <a:p>
            <a:pPr marL="342900" indent="-342900">
              <a:buFont typeface="+mj-lt"/>
              <a:buAutoNum type="arabicPeriod" startAt="4"/>
            </a:pPr>
            <a:r>
              <a:rPr lang="en-US" sz="1800" b="1" dirty="0" smtClean="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Embedding Generation (all-MiniLM-L6-v2)</a:t>
            </a:r>
            <a:endParaRPr lang="en-US" sz="1800" b="1"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Encoded review and item texts using transformer model </a:t>
            </a:r>
            <a:r>
              <a:rPr lang="en-US" sz="1800" b="1" dirty="0">
                <a:latin typeface="Times New Roman" panose="02020603050405020304" pitchFamily="18" charset="0"/>
                <a:cs typeface="Times New Roman" panose="02020603050405020304" pitchFamily="18" charset="0"/>
              </a:rPr>
              <a:t>all-MiniLM-L6-v2</a:t>
            </a:r>
            <a:r>
              <a:rPr lang="en-US" sz="1800" dirty="0">
                <a:latin typeface="Times New Roman" panose="02020603050405020304" pitchFamily="18" charset="0"/>
                <a:cs typeface="Times New Roman" panose="02020603050405020304" pitchFamily="18" charset="0"/>
              </a:rPr>
              <a:t> from </a:t>
            </a:r>
            <a:r>
              <a:rPr lang="en-US" sz="1800" dirty="0" smtClean="0">
                <a:latin typeface="Times New Roman" panose="02020603050405020304" pitchFamily="18" charset="0"/>
                <a:cs typeface="Times New Roman" panose="02020603050405020304" pitchFamily="18" charset="0"/>
              </a:rPr>
              <a:t>Sentence-Transformers.</a:t>
            </a:r>
          </a:p>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Generated </a:t>
            </a:r>
            <a:r>
              <a:rPr lang="en-US" sz="1800" dirty="0">
                <a:latin typeface="Times New Roman" panose="02020603050405020304" pitchFamily="18" charset="0"/>
                <a:cs typeface="Times New Roman" panose="02020603050405020304" pitchFamily="18" charset="0"/>
              </a:rPr>
              <a:t>fixed-size semantic vector embeddings capturing contextual meaning of each node</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Calculated cosine similarity between embeddings to connect semantically similar nodes in KG.</a:t>
            </a:r>
          </a:p>
          <a:p>
            <a:pPr marL="342900" indent="-342900">
              <a:buFont typeface="+mj-lt"/>
              <a:buAutoNum type="arabicPeriod" startAt="5"/>
            </a:pPr>
            <a:r>
              <a:rPr lang="en-US" sz="1800" b="1" dirty="0" smtClean="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KG Schema Design</a:t>
            </a:r>
            <a:endParaRPr lang="en-US" sz="1800" b="1"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Designed multiple heterogeneous </a:t>
            </a:r>
            <a:r>
              <a:rPr lang="en-US" sz="1800" b="1" dirty="0">
                <a:latin typeface="Times New Roman" panose="02020603050405020304" pitchFamily="18" charset="0"/>
                <a:cs typeface="Times New Roman" panose="02020603050405020304" pitchFamily="18" charset="0"/>
              </a:rPr>
              <a:t>node types</a:t>
            </a:r>
            <a:r>
              <a:rPr lang="en-US" sz="1800" dirty="0">
                <a:latin typeface="Times New Roman" panose="02020603050405020304" pitchFamily="18" charset="0"/>
                <a:cs typeface="Times New Roman" panose="02020603050405020304" pitchFamily="18" charset="0"/>
              </a:rPr>
              <a:t>: Review, Item, Keyword, Genre, Person, Language, Country etc.</a:t>
            </a:r>
            <a:endParaRPr lang="en-US" sz="1800"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Defined </a:t>
            </a:r>
            <a:r>
              <a:rPr lang="en-US" sz="1800" dirty="0">
                <a:latin typeface="Times New Roman" panose="02020603050405020304" pitchFamily="18" charset="0"/>
                <a:cs typeface="Times New Roman" panose="02020603050405020304" pitchFamily="18" charset="0"/>
              </a:rPr>
              <a:t>meaningful </a:t>
            </a:r>
            <a:r>
              <a:rPr lang="en-US" sz="1800" b="1" dirty="0">
                <a:latin typeface="Times New Roman" panose="02020603050405020304" pitchFamily="18" charset="0"/>
                <a:cs typeface="Times New Roman" panose="02020603050405020304" pitchFamily="18" charset="0"/>
              </a:rPr>
              <a:t>relations</a:t>
            </a:r>
            <a:r>
              <a:rPr lang="en-US" sz="1800" dirty="0">
                <a:latin typeface="Times New Roman" panose="02020603050405020304" pitchFamily="18" charset="0"/>
                <a:cs typeface="Times New Roman" panose="02020603050405020304" pitchFamily="18" charset="0"/>
              </a:rPr>
              <a:t> like: </a:t>
            </a:r>
            <a:r>
              <a:rPr lang="en-US" sz="1800" i="1" dirty="0">
                <a:latin typeface="Times New Roman" panose="02020603050405020304" pitchFamily="18" charset="0"/>
                <a:cs typeface="Times New Roman" panose="02020603050405020304" pitchFamily="18" charset="0"/>
              </a:rPr>
              <a:t>has_genre</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stars_in</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written_by</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has_keyword</a:t>
            </a:r>
            <a:r>
              <a:rPr lang="en-US" sz="1800" dirty="0">
                <a:latin typeface="Times New Roman" panose="02020603050405020304" pitchFamily="18" charset="0"/>
                <a:cs typeface="Times New Roman" panose="02020603050405020304" pitchFamily="18" charset="0"/>
              </a:rPr>
              <a:t>, </a:t>
            </a:r>
            <a:r>
              <a:rPr lang="en-US" sz="1800" i="1" dirty="0">
                <a:latin typeface="Times New Roman" panose="02020603050405020304" pitchFamily="18" charset="0"/>
                <a:cs typeface="Times New Roman" panose="02020603050405020304" pitchFamily="18" charset="0"/>
              </a:rPr>
              <a:t>similar_to</a:t>
            </a:r>
            <a:r>
              <a:rPr lang="en-US" sz="1800" dirty="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   </a:t>
            </a:r>
            <a:r>
              <a:rPr lang="en-US" sz="1900" dirty="0" smtClean="0">
                <a:latin typeface="Times New Roman" panose="02020603050405020304" pitchFamily="18" charset="0"/>
                <a:cs typeface="Times New Roman" panose="02020603050405020304" pitchFamily="18" charset="0"/>
              </a:rPr>
              <a:t>Created </a:t>
            </a:r>
            <a:r>
              <a:rPr lang="en-US" sz="1900" dirty="0">
                <a:latin typeface="Times New Roman" panose="02020603050405020304" pitchFamily="18" charset="0"/>
                <a:cs typeface="Times New Roman" panose="02020603050405020304" pitchFamily="18" charset="0"/>
              </a:rPr>
              <a:t>standardized node naming rules to avoid duplicates and maintain graph consistency</a:t>
            </a:r>
            <a:r>
              <a:rPr lang="en-US" sz="1900" dirty="0" smtClean="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pPr marL="342900" indent="-342900">
              <a:buFont typeface="+mj-lt"/>
              <a:buAutoNum type="arabicPeriod" startAt="6"/>
            </a:pPr>
            <a:r>
              <a:rPr lang="en-US" sz="1800" b="1" dirty="0">
                <a:latin typeface="Times New Roman" panose="02020603050405020304" pitchFamily="18" charset="0"/>
                <a:cs typeface="Times New Roman" panose="02020603050405020304" pitchFamily="18" charset="0"/>
              </a:rPr>
              <a:t> Graph Construction</a:t>
            </a:r>
            <a:endParaRPr lang="en-US" sz="1800" b="1"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   Converted </a:t>
            </a:r>
            <a:r>
              <a:rPr lang="en-US" sz="1800" dirty="0">
                <a:latin typeface="Times New Roman" panose="02020603050405020304" pitchFamily="18" charset="0"/>
                <a:cs typeface="Times New Roman" panose="02020603050405020304" pitchFamily="18" charset="0"/>
              </a:rPr>
              <a:t>all data and relations into triples (Head → Relation → Tail).</a:t>
            </a:r>
          </a:p>
          <a:p>
            <a:r>
              <a:rPr lang="en-US" sz="1800" dirty="0">
                <a:latin typeface="Times New Roman" panose="02020603050405020304" pitchFamily="18" charset="0"/>
                <a:cs typeface="Times New Roman" panose="02020603050405020304" pitchFamily="18" charset="0"/>
              </a:rPr>
              <a:t>   Built heterogeneous graph using </a:t>
            </a:r>
            <a:r>
              <a:rPr lang="en-US" sz="1800" dirty="0" err="1">
                <a:latin typeface="Times New Roman" panose="02020603050405020304" pitchFamily="18" charset="0"/>
                <a:cs typeface="Times New Roman" panose="02020603050405020304" pitchFamily="18" charset="0"/>
              </a:rPr>
              <a:t>NetworkX</a:t>
            </a:r>
            <a:r>
              <a:rPr lang="en-US" sz="1800" dirty="0">
                <a:latin typeface="Times New Roman" panose="02020603050405020304" pitchFamily="18" charset="0"/>
                <a:cs typeface="Times New Roman" panose="02020603050405020304" pitchFamily="18" charset="0"/>
              </a:rPr>
              <a:t> and later transformed into </a:t>
            </a:r>
            <a:r>
              <a:rPr lang="en-US" sz="1800" dirty="0" err="1">
                <a:latin typeface="Times New Roman" panose="02020603050405020304" pitchFamily="18" charset="0"/>
                <a:cs typeface="Times New Roman" panose="02020603050405020304" pitchFamily="18" charset="0"/>
              </a:rPr>
              <a:t>PyTorch</a:t>
            </a:r>
            <a:r>
              <a:rPr lang="en-US" sz="1800" dirty="0">
                <a:latin typeface="Times New Roman" panose="02020603050405020304" pitchFamily="18" charset="0"/>
                <a:cs typeface="Times New Roman" panose="02020603050405020304" pitchFamily="18" charset="0"/>
              </a:rPr>
              <a:t>-Geometric </a:t>
            </a:r>
            <a:r>
              <a:rPr lang="en-US" sz="1800" dirty="0" err="1">
                <a:latin typeface="Times New Roman" panose="02020603050405020304" pitchFamily="18" charset="0"/>
                <a:cs typeface="Times New Roman" panose="02020603050405020304" pitchFamily="18" charset="0"/>
              </a:rPr>
              <a:t>HeteroData</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  Added semantic similarity edges using embedding similarity to combine text meaning with </a:t>
            </a:r>
            <a:r>
              <a:rPr lang="en-US" sz="1800" dirty="0" smtClean="0">
                <a:latin typeface="Times New Roman" panose="02020603050405020304" pitchFamily="18" charset="0"/>
                <a:cs typeface="Times New Roman" panose="02020603050405020304" pitchFamily="18" charset="0"/>
              </a:rPr>
              <a:t>structural</a:t>
            </a:r>
          </a:p>
          <a:p>
            <a:pPr marL="0" indent="0">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relations.</a:t>
            </a:r>
            <a:endParaRPr lang="en-US" sz="1800" dirty="0" smtClean="0">
              <a:latin typeface="Times New Roman" panose="02020603050405020304" pitchFamily="18" charset="0"/>
              <a:cs typeface="Times New Roman" panose="02020603050405020304" pitchFamily="18" charset="0"/>
            </a:endParaRPr>
          </a:p>
          <a:p>
            <a:pPr marL="0" indent="0">
              <a:buNone/>
            </a:pPr>
            <a:endParaRPr lang="en-US" sz="1800" dirty="0" smtClean="0"/>
          </a:p>
          <a:p>
            <a:endParaRPr lang="en-US" sz="1800" dirty="0" smtClean="0"/>
          </a:p>
        </p:txBody>
      </p:sp>
    </p:spTree>
    <p:extLst>
      <p:ext uri="{BB962C8B-B14F-4D97-AF65-F5344CB8AC3E}">
        <p14:creationId xmlns:p14="http://schemas.microsoft.com/office/powerpoint/2010/main" val="19348748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Implementation</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sp>
        <p:nvSpPr>
          <p:cNvPr id="3" name="Date Placeholder 2"/>
          <p:cNvSpPr>
            <a:spLocks noGrp="1"/>
          </p:cNvSpPr>
          <p:nvPr>
            <p:ph type="dt" sz="half" idx="10"/>
          </p:nvPr>
        </p:nvSpPr>
        <p:spPr/>
        <p:txBody>
          <a:bodyPr/>
          <a:lstStyle/>
          <a:p>
            <a:fld id="{75AFA9EB-A429-41EB-96ED-C2C6AE5149A3}"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17</a:t>
            </a:fld>
            <a:endParaRPr lang="en-US"/>
          </a:p>
        </p:txBody>
      </p:sp>
      <p:sp>
        <p:nvSpPr>
          <p:cNvPr id="8" name="Content Placeholder 7"/>
          <p:cNvSpPr>
            <a:spLocks noGrp="1"/>
          </p:cNvSpPr>
          <p:nvPr>
            <p:ph idx="1"/>
          </p:nvPr>
        </p:nvSpPr>
        <p:spPr>
          <a:xfrm>
            <a:off x="968829" y="1278147"/>
            <a:ext cx="10515600" cy="4861396"/>
          </a:xfrm>
        </p:spPr>
        <p:txBody>
          <a:bodyPr>
            <a:normAutofit lnSpcReduction="10000"/>
          </a:bodyPr>
          <a:lstStyle/>
          <a:p>
            <a:pPr marL="342900" indent="-342900">
              <a:buFont typeface="+mj-lt"/>
              <a:buAutoNum type="arabicPeriod" startAt="7"/>
            </a:pPr>
            <a:r>
              <a:rPr lang="en-US" sz="1800" b="1" dirty="0" smtClean="0">
                <a:latin typeface="Times New Roman" panose="02020603050405020304" pitchFamily="18" charset="0"/>
                <a:cs typeface="Times New Roman" panose="02020603050405020304" pitchFamily="18" charset="0"/>
              </a:rPr>
              <a:t>  Edge </a:t>
            </a:r>
            <a:r>
              <a:rPr lang="en-US" sz="1800" b="1" dirty="0">
                <a:latin typeface="Times New Roman" panose="02020603050405020304" pitchFamily="18" charset="0"/>
                <a:cs typeface="Times New Roman" panose="02020603050405020304" pitchFamily="18" charset="0"/>
              </a:rPr>
              <a:t>Weighting &amp; Noise </a:t>
            </a:r>
            <a:r>
              <a:rPr lang="en-US" sz="1800" b="1" dirty="0" smtClean="0">
                <a:latin typeface="Times New Roman" panose="02020603050405020304" pitchFamily="18" charset="0"/>
                <a:cs typeface="Times New Roman" panose="02020603050405020304" pitchFamily="18" charset="0"/>
              </a:rPr>
              <a:t>Control</a:t>
            </a:r>
          </a:p>
          <a:p>
            <a:r>
              <a:rPr lang="en-US" sz="1800" dirty="0">
                <a:latin typeface="Times New Roman" panose="02020603050405020304" pitchFamily="18" charset="0"/>
                <a:cs typeface="Times New Roman" panose="02020603050405020304" pitchFamily="18" charset="0"/>
              </a:rPr>
              <a:t>     Applied </a:t>
            </a:r>
            <a:r>
              <a:rPr lang="en-US" sz="1800" b="1" dirty="0">
                <a:latin typeface="Times New Roman" panose="02020603050405020304" pitchFamily="18" charset="0"/>
                <a:cs typeface="Times New Roman" panose="02020603050405020304" pitchFamily="18" charset="0"/>
              </a:rPr>
              <a:t>Top-K neighbor selection</a:t>
            </a:r>
            <a:r>
              <a:rPr lang="en-US" sz="1800" dirty="0">
                <a:latin typeface="Times New Roman" panose="02020603050405020304" pitchFamily="18" charset="0"/>
                <a:cs typeface="Times New Roman" panose="02020603050405020304" pitchFamily="18" charset="0"/>
              </a:rPr>
              <a:t> to remove weak similarity edges and maintain graph sparsity.</a:t>
            </a:r>
            <a:endParaRPr lang="en-US" sz="1800"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Removed </a:t>
            </a:r>
            <a:r>
              <a:rPr lang="en-US" sz="1800" dirty="0">
                <a:latin typeface="Times New Roman" panose="02020603050405020304" pitchFamily="18" charset="0"/>
                <a:cs typeface="Times New Roman" panose="02020603050405020304" pitchFamily="18" charset="0"/>
              </a:rPr>
              <a:t>noisy, infrequent, and self-loop edges to prevent error propagation during GNN </a:t>
            </a:r>
            <a:r>
              <a:rPr lang="en-US" sz="1800" dirty="0" smtClean="0">
                <a:latin typeface="Times New Roman" panose="02020603050405020304" pitchFamily="18" charset="0"/>
                <a:cs typeface="Times New Roman" panose="02020603050405020304" pitchFamily="18" charset="0"/>
              </a:rPr>
              <a:t>message</a:t>
            </a:r>
          </a:p>
          <a:p>
            <a:pPr marL="0" indent="0">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passing</a:t>
            </a:r>
            <a:r>
              <a:rPr lang="en-US" sz="1800" dirty="0">
                <a:latin typeface="Times New Roman" panose="02020603050405020304" pitchFamily="18" charset="0"/>
                <a:cs typeface="Times New Roman" panose="02020603050405020304" pitchFamily="18" charset="0"/>
              </a:rPr>
              <a:t>.</a:t>
            </a:r>
            <a:endParaRPr lang="en-US" sz="1800"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Assigned edge weights based on frequency or similarity score to highlight stronger relationships.</a:t>
            </a:r>
          </a:p>
          <a:p>
            <a:pPr marL="342900" indent="-342900">
              <a:buFont typeface="+mj-lt"/>
              <a:buAutoNum type="arabicPeriod" startAt="8"/>
            </a:pPr>
            <a:r>
              <a:rPr lang="en-US" sz="1800" b="1" dirty="0" smtClean="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GNN Modeling (GAT + R-GCN)</a:t>
            </a:r>
            <a:endParaRPr lang="en-US" sz="1800" b="1"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Implemented </a:t>
            </a:r>
            <a:r>
              <a:rPr lang="en-US" sz="1800" b="1" dirty="0">
                <a:latin typeface="Times New Roman" panose="02020603050405020304" pitchFamily="18" charset="0"/>
                <a:cs typeface="Times New Roman" panose="02020603050405020304" pitchFamily="18" charset="0"/>
              </a:rPr>
              <a:t>Dual-View Graph Neural Network</a:t>
            </a:r>
            <a:r>
              <a:rPr lang="en-US" sz="1800" dirty="0">
                <a:latin typeface="Times New Roman" panose="02020603050405020304" pitchFamily="18" charset="0"/>
                <a:cs typeface="Times New Roman" panose="02020603050405020304" pitchFamily="18" charset="0"/>
              </a:rPr>
              <a:t> architecture for powerful representation learning.</a:t>
            </a:r>
            <a:endParaRPr lang="en-US" sz="1800"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    </a:t>
            </a:r>
            <a:r>
              <a:rPr lang="en-US" sz="1800" b="1" dirty="0" smtClean="0">
                <a:latin typeface="Times New Roman" panose="02020603050405020304" pitchFamily="18" charset="0"/>
                <a:cs typeface="Times New Roman" panose="02020603050405020304" pitchFamily="18" charset="0"/>
              </a:rPr>
              <a:t>GAT</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captures neighborhood importance using attention mechanism on semantic similarity.</a:t>
            </a:r>
            <a:endParaRPr lang="en-US" sz="1800" dirty="0" smtClean="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R-GCN</a:t>
            </a:r>
            <a:r>
              <a:rPr lang="en-US" sz="1800" dirty="0">
                <a:latin typeface="Times New Roman" panose="02020603050405020304" pitchFamily="18" charset="0"/>
                <a:cs typeface="Times New Roman" panose="02020603050405020304" pitchFamily="18" charset="0"/>
              </a:rPr>
              <a:t> learns complex multi-relation patterns from heterogeneous Knowledge Graph structure.</a:t>
            </a:r>
            <a:endParaRPr lang="en-US" sz="1800" dirty="0" smtClean="0">
              <a:latin typeface="Times New Roman" panose="02020603050405020304" pitchFamily="18" charset="0"/>
              <a:cs typeface="Times New Roman" panose="02020603050405020304" pitchFamily="18" charset="0"/>
            </a:endParaRPr>
          </a:p>
          <a:p>
            <a:pPr marL="342900" indent="-342900">
              <a:buFont typeface="+mj-lt"/>
              <a:buAutoNum type="arabicPeriod" startAt="9"/>
            </a:pPr>
            <a:r>
              <a:rPr lang="en-US" sz="1800" b="1" dirty="0" smtClean="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Contrastive Learning</a:t>
            </a:r>
            <a:endParaRPr lang="en-US" sz="1800" b="1"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Generated embeddings from both GAT and R-GCN views for the same nodes.</a:t>
            </a:r>
            <a:endParaRPr lang="en-US" sz="1800" dirty="0" smtClean="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Applied</a:t>
            </a:r>
            <a:r>
              <a:rPr lang="en-US" sz="1800" b="1" dirty="0" smtClean="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contrastive loss</a:t>
            </a:r>
            <a:r>
              <a:rPr lang="en-US" sz="1800" dirty="0">
                <a:latin typeface="Times New Roman" panose="02020603050405020304" pitchFamily="18" charset="0"/>
                <a:cs typeface="Times New Roman" panose="02020603050405020304" pitchFamily="18" charset="0"/>
              </a:rPr>
              <a:t> to bring similar sentiment nodes closer and push apart opposite </a:t>
            </a:r>
            <a:r>
              <a:rPr lang="en-US" sz="1800" dirty="0" smtClean="0">
                <a:latin typeface="Times New Roman" panose="02020603050405020304" pitchFamily="18" charset="0"/>
                <a:cs typeface="Times New Roman" panose="02020603050405020304" pitchFamily="18" charset="0"/>
              </a:rPr>
              <a:t>sentiment</a:t>
            </a:r>
          </a:p>
          <a:p>
            <a:pPr marL="0" indent="0">
              <a:buNone/>
            </a:pPr>
            <a:r>
              <a:rPr lang="en-US" sz="1800" dirty="0">
                <a:latin typeface="Times New Roman" panose="02020603050405020304" pitchFamily="18" charset="0"/>
                <a:cs typeface="Times New Roman" panose="02020603050405020304" pitchFamily="18" charset="0"/>
              </a:rPr>
              <a:t> </a:t>
            </a:r>
            <a:r>
              <a:rPr lang="en-US" sz="1800" dirty="0" smtClean="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nodes.</a:t>
            </a:r>
          </a:p>
          <a:p>
            <a:r>
              <a:rPr lang="en-US" sz="1800" dirty="0">
                <a:latin typeface="Times New Roman" panose="02020603050405020304" pitchFamily="18" charset="0"/>
                <a:cs typeface="Times New Roman" panose="02020603050405020304" pitchFamily="18" charset="0"/>
              </a:rPr>
              <a:t>  Helped model become robust against noisy edges and improved generalization capability.</a:t>
            </a:r>
            <a:endParaRPr lang="en-US" sz="1800" dirty="0" smtClean="0">
              <a:latin typeface="Times New Roman" panose="02020603050405020304" pitchFamily="18" charset="0"/>
              <a:cs typeface="Times New Roman" panose="02020603050405020304" pitchFamily="18" charset="0"/>
            </a:endParaRPr>
          </a:p>
          <a:p>
            <a:endParaRPr lang="en-US" sz="1800" dirty="0" smtClean="0"/>
          </a:p>
        </p:txBody>
      </p:sp>
    </p:spTree>
    <p:extLst>
      <p:ext uri="{BB962C8B-B14F-4D97-AF65-F5344CB8AC3E}">
        <p14:creationId xmlns:p14="http://schemas.microsoft.com/office/powerpoint/2010/main" val="1664292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Implementation</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sp>
        <p:nvSpPr>
          <p:cNvPr id="3" name="Date Placeholder 2"/>
          <p:cNvSpPr>
            <a:spLocks noGrp="1"/>
          </p:cNvSpPr>
          <p:nvPr>
            <p:ph type="dt" sz="half" idx="10"/>
          </p:nvPr>
        </p:nvSpPr>
        <p:spPr/>
        <p:txBody>
          <a:bodyPr/>
          <a:lstStyle/>
          <a:p>
            <a:fld id="{7FF8138F-0A06-4741-BD61-3D9A5C9654D8}"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18</a:t>
            </a:fld>
            <a:endParaRPr lang="en-US"/>
          </a:p>
        </p:txBody>
      </p:sp>
      <p:sp>
        <p:nvSpPr>
          <p:cNvPr id="8" name="Content Placeholder 7"/>
          <p:cNvSpPr>
            <a:spLocks noGrp="1"/>
          </p:cNvSpPr>
          <p:nvPr>
            <p:ph idx="1"/>
          </p:nvPr>
        </p:nvSpPr>
        <p:spPr>
          <a:xfrm>
            <a:off x="968829" y="1278147"/>
            <a:ext cx="10515600" cy="4861396"/>
          </a:xfrm>
        </p:spPr>
        <p:txBody>
          <a:bodyPr>
            <a:normAutofit/>
          </a:bodyPr>
          <a:lstStyle/>
          <a:p>
            <a:pPr marL="0" indent="0">
              <a:buNone/>
            </a:pPr>
            <a:r>
              <a:rPr lang="en-US" sz="1800" b="1" dirty="0" smtClean="0">
                <a:latin typeface="Times New Roman" panose="02020603050405020304" pitchFamily="18" charset="0"/>
                <a:cs typeface="Times New Roman" panose="02020603050405020304" pitchFamily="18" charset="0"/>
              </a:rPr>
              <a:t>10. </a:t>
            </a:r>
            <a:r>
              <a:rPr lang="en-US" sz="1800" b="1" dirty="0">
                <a:latin typeface="Times New Roman" panose="02020603050405020304" pitchFamily="18" charset="0"/>
                <a:cs typeface="Times New Roman" panose="02020603050405020304" pitchFamily="18" charset="0"/>
              </a:rPr>
              <a:t>Classification &amp; Final KG </a:t>
            </a:r>
            <a:r>
              <a:rPr lang="en-US" sz="1800" b="1" dirty="0" smtClean="0">
                <a:latin typeface="Times New Roman" panose="02020603050405020304" pitchFamily="18" charset="0"/>
                <a:cs typeface="Times New Roman" panose="02020603050405020304" pitchFamily="18" charset="0"/>
              </a:rPr>
              <a:t>Output</a:t>
            </a:r>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Concatenated dual-view embeddings and trained MLP classifier for final sentiment prediction</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Evaluated using Accuracy, Precision, Recall, F1-Score and plotted Confusion Matrix for correctness</a:t>
            </a:r>
            <a:r>
              <a:rPr lang="en-US" sz="1800" dirty="0" smtClean="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Exported </a:t>
            </a:r>
            <a:r>
              <a:rPr lang="en-US" sz="1800" b="1" dirty="0">
                <a:latin typeface="Times New Roman" panose="02020603050405020304" pitchFamily="18" charset="0"/>
                <a:cs typeface="Times New Roman" panose="02020603050405020304" pitchFamily="18" charset="0"/>
              </a:rPr>
              <a:t>cleaner enriched Knowledge Graph</a:t>
            </a:r>
            <a:r>
              <a:rPr lang="en-US" sz="1800" dirty="0">
                <a:latin typeface="Times New Roman" panose="02020603050405020304" pitchFamily="18" charset="0"/>
                <a:cs typeface="Times New Roman" panose="02020603050405020304" pitchFamily="18" charset="0"/>
              </a:rPr>
              <a:t> where noisy edges removed and meaningful relations strengthened for future applications.</a:t>
            </a:r>
            <a:endParaRPr lang="en-US" sz="1800"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74241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CBBF91-0A15-48EF-BA43-03A954C898A4}" type="datetime1">
              <a:rPr lang="en-US" smtClean="0"/>
              <a:t>2/9/2026</a:t>
            </a:fld>
            <a:endParaRPr lang="en-US"/>
          </a:p>
        </p:txBody>
      </p:sp>
      <p:sp>
        <p:nvSpPr>
          <p:cNvPr id="3" name="Footer Placeholder 2"/>
          <p:cNvSpPr>
            <a:spLocks noGrp="1"/>
          </p:cNvSpPr>
          <p:nvPr>
            <p:ph type="ftr" sz="quarter" idx="11"/>
          </p:nvPr>
        </p:nvSpPr>
        <p:spPr/>
        <p:txBody>
          <a:bodyPr/>
          <a:lstStyle/>
          <a:p>
            <a:r>
              <a:rPr lang="en-US" smtClean="0"/>
              <a:t>Review No. 3     Batch No.CG11         Department of CSE</a:t>
            </a:r>
            <a:endParaRPr lang="en-US"/>
          </a:p>
        </p:txBody>
      </p:sp>
      <p:sp>
        <p:nvSpPr>
          <p:cNvPr id="4" name="Slide Number Placeholder 3"/>
          <p:cNvSpPr>
            <a:spLocks noGrp="1"/>
          </p:cNvSpPr>
          <p:nvPr>
            <p:ph type="sldNum" sz="quarter" idx="12"/>
          </p:nvPr>
        </p:nvSpPr>
        <p:spPr/>
        <p:txBody>
          <a:bodyPr/>
          <a:lstStyle/>
          <a:p>
            <a:fld id="{FFEC67FC-8107-4C00-9415-4D1567E899B9}" type="slidenum">
              <a:rPr lang="en-US" smtClean="0"/>
              <a:t>19</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606"/>
            <a:ext cx="4677428" cy="72207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705" y="727789"/>
            <a:ext cx="11298246" cy="1499501"/>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845" y="2401191"/>
            <a:ext cx="6115080" cy="4013677"/>
          </a:xfrm>
          <a:prstGeom prst="rect">
            <a:avLst/>
          </a:prstGeom>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04125" y="2255474"/>
            <a:ext cx="4608904" cy="4100876"/>
          </a:xfrm>
          <a:prstGeom prst="rect">
            <a:avLst/>
          </a:prstGeom>
        </p:spPr>
      </p:pic>
    </p:spTree>
    <p:extLst>
      <p:ext uri="{BB962C8B-B14F-4D97-AF65-F5344CB8AC3E}">
        <p14:creationId xmlns:p14="http://schemas.microsoft.com/office/powerpoint/2010/main" val="20725567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5B6E10-57BB-4E13-903C-0B37C1DA0A09}" type="datetime1">
              <a:rPr lang="en-US" smtClean="0"/>
              <a:t>2/9/2026</a:t>
            </a:fld>
            <a:endParaRPr lang="en-US"/>
          </a:p>
        </p:txBody>
      </p:sp>
      <p:sp>
        <p:nvSpPr>
          <p:cNvPr id="3" name="Footer Placeholder 2"/>
          <p:cNvSpPr>
            <a:spLocks noGrp="1"/>
          </p:cNvSpPr>
          <p:nvPr>
            <p:ph type="ftr" sz="quarter" idx="11"/>
          </p:nvPr>
        </p:nvSpPr>
        <p:spPr/>
        <p:txBody>
          <a:bodyPr/>
          <a:lstStyle/>
          <a:p>
            <a:r>
              <a:rPr lang="en-US" smtClean="0"/>
              <a:t>Review No. 3     Batch No.CG11         Department of CSE</a:t>
            </a:r>
            <a:endParaRPr lang="en-US"/>
          </a:p>
        </p:txBody>
      </p:sp>
      <p:sp>
        <p:nvSpPr>
          <p:cNvPr id="4" name="Slide Number Placeholder 3"/>
          <p:cNvSpPr>
            <a:spLocks noGrp="1"/>
          </p:cNvSpPr>
          <p:nvPr>
            <p:ph type="sldNum" sz="quarter" idx="12"/>
          </p:nvPr>
        </p:nvSpPr>
        <p:spPr/>
        <p:txBody>
          <a:bodyPr/>
          <a:lstStyle/>
          <a:p>
            <a:fld id="{FFEC67FC-8107-4C00-9415-4D1567E899B9}" type="slidenum">
              <a:rPr lang="en-US" smtClean="0"/>
              <a:t>20</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241" y="856837"/>
            <a:ext cx="5485683" cy="512408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02924" y="856837"/>
            <a:ext cx="6065615" cy="4993457"/>
          </a:xfrm>
          <a:prstGeom prst="rect">
            <a:avLst/>
          </a:prstGeom>
        </p:spPr>
      </p:pic>
    </p:spTree>
    <p:extLst>
      <p:ext uri="{BB962C8B-B14F-4D97-AF65-F5344CB8AC3E}">
        <p14:creationId xmlns:p14="http://schemas.microsoft.com/office/powerpoint/2010/main" val="35323220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System Requirements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graphicFrame>
        <p:nvGraphicFramePr>
          <p:cNvPr id="5" name="Content Placeholder 4"/>
          <p:cNvGraphicFramePr>
            <a:graphicFrameLocks noGrp="1"/>
          </p:cNvGraphicFramePr>
          <p:nvPr>
            <p:ph idx="1"/>
            <p:extLst>
              <p:ext uri="{D42A27DB-BD31-4B8C-83A1-F6EECF244321}">
                <p14:modId xmlns:p14="http://schemas.microsoft.com/office/powerpoint/2010/main" val="2319402869"/>
              </p:ext>
            </p:extLst>
          </p:nvPr>
        </p:nvGraphicFramePr>
        <p:xfrm>
          <a:off x="903515" y="1726163"/>
          <a:ext cx="10449114" cy="3032451"/>
        </p:xfrm>
        <a:graphic>
          <a:graphicData uri="http://schemas.openxmlformats.org/drawingml/2006/table">
            <a:tbl>
              <a:tblPr firstCol="1" lastCol="1">
                <a:tableStyleId>{2D5ABB26-0587-4C30-8999-92F81FD0307C}</a:tableStyleId>
              </a:tblPr>
              <a:tblGrid>
                <a:gridCol w="5224557">
                  <a:extLst>
                    <a:ext uri="{9D8B030D-6E8A-4147-A177-3AD203B41FA5}">
                      <a16:colId xmlns:a16="http://schemas.microsoft.com/office/drawing/2014/main" val="3963560326"/>
                    </a:ext>
                  </a:extLst>
                </a:gridCol>
                <a:gridCol w="5224557">
                  <a:extLst>
                    <a:ext uri="{9D8B030D-6E8A-4147-A177-3AD203B41FA5}">
                      <a16:colId xmlns:a16="http://schemas.microsoft.com/office/drawing/2014/main" val="1271022387"/>
                    </a:ext>
                  </a:extLst>
                </a:gridCol>
              </a:tblGrid>
              <a:tr h="367570">
                <a:tc>
                  <a:txBody>
                    <a:bodyPr/>
                    <a:lstStyle/>
                    <a:p>
                      <a:r>
                        <a:rPr lang="en-US" dirty="0" smtClean="0"/>
                        <a:t>Software </a:t>
                      </a:r>
                      <a:r>
                        <a:rPr lang="en-US" dirty="0"/>
                        <a:t>Specifications</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r>
                        <a:rPr lang="en-US" dirty="0" smtClean="0"/>
                        <a:t> </a:t>
                      </a:r>
                      <a:r>
                        <a:rPr lang="en-US" dirty="0"/>
                        <a:t>Hardware Specifications</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040688663"/>
                  </a:ext>
                </a:extLst>
              </a:tr>
              <a:tr h="367570">
                <a:tc>
                  <a:txBody>
                    <a:bodyPr/>
                    <a:lstStyle/>
                    <a:p>
                      <a:r>
                        <a:rPr lang="en-US" dirty="0"/>
                        <a:t>Programming Language: Python</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Processor: x64-based CPU (6 MB cache)</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2642095"/>
                  </a:ext>
                </a:extLst>
              </a:tr>
              <a:tr h="643247">
                <a:tc>
                  <a:txBody>
                    <a:bodyPr/>
                    <a:lstStyle/>
                    <a:p>
                      <a:r>
                        <a:rPr lang="en-US" dirty="0"/>
                        <a:t>Frameworks: </a:t>
                      </a:r>
                      <a:r>
                        <a:rPr lang="en-US" dirty="0" err="1"/>
                        <a:t>PyTorch</a:t>
                      </a:r>
                      <a:r>
                        <a:rPr lang="en-US" dirty="0"/>
                        <a:t> Geometric (for GAT &amp; R-GCN), </a:t>
                      </a:r>
                      <a:r>
                        <a:rPr lang="en-US" dirty="0" err="1"/>
                        <a:t>Scikit</a:t>
                      </a:r>
                      <a:r>
                        <a:rPr lang="en-US" dirty="0"/>
                        <a:t>-learn (for classification &amp; PCA)</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RAM: 16 GB</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4935437"/>
                  </a:ext>
                </a:extLst>
              </a:tr>
              <a:tr h="918924">
                <a:tc>
                  <a:txBody>
                    <a:bodyPr/>
                    <a:lstStyle/>
                    <a:p>
                      <a:r>
                        <a:rPr lang="en-US" dirty="0"/>
                        <a:t>Libraries: NLTK (text preprocessing), </a:t>
                      </a:r>
                      <a:r>
                        <a:rPr lang="en-US" dirty="0" err="1"/>
                        <a:t>SentenceTransformers</a:t>
                      </a:r>
                      <a:r>
                        <a:rPr lang="en-US" dirty="0"/>
                        <a:t> (all-MiniLM-L6-v2), </a:t>
                      </a:r>
                      <a:r>
                        <a:rPr lang="en-US" dirty="0" err="1"/>
                        <a:t>Matplotlib</a:t>
                      </a:r>
                      <a:r>
                        <a:rPr lang="en-US" dirty="0"/>
                        <a:t> &amp; </a:t>
                      </a:r>
                      <a:r>
                        <a:rPr lang="en-US" dirty="0" err="1"/>
                        <a:t>NetworkX</a:t>
                      </a:r>
                      <a:r>
                        <a:rPr lang="en-US" dirty="0"/>
                        <a:t> (visualization)</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Storage: ≥ 10 GB free disk space</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0672716"/>
                  </a:ext>
                </a:extLst>
              </a:tr>
              <a:tr h="367570">
                <a:tc>
                  <a:txBody>
                    <a:bodyPr/>
                    <a:lstStyle/>
                    <a:p>
                      <a:r>
                        <a:rPr lang="en-US" dirty="0"/>
                        <a:t>Environment: </a:t>
                      </a:r>
                      <a:r>
                        <a:rPr lang="en-US" dirty="0" smtClean="0"/>
                        <a:t>Google </a:t>
                      </a:r>
                      <a:r>
                        <a:rPr lang="en-US" dirty="0" err="1"/>
                        <a:t>Colab</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7565910"/>
                  </a:ext>
                </a:extLst>
              </a:tr>
              <a:tr h="367570">
                <a:tc>
                  <a:txBody>
                    <a:bodyPr/>
                    <a:lstStyle/>
                    <a:p>
                      <a:r>
                        <a:rPr lang="en-US" dirty="0"/>
                        <a:t>Operating System: Windows </a:t>
                      </a:r>
                      <a:r>
                        <a:rPr lang="en-US" dirty="0" smtClean="0"/>
                        <a:t>11</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091251"/>
                  </a:ext>
                </a:extLst>
              </a:tr>
            </a:tbl>
          </a:graphicData>
        </a:graphic>
      </p:graphicFrame>
      <p:sp>
        <p:nvSpPr>
          <p:cNvPr id="3" name="Date Placeholder 2"/>
          <p:cNvSpPr>
            <a:spLocks noGrp="1"/>
          </p:cNvSpPr>
          <p:nvPr>
            <p:ph type="dt" sz="half" idx="10"/>
          </p:nvPr>
        </p:nvSpPr>
        <p:spPr/>
        <p:txBody>
          <a:bodyPr/>
          <a:lstStyle/>
          <a:p>
            <a:fld id="{C28A81F8-2513-4B9F-80C6-A8A714D9E3DC}"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21</a:t>
            </a:fld>
            <a:endParaRPr lang="en-US"/>
          </a:p>
        </p:txBody>
      </p:sp>
    </p:spTree>
    <p:extLst>
      <p:ext uri="{BB962C8B-B14F-4D97-AF65-F5344CB8AC3E}">
        <p14:creationId xmlns:p14="http://schemas.microsoft.com/office/powerpoint/2010/main" val="41353736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Results &amp; Analysis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graphicFrame>
        <p:nvGraphicFramePr>
          <p:cNvPr id="5" name="Content Placeholder 4"/>
          <p:cNvGraphicFramePr>
            <a:graphicFrameLocks noGrp="1"/>
          </p:cNvGraphicFramePr>
          <p:nvPr>
            <p:ph idx="1"/>
            <p:extLst>
              <p:ext uri="{D42A27DB-BD31-4B8C-83A1-F6EECF244321}">
                <p14:modId xmlns:p14="http://schemas.microsoft.com/office/powerpoint/2010/main" val="1622069527"/>
              </p:ext>
            </p:extLst>
          </p:nvPr>
        </p:nvGraphicFramePr>
        <p:xfrm>
          <a:off x="838199" y="1602567"/>
          <a:ext cx="10515600" cy="2484985"/>
        </p:xfrm>
        <a:graphic>
          <a:graphicData uri="http://schemas.openxmlformats.org/drawingml/2006/table">
            <a:tbl>
              <a:tblPr firstRow="1" bandRow="1">
                <a:tableStyleId>{00A15C55-8517-42AA-B614-E9B94910E393}</a:tableStyleId>
              </a:tblPr>
              <a:tblGrid>
                <a:gridCol w="2628900">
                  <a:extLst>
                    <a:ext uri="{9D8B030D-6E8A-4147-A177-3AD203B41FA5}">
                      <a16:colId xmlns:a16="http://schemas.microsoft.com/office/drawing/2014/main" val="643490951"/>
                    </a:ext>
                  </a:extLst>
                </a:gridCol>
                <a:gridCol w="2628900">
                  <a:extLst>
                    <a:ext uri="{9D8B030D-6E8A-4147-A177-3AD203B41FA5}">
                      <a16:colId xmlns:a16="http://schemas.microsoft.com/office/drawing/2014/main" val="922961787"/>
                    </a:ext>
                  </a:extLst>
                </a:gridCol>
                <a:gridCol w="2628900">
                  <a:extLst>
                    <a:ext uri="{9D8B030D-6E8A-4147-A177-3AD203B41FA5}">
                      <a16:colId xmlns:a16="http://schemas.microsoft.com/office/drawing/2014/main" val="3422833694"/>
                    </a:ext>
                  </a:extLst>
                </a:gridCol>
                <a:gridCol w="2628900">
                  <a:extLst>
                    <a:ext uri="{9D8B030D-6E8A-4147-A177-3AD203B41FA5}">
                      <a16:colId xmlns:a16="http://schemas.microsoft.com/office/drawing/2014/main" val="2292067213"/>
                    </a:ext>
                  </a:extLst>
                </a:gridCol>
              </a:tblGrid>
              <a:tr h="636871">
                <a:tc>
                  <a:txBody>
                    <a:bodyPr/>
                    <a:lstStyle/>
                    <a:p>
                      <a:r>
                        <a:rPr lang="en-US" dirty="0" smtClean="0"/>
                        <a:t>Metric</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dirty="0" smtClean="0"/>
                        <a:t>GAT</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R-GCN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smtClean="0"/>
                        <a:t>GAT+R-GCN+CL(hybrid</a:t>
                      </a:r>
                      <a:r>
                        <a:rPr lang="en-US" baseline="0" dirty="0" smtClean="0"/>
                        <a:t> model)</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3569415"/>
                  </a:ext>
                </a:extLst>
              </a:tr>
              <a:tr h="368981">
                <a:tc>
                  <a:txBody>
                    <a:bodyPr/>
                    <a:lstStyle/>
                    <a:p>
                      <a:r>
                        <a:rPr lang="en-US" dirty="0" smtClean="0"/>
                        <a:t>Accuracy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88.12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89.40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92.34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23157151"/>
                  </a:ext>
                </a:extLst>
              </a:tr>
              <a:tr h="368981">
                <a:tc>
                  <a:txBody>
                    <a:bodyPr/>
                    <a:lstStyle/>
                    <a:p>
                      <a:r>
                        <a:rPr lang="en-US" dirty="0" smtClean="0"/>
                        <a:t>Precision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85.0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87.0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91.0</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90257456"/>
                  </a:ext>
                </a:extLst>
              </a:tr>
              <a:tr h="368981">
                <a:tc>
                  <a:txBody>
                    <a:bodyPr/>
                    <a:lstStyle/>
                    <a:p>
                      <a:r>
                        <a:rPr lang="en-US" dirty="0" smtClean="0"/>
                        <a:t>F1-Score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86.4</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88.2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92.3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787968038"/>
                  </a:ext>
                </a:extLst>
              </a:tr>
              <a:tr h="368981">
                <a:tc>
                  <a:txBody>
                    <a:bodyPr/>
                    <a:lstStyle/>
                    <a:p>
                      <a:r>
                        <a:rPr lang="en-US" dirty="0" smtClean="0"/>
                        <a:t>AUC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90.2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91.3</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94.7</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8104310"/>
                  </a:ext>
                </a:extLst>
              </a:tr>
              <a:tr h="368981">
                <a:tc>
                  <a:txBody>
                    <a:bodyPr/>
                    <a:lstStyle/>
                    <a:p>
                      <a:r>
                        <a:rPr lang="en-US" dirty="0" smtClean="0"/>
                        <a:t>Training Time (s)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32</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35</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smtClean="0"/>
                        <a:t>68</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9664565"/>
                  </a:ext>
                </a:extLst>
              </a:tr>
            </a:tbl>
          </a:graphicData>
        </a:graphic>
      </p:graphicFrame>
      <p:sp>
        <p:nvSpPr>
          <p:cNvPr id="7" name="Rectangle 6"/>
          <p:cNvSpPr/>
          <p:nvPr/>
        </p:nvSpPr>
        <p:spPr>
          <a:xfrm>
            <a:off x="838200" y="4425585"/>
            <a:ext cx="10515599" cy="1200329"/>
          </a:xfrm>
          <a:prstGeom prst="rect">
            <a:avLst/>
          </a:prstGeom>
        </p:spPr>
        <p:txBody>
          <a:bodyPr wrap="square">
            <a:spAutoFit/>
          </a:bodyPr>
          <a:lstStyle/>
          <a:p>
            <a:r>
              <a:rPr lang="en-US" dirty="0" smtClean="0">
                <a:latin typeface="Times New Roman" panose="02020603050405020304" pitchFamily="18" charset="0"/>
                <a:cs typeface="Times New Roman" panose="02020603050405020304" pitchFamily="18" charset="0"/>
              </a:rPr>
              <a:t>1. The hybrid </a:t>
            </a:r>
            <a:r>
              <a:rPr lang="en-US" b="1" dirty="0" smtClean="0">
                <a:latin typeface="Times New Roman" panose="02020603050405020304" pitchFamily="18" charset="0"/>
                <a:cs typeface="Times New Roman" panose="02020603050405020304" pitchFamily="18" charset="0"/>
              </a:rPr>
              <a:t>GAT + R-GCN + Contrastive Learning</a:t>
            </a:r>
            <a:r>
              <a:rPr lang="en-US" dirty="0" smtClean="0">
                <a:latin typeface="Times New Roman" panose="02020603050405020304" pitchFamily="18" charset="0"/>
                <a:cs typeface="Times New Roman" panose="02020603050405020304" pitchFamily="18" charset="0"/>
              </a:rPr>
              <a:t> model achieved the </a:t>
            </a:r>
            <a:r>
              <a:rPr lang="en-US" b="1" dirty="0" smtClean="0">
                <a:latin typeface="Times New Roman" panose="02020603050405020304" pitchFamily="18" charset="0"/>
                <a:cs typeface="Times New Roman" panose="02020603050405020304" pitchFamily="18" charset="0"/>
              </a:rPr>
              <a:t>highest accuracy of 92.34%</a:t>
            </a:r>
            <a:r>
              <a:rPr lang="en-US" dirty="0" smtClean="0">
                <a:latin typeface="Times New Roman" panose="02020603050405020304" pitchFamily="18" charset="0"/>
                <a:cs typeface="Times New Roman" panose="02020603050405020304" pitchFamily="18" charset="0"/>
              </a:rPr>
              <a:t>.</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2. It showed an improved </a:t>
            </a:r>
            <a:r>
              <a:rPr lang="en-US" b="1" dirty="0" smtClean="0">
                <a:latin typeface="Times New Roman" panose="02020603050405020304" pitchFamily="18" charset="0"/>
                <a:cs typeface="Times New Roman" panose="02020603050405020304" pitchFamily="18" charset="0"/>
              </a:rPr>
              <a:t>F1-Score of 92.3%</a:t>
            </a:r>
            <a:r>
              <a:rPr lang="en-US" dirty="0" smtClean="0">
                <a:latin typeface="Times New Roman" panose="02020603050405020304" pitchFamily="18" charset="0"/>
                <a:cs typeface="Times New Roman" panose="02020603050405020304" pitchFamily="18" charset="0"/>
              </a:rPr>
              <a:t>, indicating balanced and reliable performance.</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3. The model reached an </a:t>
            </a:r>
            <a:r>
              <a:rPr lang="en-US" b="1" dirty="0" smtClean="0">
                <a:latin typeface="Times New Roman" panose="02020603050405020304" pitchFamily="18" charset="0"/>
                <a:cs typeface="Times New Roman" panose="02020603050405020304" pitchFamily="18" charset="0"/>
              </a:rPr>
              <a:t>AUC of 94.7%</a:t>
            </a:r>
            <a:r>
              <a:rPr lang="en-US" dirty="0" smtClean="0">
                <a:latin typeface="Times New Roman" panose="02020603050405020304" pitchFamily="18" charset="0"/>
                <a:cs typeface="Times New Roman" panose="02020603050405020304" pitchFamily="18" charset="0"/>
              </a:rPr>
              <a:t>, proving strong classification and ranking ability.</a:t>
            </a:r>
            <a:br>
              <a:rPr lang="en-US" dirty="0" smtClean="0">
                <a:latin typeface="Times New Roman" panose="02020603050405020304" pitchFamily="18" charset="0"/>
                <a:cs typeface="Times New Roman" panose="02020603050405020304" pitchFamily="18" charset="0"/>
              </a:rPr>
            </a:br>
            <a:r>
              <a:rPr lang="en-US" dirty="0" smtClean="0">
                <a:latin typeface="Times New Roman" panose="02020603050405020304" pitchFamily="18" charset="0"/>
                <a:cs typeface="Times New Roman" panose="02020603050405020304" pitchFamily="18" charset="0"/>
              </a:rPr>
              <a:t>4. </a:t>
            </a:r>
            <a:r>
              <a:rPr lang="en-US" b="1" dirty="0">
                <a:latin typeface="Times New Roman" panose="02020603050405020304" pitchFamily="18" charset="0"/>
                <a:cs typeface="Times New Roman" panose="02020603050405020304" pitchFamily="18" charset="0"/>
              </a:rPr>
              <a:t>T</a:t>
            </a:r>
            <a:r>
              <a:rPr lang="en-US" b="1" dirty="0" smtClean="0">
                <a:latin typeface="Times New Roman" panose="02020603050405020304" pitchFamily="18" charset="0"/>
                <a:cs typeface="Times New Roman" panose="02020603050405020304" pitchFamily="18" charset="0"/>
              </a:rPr>
              <a:t>raining convergence was faster and smoother</a:t>
            </a:r>
            <a:r>
              <a:rPr lang="en-US" dirty="0" smtClean="0">
                <a:latin typeface="Times New Roman" panose="02020603050405020304" pitchFamily="18" charset="0"/>
                <a:cs typeface="Times New Roman" panose="02020603050405020304" pitchFamily="18" charset="0"/>
              </a:rPr>
              <a:t>, demonstrating effective optimization and stability.</a:t>
            </a:r>
            <a:endParaRPr lang="en-US" dirty="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149B8607-CDE3-4026-A8A4-CAF1D3E31C31}"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8" name="Slide Number Placeholder 7"/>
          <p:cNvSpPr>
            <a:spLocks noGrp="1"/>
          </p:cNvSpPr>
          <p:nvPr>
            <p:ph type="sldNum" sz="quarter" idx="12"/>
          </p:nvPr>
        </p:nvSpPr>
        <p:spPr/>
        <p:txBody>
          <a:bodyPr/>
          <a:lstStyle/>
          <a:p>
            <a:fld id="{FFEC67FC-8107-4C00-9415-4D1567E899B9}" type="slidenum">
              <a:rPr lang="en-US" smtClean="0"/>
              <a:t>22</a:t>
            </a:fld>
            <a:endParaRPr lang="en-US"/>
          </a:p>
        </p:txBody>
      </p:sp>
    </p:spTree>
    <p:extLst>
      <p:ext uri="{BB962C8B-B14F-4D97-AF65-F5344CB8AC3E}">
        <p14:creationId xmlns:p14="http://schemas.microsoft.com/office/powerpoint/2010/main" val="24313462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Results &amp; Analysis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pic>
        <p:nvPicPr>
          <p:cNvPr id="8" name="Content Placeholder 7"/>
          <p:cNvPicPr>
            <a:picLocks noGrp="1"/>
          </p:cNvPicPr>
          <p:nvPr>
            <p:ph idx="1"/>
          </p:nvPr>
        </p:nvPicPr>
        <p:blipFill>
          <a:blip r:embed="rId3"/>
          <a:stretch>
            <a:fillRect/>
          </a:stretch>
        </p:blipFill>
        <p:spPr>
          <a:xfrm>
            <a:off x="1331126" y="1662696"/>
            <a:ext cx="4332106" cy="3887788"/>
          </a:xfrm>
          <a:prstGeom prst="rect">
            <a:avLst/>
          </a:prstGeom>
        </p:spPr>
      </p:pic>
      <p:pic>
        <p:nvPicPr>
          <p:cNvPr id="10" name="Picture 9"/>
          <p:cNvPicPr/>
          <p:nvPr/>
        </p:nvPicPr>
        <p:blipFill>
          <a:blip r:embed="rId4"/>
          <a:stretch>
            <a:fillRect/>
          </a:stretch>
        </p:blipFill>
        <p:spPr>
          <a:xfrm>
            <a:off x="6910978" y="1999829"/>
            <a:ext cx="4231573" cy="3550655"/>
          </a:xfrm>
          <a:prstGeom prst="rect">
            <a:avLst/>
          </a:prstGeom>
        </p:spPr>
      </p:pic>
      <p:sp>
        <p:nvSpPr>
          <p:cNvPr id="3" name="Date Placeholder 2"/>
          <p:cNvSpPr>
            <a:spLocks noGrp="1"/>
          </p:cNvSpPr>
          <p:nvPr>
            <p:ph type="dt" sz="half" idx="10"/>
          </p:nvPr>
        </p:nvSpPr>
        <p:spPr/>
        <p:txBody>
          <a:bodyPr/>
          <a:lstStyle/>
          <a:p>
            <a:fld id="{96909C21-BAAC-4D2B-B8E2-D45E28CD85BC}"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23</a:t>
            </a:fld>
            <a:endParaRPr lang="en-US"/>
          </a:p>
        </p:txBody>
      </p:sp>
      <p:sp>
        <p:nvSpPr>
          <p:cNvPr id="7" name="Rectangle 6"/>
          <p:cNvSpPr/>
          <p:nvPr/>
        </p:nvSpPr>
        <p:spPr>
          <a:xfrm>
            <a:off x="2682885" y="5550483"/>
            <a:ext cx="1832553" cy="369332"/>
          </a:xfrm>
          <a:prstGeom prst="rect">
            <a:avLst/>
          </a:prstGeom>
        </p:spPr>
        <p:txBody>
          <a:bodyPr wrap="none">
            <a:spAutoFit/>
          </a:bodyPr>
          <a:lstStyle/>
          <a:p>
            <a:r>
              <a:rPr lang="en-US" dirty="0">
                <a:latin typeface="Times New Roman" panose="02020603050405020304" pitchFamily="18" charset="0"/>
                <a:ea typeface="Calibri" panose="020F0502020204030204" pitchFamily="34" charset="0"/>
                <a:cs typeface="Times New Roman" panose="02020603050405020304" pitchFamily="18" charset="0"/>
              </a:rPr>
              <a:t>Confusion Matrix</a:t>
            </a:r>
            <a:endParaRPr lang="en-US" dirty="0">
              <a:latin typeface="Times New Roman" panose="02020603050405020304" pitchFamily="18" charset="0"/>
              <a:cs typeface="Times New Roman" panose="02020603050405020304" pitchFamily="18" charset="0"/>
            </a:endParaRPr>
          </a:p>
        </p:txBody>
      </p:sp>
      <p:sp>
        <p:nvSpPr>
          <p:cNvPr id="9" name="Rectangle 8"/>
          <p:cNvSpPr/>
          <p:nvPr/>
        </p:nvSpPr>
        <p:spPr>
          <a:xfrm>
            <a:off x="8242642" y="5518285"/>
            <a:ext cx="2087303" cy="369332"/>
          </a:xfrm>
          <a:prstGeom prst="rect">
            <a:avLst/>
          </a:prstGeom>
        </p:spPr>
        <p:txBody>
          <a:bodyPr wrap="none">
            <a:spAutoFit/>
          </a:bodyPr>
          <a:lstStyle/>
          <a:p>
            <a:r>
              <a:rPr lang="en-US" dirty="0">
                <a:latin typeface="Times New Roman" panose="02020603050405020304" pitchFamily="18" charset="0"/>
                <a:ea typeface="Calibri" panose="020F0502020204030204" pitchFamily="34" charset="0"/>
                <a:cs typeface="Times New Roman" panose="02020603050405020304" pitchFamily="18" charset="0"/>
              </a:rPr>
              <a:t>Training Loss Curve</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86971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Results &amp; Analysis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pic>
        <p:nvPicPr>
          <p:cNvPr id="10" name="Content Placeholder 9"/>
          <p:cNvPicPr>
            <a:picLocks noGrp="1"/>
          </p:cNvPicPr>
          <p:nvPr>
            <p:ph idx="1"/>
          </p:nvPr>
        </p:nvPicPr>
        <p:blipFill>
          <a:blip r:embed="rId3"/>
          <a:stretch>
            <a:fillRect/>
          </a:stretch>
        </p:blipFill>
        <p:spPr>
          <a:xfrm>
            <a:off x="838200" y="1486234"/>
            <a:ext cx="5223147" cy="4102804"/>
          </a:xfrm>
          <a:prstGeom prst="rect">
            <a:avLst/>
          </a:prstGeom>
        </p:spPr>
      </p:pic>
      <p:pic>
        <p:nvPicPr>
          <p:cNvPr id="11" name="Picture 10"/>
          <p:cNvPicPr/>
          <p:nvPr/>
        </p:nvPicPr>
        <p:blipFill>
          <a:blip r:embed="rId4"/>
          <a:stretch>
            <a:fillRect/>
          </a:stretch>
        </p:blipFill>
        <p:spPr>
          <a:xfrm>
            <a:off x="6689558" y="1662697"/>
            <a:ext cx="4664241" cy="3926341"/>
          </a:xfrm>
          <a:prstGeom prst="rect">
            <a:avLst/>
          </a:prstGeom>
        </p:spPr>
      </p:pic>
      <p:sp>
        <p:nvSpPr>
          <p:cNvPr id="3" name="Date Placeholder 2"/>
          <p:cNvSpPr>
            <a:spLocks noGrp="1"/>
          </p:cNvSpPr>
          <p:nvPr>
            <p:ph type="dt" sz="half" idx="10"/>
          </p:nvPr>
        </p:nvSpPr>
        <p:spPr/>
        <p:txBody>
          <a:bodyPr/>
          <a:lstStyle/>
          <a:p>
            <a:fld id="{E73267A2-ED16-4FA8-B0C5-06B122A619B7}"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24</a:t>
            </a:fld>
            <a:endParaRPr lang="en-US"/>
          </a:p>
        </p:txBody>
      </p:sp>
      <p:sp>
        <p:nvSpPr>
          <p:cNvPr id="7" name="Rectangle 6"/>
          <p:cNvSpPr/>
          <p:nvPr/>
        </p:nvSpPr>
        <p:spPr>
          <a:xfrm>
            <a:off x="1120535" y="5603362"/>
            <a:ext cx="5114542" cy="369332"/>
          </a:xfrm>
          <a:prstGeom prst="rect">
            <a:avLst/>
          </a:prstGeom>
        </p:spPr>
        <p:txBody>
          <a:bodyPr wrap="none">
            <a:spAutoFit/>
          </a:bodyPr>
          <a:lstStyle/>
          <a:p>
            <a:r>
              <a:rPr lang="en-US" dirty="0">
                <a:latin typeface="Times New Roman" panose="02020603050405020304" pitchFamily="18" charset="0"/>
                <a:ea typeface="Calibri" panose="020F0502020204030204" pitchFamily="34" charset="0"/>
                <a:cs typeface="Times New Roman" panose="02020603050405020304" pitchFamily="18" charset="0"/>
              </a:rPr>
              <a:t>Comparison of GAT, R-GCN, and GAT+R-GCN+CL</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7765532" y="5610524"/>
            <a:ext cx="3140603" cy="369332"/>
          </a:xfrm>
          <a:prstGeom prst="rect">
            <a:avLst/>
          </a:prstGeom>
        </p:spPr>
        <p:txBody>
          <a:bodyPr wrap="none">
            <a:spAutoFit/>
          </a:bodyPr>
          <a:lstStyle/>
          <a:p>
            <a:r>
              <a:rPr lang="en-US" dirty="0">
                <a:latin typeface="Times New Roman" panose="02020603050405020304" pitchFamily="18" charset="0"/>
                <a:ea typeface="Calibri" panose="020F0502020204030204" pitchFamily="34" charset="0"/>
                <a:cs typeface="Times New Roman" panose="02020603050405020304" pitchFamily="18" charset="0"/>
              </a:rPr>
              <a:t>Final Model Evaluation Metrics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611671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Results &amp; Analysis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3" name="Date Placeholder 2"/>
          <p:cNvSpPr>
            <a:spLocks noGrp="1"/>
          </p:cNvSpPr>
          <p:nvPr>
            <p:ph type="dt" sz="half" idx="10"/>
          </p:nvPr>
        </p:nvSpPr>
        <p:spPr/>
        <p:txBody>
          <a:bodyPr/>
          <a:lstStyle/>
          <a:p>
            <a:fld id="{6935C765-4E95-4B49-A2D2-4CAB1DC12546}"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25</a:t>
            </a:fld>
            <a:endParaRPr lang="en-US"/>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812" y="1352939"/>
            <a:ext cx="5673013" cy="4260577"/>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6825" y="1449153"/>
            <a:ext cx="5430417" cy="4646645"/>
          </a:xfrm>
          <a:prstGeom prst="rect">
            <a:avLst/>
          </a:prstGeom>
        </p:spPr>
      </p:pic>
    </p:spTree>
    <p:extLst>
      <p:ext uri="{BB962C8B-B14F-4D97-AF65-F5344CB8AC3E}">
        <p14:creationId xmlns:p14="http://schemas.microsoft.com/office/powerpoint/2010/main" val="2425300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Results &amp; Analysis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3" name="Date Placeholder 2"/>
          <p:cNvSpPr>
            <a:spLocks noGrp="1"/>
          </p:cNvSpPr>
          <p:nvPr>
            <p:ph type="dt" sz="half" idx="10"/>
          </p:nvPr>
        </p:nvSpPr>
        <p:spPr/>
        <p:txBody>
          <a:bodyPr/>
          <a:lstStyle/>
          <a:p>
            <a:fld id="{6935C765-4E95-4B49-A2D2-4CAB1DC12546}"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26</a:t>
            </a:fld>
            <a:endParaRPr lang="en-US"/>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903" y="1483264"/>
            <a:ext cx="5187822" cy="4111893"/>
          </a:xfrm>
          <a:prstGeom prst="rect">
            <a:avLst/>
          </a:prstGeom>
        </p:spPr>
      </p:pic>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28015" y="1716151"/>
            <a:ext cx="5456075" cy="3825551"/>
          </a:xfrm>
          <a:prstGeom prst="rect">
            <a:avLst/>
          </a:prstGeom>
        </p:spPr>
      </p:pic>
    </p:spTree>
    <p:extLst>
      <p:ext uri="{BB962C8B-B14F-4D97-AF65-F5344CB8AC3E}">
        <p14:creationId xmlns:p14="http://schemas.microsoft.com/office/powerpoint/2010/main" val="231196125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Results &amp; Analysis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3" name="Date Placeholder 2"/>
          <p:cNvSpPr>
            <a:spLocks noGrp="1"/>
          </p:cNvSpPr>
          <p:nvPr>
            <p:ph type="dt" sz="half" idx="10"/>
          </p:nvPr>
        </p:nvSpPr>
        <p:spPr/>
        <p:txBody>
          <a:bodyPr/>
          <a:lstStyle/>
          <a:p>
            <a:fld id="{6935C765-4E95-4B49-A2D2-4CAB1DC12546}"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27</a:t>
            </a:fld>
            <a:endParaRPr lang="en-US"/>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2444" y="1452799"/>
            <a:ext cx="4779270" cy="4145567"/>
          </a:xfrm>
          <a:prstGeom prst="rect">
            <a:avLst/>
          </a:prstGeom>
        </p:spPr>
      </p:pic>
      <p:pic>
        <p:nvPicPr>
          <p:cNvPr id="15" name="Picture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26155" y="1791474"/>
            <a:ext cx="4814596" cy="3844213"/>
          </a:xfrm>
          <a:prstGeom prst="rect">
            <a:avLst/>
          </a:prstGeom>
        </p:spPr>
      </p:pic>
    </p:spTree>
    <p:extLst>
      <p:ext uri="{BB962C8B-B14F-4D97-AF65-F5344CB8AC3E}">
        <p14:creationId xmlns:p14="http://schemas.microsoft.com/office/powerpoint/2010/main" val="32559931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Results &amp; Analysis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3" name="Date Placeholder 2"/>
          <p:cNvSpPr>
            <a:spLocks noGrp="1"/>
          </p:cNvSpPr>
          <p:nvPr>
            <p:ph type="dt" sz="half" idx="10"/>
          </p:nvPr>
        </p:nvSpPr>
        <p:spPr/>
        <p:txBody>
          <a:bodyPr/>
          <a:lstStyle/>
          <a:p>
            <a:fld id="{6935C765-4E95-4B49-A2D2-4CAB1DC12546}"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t>28</a:t>
            </a:fld>
            <a:endParaRPr lang="en-US"/>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7740" y="1662696"/>
            <a:ext cx="4273305" cy="3696978"/>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47654" y="1645245"/>
            <a:ext cx="5606145" cy="3607890"/>
          </a:xfrm>
          <a:prstGeom prst="rect">
            <a:avLst/>
          </a:prstGeom>
        </p:spPr>
      </p:pic>
    </p:spTree>
    <p:extLst>
      <p:ext uri="{BB962C8B-B14F-4D97-AF65-F5344CB8AC3E}">
        <p14:creationId xmlns:p14="http://schemas.microsoft.com/office/powerpoint/2010/main" val="3449256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3827"/>
            <a:ext cx="10515600" cy="1325563"/>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Comparative Analysis</a:t>
            </a:r>
            <a:endParaRPr lang="en-US" sz="2800" b="1" dirty="0">
              <a:latin typeface="Times New Roman" panose="02020603050405020304" pitchFamily="18" charset="0"/>
              <a:cs typeface="Times New Roman" panose="02020603050405020304" pitchFamily="18" charset="0"/>
            </a:endParaRPr>
          </a:p>
        </p:txBody>
      </p:sp>
      <p:graphicFrame>
        <p:nvGraphicFramePr>
          <p:cNvPr id="12" name="Content Placeholder 11"/>
          <p:cNvGraphicFramePr>
            <a:graphicFrameLocks noGrp="1"/>
          </p:cNvGraphicFramePr>
          <p:nvPr>
            <p:ph idx="1"/>
            <p:extLst>
              <p:ext uri="{D42A27DB-BD31-4B8C-83A1-F6EECF244321}">
                <p14:modId xmlns:p14="http://schemas.microsoft.com/office/powerpoint/2010/main" val="3435472333"/>
              </p:ext>
            </p:extLst>
          </p:nvPr>
        </p:nvGraphicFramePr>
        <p:xfrm>
          <a:off x="838200" y="1144270"/>
          <a:ext cx="10657113" cy="5212080"/>
        </p:xfrm>
        <a:graphic>
          <a:graphicData uri="http://schemas.openxmlformats.org/drawingml/2006/table">
            <a:tbl>
              <a:tblPr firstRow="1" bandRow="1">
                <a:tableStyleId>{5C22544A-7EE6-4342-B048-85BDC9FD1C3A}</a:tableStyleId>
              </a:tblPr>
              <a:tblGrid>
                <a:gridCol w="3552371">
                  <a:extLst>
                    <a:ext uri="{9D8B030D-6E8A-4147-A177-3AD203B41FA5}">
                      <a16:colId xmlns:a16="http://schemas.microsoft.com/office/drawing/2014/main" val="30016538"/>
                    </a:ext>
                  </a:extLst>
                </a:gridCol>
                <a:gridCol w="3552371">
                  <a:extLst>
                    <a:ext uri="{9D8B030D-6E8A-4147-A177-3AD203B41FA5}">
                      <a16:colId xmlns:a16="http://schemas.microsoft.com/office/drawing/2014/main" val="1773368902"/>
                    </a:ext>
                  </a:extLst>
                </a:gridCol>
                <a:gridCol w="3552371">
                  <a:extLst>
                    <a:ext uri="{9D8B030D-6E8A-4147-A177-3AD203B41FA5}">
                      <a16:colId xmlns:a16="http://schemas.microsoft.com/office/drawing/2014/main" val="108224996"/>
                    </a:ext>
                  </a:extLst>
                </a:gridCol>
              </a:tblGrid>
              <a:tr h="584096">
                <a:tc>
                  <a:txBody>
                    <a:bodyPr/>
                    <a:lstStyle/>
                    <a:p>
                      <a:r>
                        <a:rPr lang="en-US" dirty="0" smtClean="0">
                          <a:latin typeface="Times New Roman" panose="02020603050405020304" pitchFamily="18" charset="0"/>
                          <a:cs typeface="Times New Roman" panose="02020603050405020304" pitchFamily="18" charset="0"/>
                        </a:rPr>
                        <a:t>Aspect</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Base</a:t>
                      </a:r>
                      <a:r>
                        <a:rPr lang="en-US" baseline="0" dirty="0" smtClean="0">
                          <a:latin typeface="Times New Roman" panose="02020603050405020304" pitchFamily="18" charset="0"/>
                          <a:cs typeface="Times New Roman" panose="02020603050405020304" pitchFamily="18" charset="0"/>
                        </a:rPr>
                        <a:t> paper model (RCLKG)</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Present</a:t>
                      </a:r>
                      <a:r>
                        <a:rPr lang="en-US" baseline="0" dirty="0" smtClean="0">
                          <a:latin typeface="Times New Roman" panose="02020603050405020304" pitchFamily="18" charset="0"/>
                          <a:cs typeface="Times New Roman" panose="02020603050405020304" pitchFamily="18" charset="0"/>
                        </a:rPr>
                        <a:t> paper model ( CL - GAT – RGCN)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99836968"/>
                  </a:ext>
                </a:extLst>
              </a:tr>
              <a:tr h="621632">
                <a:tc>
                  <a:txBody>
                    <a:bodyPr/>
                    <a:lstStyle/>
                    <a:p>
                      <a:r>
                        <a:rPr lang="en-US" dirty="0" smtClean="0">
                          <a:latin typeface="Times New Roman" panose="02020603050405020304" pitchFamily="18" charset="0"/>
                          <a:cs typeface="Times New Roman" panose="02020603050405020304" pitchFamily="18" charset="0"/>
                        </a:rPr>
                        <a:t>1. Model Type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Single-direction heavy attentive GNN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 Hybrid model (GAT + R-GCN) → learns both local &amp; global</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9878863"/>
                  </a:ext>
                </a:extLst>
              </a:tr>
              <a:tr h="355219">
                <a:tc>
                  <a:txBody>
                    <a:bodyPr/>
                    <a:lstStyle/>
                    <a:p>
                      <a:r>
                        <a:rPr lang="en-US" dirty="0" smtClean="0">
                          <a:latin typeface="Times New Roman" panose="02020603050405020304" pitchFamily="18" charset="0"/>
                          <a:cs typeface="Times New Roman" panose="02020603050405020304" pitchFamily="18" charset="0"/>
                        </a:rPr>
                        <a:t>2. Simplicity </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Complex, multi-stage design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 Simple, clean, easy-to-train model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40812236"/>
                  </a:ext>
                </a:extLst>
              </a:tr>
              <a:tr h="621632">
                <a:tc>
                  <a:txBody>
                    <a:bodyPr/>
                    <a:lstStyle/>
                    <a:p>
                      <a:r>
                        <a:rPr lang="en-US" dirty="0" smtClean="0">
                          <a:latin typeface="Times New Roman" panose="02020603050405020304" pitchFamily="18" charset="0"/>
                          <a:cs typeface="Times New Roman" panose="02020603050405020304" pitchFamily="18" charset="0"/>
                        </a:rPr>
                        <a:t>3. Text Handling</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Converts reviews to entities → loses detail</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 Uses direct transformer embeddings → richer meaning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39342522"/>
                  </a:ext>
                </a:extLst>
              </a:tr>
              <a:tr h="621632">
                <a:tc>
                  <a:txBody>
                    <a:bodyPr/>
                    <a:lstStyle/>
                    <a:p>
                      <a:r>
                        <a:rPr lang="en-US" dirty="0" smtClean="0">
                          <a:latin typeface="Times New Roman" panose="02020603050405020304" pitchFamily="18" charset="0"/>
                          <a:cs typeface="Times New Roman" panose="02020603050405020304" pitchFamily="18" charset="0"/>
                        </a:rPr>
                        <a:t>4. Contrastive Learning</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Multiple CL tasks → harder to optimize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Only one clear CL task → stable training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81674146"/>
                  </a:ext>
                </a:extLst>
              </a:tr>
              <a:tr h="621632">
                <a:tc>
                  <a:txBody>
                    <a:bodyPr/>
                    <a:lstStyle/>
                    <a:p>
                      <a:r>
                        <a:rPr lang="en-US" dirty="0" smtClean="0">
                          <a:latin typeface="Times New Roman" panose="02020603050405020304" pitchFamily="18" charset="0"/>
                          <a:cs typeface="Times New Roman" panose="02020603050405020304" pitchFamily="18" charset="0"/>
                        </a:rPr>
                        <a:t>5. Noise Handling</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Needs extra </a:t>
                      </a:r>
                      <a:r>
                        <a:rPr lang="en-US" dirty="0" err="1" smtClean="0">
                          <a:latin typeface="Times New Roman" panose="02020603050405020304" pitchFamily="18" charset="0"/>
                          <a:cs typeface="Times New Roman" panose="02020603050405020304" pitchFamily="18" charset="0"/>
                        </a:rPr>
                        <a:t>denoising</a:t>
                      </a:r>
                      <a:r>
                        <a:rPr lang="en-US" dirty="0" smtClean="0">
                          <a:latin typeface="Times New Roman" panose="02020603050405020304" pitchFamily="18" charset="0"/>
                          <a:cs typeface="Times New Roman" panose="02020603050405020304" pitchFamily="18" charset="0"/>
                        </a:rPr>
                        <a:t> modules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Naturally reduces noise via dual views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5602650"/>
                  </a:ext>
                </a:extLst>
              </a:tr>
              <a:tr h="355219">
                <a:tc>
                  <a:txBody>
                    <a:bodyPr/>
                    <a:lstStyle/>
                    <a:p>
                      <a:r>
                        <a:rPr lang="en-US" dirty="0" smtClean="0">
                          <a:latin typeface="Times New Roman" panose="02020603050405020304" pitchFamily="18" charset="0"/>
                          <a:cs typeface="Times New Roman" panose="02020603050405020304" pitchFamily="18" charset="0"/>
                        </a:rPr>
                        <a:t>6. Speed &amp; Efficiency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Slow training, high computation</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Fast training, fewer parameters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96316485"/>
                  </a:ext>
                </a:extLst>
              </a:tr>
              <a:tr h="621632">
                <a:tc>
                  <a:txBody>
                    <a:bodyPr/>
                    <a:lstStyle/>
                    <a:p>
                      <a:r>
                        <a:rPr lang="en-US" dirty="0" smtClean="0">
                          <a:latin typeface="Times New Roman" panose="02020603050405020304" pitchFamily="18" charset="0"/>
                          <a:cs typeface="Times New Roman" panose="02020603050405020304" pitchFamily="18" charset="0"/>
                        </a:rPr>
                        <a:t>7. Domain Flexibility</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Works in any KG domain (movies/books/e-commerce)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Mostly for recommendation tasks only</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03753578"/>
                  </a:ext>
                </a:extLst>
              </a:tr>
              <a:tr h="621632">
                <a:tc>
                  <a:txBody>
                    <a:bodyPr/>
                    <a:lstStyle/>
                    <a:p>
                      <a:r>
                        <a:rPr lang="en-US" dirty="0" smtClean="0">
                          <a:latin typeface="Times New Roman" panose="02020603050405020304" pitchFamily="18" charset="0"/>
                          <a:cs typeface="Times New Roman" panose="02020603050405020304" pitchFamily="18" charset="0"/>
                        </a:rPr>
                        <a:t>8. </a:t>
                      </a:r>
                      <a:r>
                        <a:rPr lang="en-US" baseline="0" dirty="0" smtClean="0">
                          <a:latin typeface="Times New Roman" panose="02020603050405020304" pitchFamily="18" charset="0"/>
                          <a:cs typeface="Times New Roman" panose="02020603050405020304" pitchFamily="18" charset="0"/>
                        </a:rPr>
                        <a:t>Overall Strength </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Strong but heavy and task-specific</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Lightweight but powerful semantic model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2533745"/>
                  </a:ext>
                </a:extLst>
              </a:tr>
            </a:tbl>
          </a:graphicData>
        </a:graphic>
      </p:graphicFrame>
      <p:sp>
        <p:nvSpPr>
          <p:cNvPr id="3" name="Date Placeholder 2"/>
          <p:cNvSpPr>
            <a:spLocks noGrp="1"/>
          </p:cNvSpPr>
          <p:nvPr>
            <p:ph type="dt" sz="half" idx="10"/>
          </p:nvPr>
        </p:nvSpPr>
        <p:spPr/>
        <p:txBody>
          <a:bodyPr/>
          <a:lstStyle/>
          <a:p>
            <a:fld id="{4F2B8710-DD46-4088-972D-F65D46C27B0D}" type="datetime1">
              <a:rPr lang="en-US" smtClean="0"/>
              <a:t>2/9/2026</a:t>
            </a:fld>
            <a:endParaRPr lang="en-US"/>
          </a:p>
        </p:txBody>
      </p:sp>
      <p:sp>
        <p:nvSpPr>
          <p:cNvPr id="5" name="Footer Placeholder 4"/>
          <p:cNvSpPr>
            <a:spLocks noGrp="1"/>
          </p:cNvSpPr>
          <p:nvPr>
            <p:ph type="ftr" sz="quarter" idx="11"/>
          </p:nvPr>
        </p:nvSpPr>
        <p:spPr/>
        <p:txBody>
          <a:bodyPr/>
          <a:lstStyle/>
          <a:p>
            <a:r>
              <a:rPr lang="en-US" smtClean="0"/>
              <a:t>Review No. 3     Batch No.CG11         Department of CSE</a:t>
            </a:r>
            <a:endParaRPr lang="en-US"/>
          </a:p>
        </p:txBody>
      </p:sp>
      <p:sp>
        <p:nvSpPr>
          <p:cNvPr id="6" name="Slide Number Placeholder 5"/>
          <p:cNvSpPr>
            <a:spLocks noGrp="1"/>
          </p:cNvSpPr>
          <p:nvPr>
            <p:ph type="sldNum" sz="quarter" idx="12"/>
          </p:nvPr>
        </p:nvSpPr>
        <p:spPr/>
        <p:txBody>
          <a:bodyPr/>
          <a:lstStyle/>
          <a:p>
            <a:fld id="{FFEC67FC-8107-4C00-9415-4D1567E899B9}" type="slidenum">
              <a:rPr lang="en-US" smtClean="0"/>
              <a:pPr/>
              <a:t>29</a:t>
            </a:fld>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Tree>
    <p:extLst>
      <p:ext uri="{BB962C8B-B14F-4D97-AF65-F5344CB8AC3E}">
        <p14:creationId xmlns:p14="http://schemas.microsoft.com/office/powerpoint/2010/main" val="335380293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2072"/>
            <a:ext cx="10515600" cy="925974"/>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Conclusion &amp; Future Scope</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3" name="Date Placeholder 2"/>
          <p:cNvSpPr>
            <a:spLocks noGrp="1"/>
          </p:cNvSpPr>
          <p:nvPr>
            <p:ph type="dt" sz="half" idx="10"/>
          </p:nvPr>
        </p:nvSpPr>
        <p:spPr/>
        <p:txBody>
          <a:bodyPr/>
          <a:lstStyle/>
          <a:p>
            <a:fld id="{5B02ABD9-E68D-425E-834D-43331B7B1FA7}"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30</a:t>
            </a:fld>
            <a:endParaRPr lang="en-US"/>
          </a:p>
        </p:txBody>
      </p:sp>
      <p:sp>
        <p:nvSpPr>
          <p:cNvPr id="8" name="Rectangle 7"/>
          <p:cNvSpPr/>
          <p:nvPr/>
        </p:nvSpPr>
        <p:spPr>
          <a:xfrm>
            <a:off x="838200" y="1932524"/>
            <a:ext cx="10515600" cy="2308324"/>
          </a:xfrm>
          <a:prstGeom prst="rect">
            <a:avLst/>
          </a:prstGeom>
        </p:spPr>
        <p:txBody>
          <a:bodyPr wrap="square">
            <a:spAutoFit/>
          </a:bodyPr>
          <a:lstStyle/>
          <a:p>
            <a:r>
              <a:rPr lang="en-US" b="1" dirty="0" smtClean="0">
                <a:latin typeface="Times New Roman" panose="02020603050405020304" pitchFamily="18" charset="0"/>
                <a:cs typeface="Times New Roman" panose="02020603050405020304" pitchFamily="18" charset="0"/>
              </a:rPr>
              <a:t>  Conclusion</a:t>
            </a:r>
            <a:endParaRPr lang="en-US" b="1" dirty="0" smtClean="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proposed contrastive learning </a:t>
            </a:r>
            <a:r>
              <a:rPr lang="en-US" dirty="0" smtClean="0">
                <a:latin typeface="Times New Roman" panose="02020603050405020304" pitchFamily="18" charset="0"/>
                <a:cs typeface="Times New Roman" panose="02020603050405020304" pitchFamily="18" charset="0"/>
              </a:rPr>
              <a:t>framework successfully </a:t>
            </a:r>
            <a:r>
              <a:rPr lang="en-US" dirty="0">
                <a:latin typeface="Times New Roman" panose="02020603050405020304" pitchFamily="18" charset="0"/>
                <a:cs typeface="Times New Roman" panose="02020603050405020304" pitchFamily="18" charset="0"/>
              </a:rPr>
              <a:t>integrates review semantics with </a:t>
            </a:r>
            <a:r>
              <a:rPr lang="en-US"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structural </a:t>
            </a:r>
          </a:p>
          <a:p>
            <a:r>
              <a:rPr lang="en-US" dirty="0" smtClean="0">
                <a:latin typeface="Times New Roman" panose="02020603050405020304" pitchFamily="18" charset="0"/>
                <a:cs typeface="Times New Roman" panose="02020603050405020304" pitchFamily="18" charset="0"/>
              </a:rPr>
              <a:t>   knowledge </a:t>
            </a:r>
            <a:r>
              <a:rPr lang="en-US" dirty="0">
                <a:latin typeface="Times New Roman" panose="02020603050405020304" pitchFamily="18" charset="0"/>
                <a:cs typeface="Times New Roman" panose="02020603050405020304" pitchFamily="18" charset="0"/>
              </a:rPr>
              <a:t>graphs, improving the </a:t>
            </a:r>
            <a:r>
              <a:rPr lang="en-US" dirty="0" smtClean="0">
                <a:latin typeface="Times New Roman" panose="02020603050405020304" pitchFamily="18" charset="0"/>
                <a:cs typeface="Times New Roman" panose="02020603050405020304" pitchFamily="18" charset="0"/>
              </a:rPr>
              <a:t>quality </a:t>
            </a:r>
            <a:r>
              <a:rPr lang="en-US" dirty="0">
                <a:latin typeface="Times New Roman" panose="02020603050405020304" pitchFamily="18" charset="0"/>
                <a:cs typeface="Times New Roman" panose="02020603050405020304" pitchFamily="18" charset="0"/>
              </a:rPr>
              <a:t>of learned representations.</a:t>
            </a:r>
          </a:p>
          <a:p>
            <a:r>
              <a:rPr lang="en-US" dirty="0">
                <a:latin typeface="Times New Roman" panose="02020603050405020304" pitchFamily="18" charset="0"/>
                <a:cs typeface="Times New Roman" panose="02020603050405020304" pitchFamily="18" charset="0"/>
              </a:rPr>
              <a:t>●The hybrid GAT + R-GCN architecture </a:t>
            </a:r>
            <a:r>
              <a:rPr lang="en-US" dirty="0" smtClean="0">
                <a:latin typeface="Times New Roman" panose="02020603050405020304" pitchFamily="18" charset="0"/>
                <a:cs typeface="Times New Roman" panose="02020603050405020304" pitchFamily="18" charset="0"/>
              </a:rPr>
              <a:t>demonstrates </a:t>
            </a:r>
            <a:r>
              <a:rPr lang="en-US" dirty="0">
                <a:latin typeface="Times New Roman" panose="02020603050405020304" pitchFamily="18" charset="0"/>
                <a:cs typeface="Times New Roman" panose="02020603050405020304" pitchFamily="18" charset="0"/>
              </a:rPr>
              <a:t>superior accuracy, F1-score, and </a:t>
            </a:r>
            <a:r>
              <a:rPr lang="en-US" dirty="0" smtClean="0">
                <a:latin typeface="Times New Roman" panose="02020603050405020304" pitchFamily="18" charset="0"/>
                <a:cs typeface="Times New Roman" panose="02020603050405020304" pitchFamily="18" charset="0"/>
              </a:rPr>
              <a:t>semantic interpretability</a:t>
            </a:r>
          </a:p>
          <a:p>
            <a:r>
              <a:rPr lang="en-US" dirty="0" smtClean="0">
                <a:latin typeface="Times New Roman" panose="02020603050405020304" pitchFamily="18" charset="0"/>
                <a:cs typeface="Times New Roman" panose="02020603050405020304" pitchFamily="18" charset="0"/>
              </a:rPr>
              <a:t>   compared </a:t>
            </a:r>
            <a:r>
              <a:rPr lang="en-US" dirty="0">
                <a:latin typeface="Times New Roman" panose="02020603050405020304" pitchFamily="18" charset="0"/>
                <a:cs typeface="Times New Roman" panose="02020603050405020304" pitchFamily="18" charset="0"/>
              </a:rPr>
              <a:t>to baseline </a:t>
            </a:r>
            <a:r>
              <a:rPr lang="en-US" dirty="0" smtClean="0">
                <a:latin typeface="Times New Roman" panose="02020603050405020304" pitchFamily="18" charset="0"/>
                <a:cs typeface="Times New Roman" panose="02020603050405020304" pitchFamily="18" charset="0"/>
              </a:rPr>
              <a:t>models</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●The method effectively reduces noise propagation </a:t>
            </a:r>
            <a:r>
              <a:rPr lang="en-US" dirty="0" smtClean="0">
                <a:latin typeface="Times New Roman" panose="02020603050405020304" pitchFamily="18" charset="0"/>
                <a:cs typeface="Times New Roman" panose="02020603050405020304" pitchFamily="18" charset="0"/>
              </a:rPr>
              <a:t>and </a:t>
            </a:r>
            <a:r>
              <a:rPr lang="en-US" dirty="0">
                <a:latin typeface="Times New Roman" panose="02020603050405020304" pitchFamily="18" charset="0"/>
                <a:cs typeface="Times New Roman" panose="02020603050405020304" pitchFamily="18" charset="0"/>
              </a:rPr>
              <a:t>strengthens semantic–structural alignment, </a:t>
            </a:r>
            <a:r>
              <a:rPr lang="en-US" dirty="0" smtClean="0">
                <a:latin typeface="Times New Roman" panose="02020603050405020304" pitchFamily="18" charset="0"/>
                <a:cs typeface="Times New Roman" panose="02020603050405020304" pitchFamily="18" charset="0"/>
              </a:rPr>
              <a:t>making </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multi-view </a:t>
            </a:r>
            <a:r>
              <a:rPr lang="en-US" dirty="0">
                <a:latin typeface="Times New Roman" panose="02020603050405020304" pitchFamily="18" charset="0"/>
                <a:cs typeface="Times New Roman" panose="02020603050405020304" pitchFamily="18" charset="0"/>
              </a:rPr>
              <a:t>graph learning more robust.</a:t>
            </a:r>
          </a:p>
        </p:txBody>
      </p:sp>
    </p:spTree>
    <p:extLst>
      <p:ext uri="{BB962C8B-B14F-4D97-AF65-F5344CB8AC3E}">
        <p14:creationId xmlns:p14="http://schemas.microsoft.com/office/powerpoint/2010/main" val="385572010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2072"/>
            <a:ext cx="10515600" cy="925974"/>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Conclusion &amp; Future Scope</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3" name="Date Placeholder 2"/>
          <p:cNvSpPr>
            <a:spLocks noGrp="1"/>
          </p:cNvSpPr>
          <p:nvPr>
            <p:ph type="dt" sz="half" idx="10"/>
          </p:nvPr>
        </p:nvSpPr>
        <p:spPr/>
        <p:txBody>
          <a:bodyPr/>
          <a:lstStyle/>
          <a:p>
            <a:fld id="{5B02ABD9-E68D-425E-834D-43331B7B1FA7}"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31</a:t>
            </a:fld>
            <a:endParaRPr lang="en-US"/>
          </a:p>
        </p:txBody>
      </p:sp>
      <p:sp>
        <p:nvSpPr>
          <p:cNvPr id="9" name="Rectangle 8"/>
          <p:cNvSpPr/>
          <p:nvPr/>
        </p:nvSpPr>
        <p:spPr>
          <a:xfrm>
            <a:off x="745672" y="1803356"/>
            <a:ext cx="10273781" cy="2585323"/>
          </a:xfrm>
          <a:prstGeom prst="rect">
            <a:avLst/>
          </a:prstGeom>
        </p:spPr>
        <p:txBody>
          <a:bodyPr wrap="square">
            <a:spAutoFit/>
          </a:bodyPr>
          <a:lstStyle/>
          <a:p>
            <a:r>
              <a:rPr lang="en-US" b="1" dirty="0" smtClean="0">
                <a:latin typeface="Times New Roman" panose="02020603050405020304" pitchFamily="18" charset="0"/>
                <a:cs typeface="Times New Roman" panose="02020603050405020304" pitchFamily="18" charset="0"/>
              </a:rPr>
              <a:t>   Future </a:t>
            </a:r>
            <a:r>
              <a:rPr lang="en-US" b="1" dirty="0" smtClean="0">
                <a:latin typeface="Times New Roman" panose="02020603050405020304" pitchFamily="18" charset="0"/>
                <a:cs typeface="Times New Roman" panose="02020603050405020304" pitchFamily="18" charset="0"/>
              </a:rPr>
              <a:t>Scope</a:t>
            </a:r>
          </a:p>
          <a:p>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●Incorporate </a:t>
            </a:r>
            <a:r>
              <a:rPr lang="en-US" b="1" dirty="0">
                <a:latin typeface="Times New Roman" panose="02020603050405020304" pitchFamily="18" charset="0"/>
                <a:cs typeface="Times New Roman" panose="02020603050405020304" pitchFamily="18" charset="0"/>
              </a:rPr>
              <a:t>temporal and heterogeneous GNNs</a:t>
            </a:r>
            <a:r>
              <a:rPr lang="en-US" dirty="0">
                <a:latin typeface="Times New Roman" panose="02020603050405020304" pitchFamily="18" charset="0"/>
                <a:cs typeface="Times New Roman" panose="02020603050405020304" pitchFamily="18" charset="0"/>
              </a:rPr>
              <a:t> to </a:t>
            </a:r>
            <a:r>
              <a:rPr lang="en-US" dirty="0" smtClean="0">
                <a:latin typeface="Times New Roman" panose="02020603050405020304" pitchFamily="18" charset="0"/>
                <a:cs typeface="Times New Roman" panose="02020603050405020304" pitchFamily="18" charset="0"/>
              </a:rPr>
              <a:t>better </a:t>
            </a:r>
            <a:r>
              <a:rPr lang="en-US" dirty="0">
                <a:latin typeface="Times New Roman" panose="02020603050405020304" pitchFamily="18" charset="0"/>
                <a:cs typeface="Times New Roman" panose="02020603050405020304" pitchFamily="18" charset="0"/>
              </a:rPr>
              <a:t>capture evolving user behaviors and </a:t>
            </a:r>
            <a:r>
              <a:rPr lang="en-US" dirty="0" smtClean="0">
                <a:latin typeface="Times New Roman" panose="02020603050405020304" pitchFamily="18" charset="0"/>
                <a:cs typeface="Times New Roman" panose="02020603050405020304" pitchFamily="18" charset="0"/>
              </a:rPr>
              <a:t>multi-</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relational </a:t>
            </a:r>
            <a:r>
              <a:rPr lang="en-US" dirty="0">
                <a:latin typeface="Times New Roman" panose="02020603050405020304" pitchFamily="18" charset="0"/>
                <a:cs typeface="Times New Roman" panose="02020603050405020304" pitchFamily="18" charset="0"/>
              </a:rPr>
              <a:t>dynamics.</a:t>
            </a:r>
          </a:p>
          <a:p>
            <a:r>
              <a:rPr lang="en-US" dirty="0">
                <a:latin typeface="Times New Roman" panose="02020603050405020304" pitchFamily="18" charset="0"/>
                <a:cs typeface="Times New Roman" panose="02020603050405020304" pitchFamily="18" charset="0"/>
              </a:rPr>
              <a:t>●Extend the system with </a:t>
            </a:r>
            <a:r>
              <a:rPr lang="en-US" b="1" dirty="0">
                <a:latin typeface="Times New Roman" panose="02020603050405020304" pitchFamily="18" charset="0"/>
                <a:cs typeface="Times New Roman" panose="02020603050405020304" pitchFamily="18" charset="0"/>
              </a:rPr>
              <a:t>multimodal review data</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images, audio, metadata) for richer and more </a:t>
            </a:r>
            <a:r>
              <a:rPr lang="en-US" dirty="0" smtClean="0">
                <a:latin typeface="Times New Roman" panose="02020603050405020304" pitchFamily="18" charset="0"/>
                <a:cs typeface="Times New Roman" panose="02020603050405020304" pitchFamily="18" charset="0"/>
              </a:rPr>
              <a:t>expressive</a:t>
            </a:r>
          </a:p>
          <a:p>
            <a:r>
              <a:rPr lang="en-US" dirty="0" smtClean="0">
                <a:latin typeface="Times New Roman" panose="02020603050405020304" pitchFamily="18" charset="0"/>
                <a:cs typeface="Times New Roman" panose="02020603050405020304" pitchFamily="18" charset="0"/>
              </a:rPr>
              <a:t>   learning</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●Enable </a:t>
            </a:r>
            <a:r>
              <a:rPr lang="en-US" b="1" dirty="0">
                <a:latin typeface="Times New Roman" panose="02020603050405020304" pitchFamily="18" charset="0"/>
                <a:cs typeface="Times New Roman" panose="02020603050405020304" pitchFamily="18" charset="0"/>
              </a:rPr>
              <a:t>real-time, dynamic graph updating</a:t>
            </a:r>
            <a:r>
              <a:rPr lang="en-US" dirty="0">
                <a:latin typeface="Times New Roman" panose="02020603050405020304" pitchFamily="18" charset="0"/>
                <a:cs typeface="Times New Roman" panose="02020603050405020304" pitchFamily="18" charset="0"/>
              </a:rPr>
              <a:t> to </a:t>
            </a:r>
            <a:r>
              <a:rPr lang="en-US" dirty="0" smtClean="0">
                <a:latin typeface="Times New Roman" panose="02020603050405020304" pitchFamily="18" charset="0"/>
                <a:cs typeface="Times New Roman" panose="02020603050405020304" pitchFamily="18" charset="0"/>
              </a:rPr>
              <a:t>improve </a:t>
            </a:r>
            <a:r>
              <a:rPr lang="en-US" dirty="0">
                <a:latin typeface="Times New Roman" panose="02020603050405020304" pitchFamily="18" charset="0"/>
                <a:cs typeface="Times New Roman" panose="02020603050405020304" pitchFamily="18" charset="0"/>
              </a:rPr>
              <a:t>scalability and usability in real-world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recommendation </a:t>
            </a:r>
            <a:r>
              <a:rPr lang="en-US" dirty="0">
                <a:latin typeface="Times New Roman" panose="02020603050405020304" pitchFamily="18" charset="0"/>
                <a:cs typeface="Times New Roman" panose="02020603050405020304" pitchFamily="18" charset="0"/>
              </a:rPr>
              <a:t>environments.</a:t>
            </a:r>
          </a:p>
          <a:p>
            <a:r>
              <a:rPr lang="en-US" dirty="0">
                <a:latin typeface="Times New Roman" panose="02020603050405020304" pitchFamily="18" charset="0"/>
                <a:cs typeface="Times New Roman" panose="02020603050405020304" pitchFamily="18" charset="0"/>
              </a:rPr>
              <a:t>●Explore </a:t>
            </a:r>
            <a:r>
              <a:rPr lang="en-US" b="1" dirty="0">
                <a:latin typeface="Times New Roman" panose="02020603050405020304" pitchFamily="18" charset="0"/>
                <a:cs typeface="Times New Roman" panose="02020603050405020304" pitchFamily="18" charset="0"/>
              </a:rPr>
              <a:t>explainable contrastive mechanisms</a:t>
            </a:r>
            <a:r>
              <a:rPr lang="en-US" dirty="0">
                <a:latin typeface="Times New Roman" panose="02020603050405020304" pitchFamily="18" charset="0"/>
                <a:cs typeface="Times New Roman" panose="02020603050405020304" pitchFamily="18" charset="0"/>
              </a:rPr>
              <a:t> to </a:t>
            </a:r>
            <a:r>
              <a:rPr lang="en-US" dirty="0" smtClean="0">
                <a:latin typeface="Times New Roman" panose="02020603050405020304" pitchFamily="18" charset="0"/>
                <a:cs typeface="Times New Roman" panose="02020603050405020304" pitchFamily="18" charset="0"/>
              </a:rPr>
              <a:t>enhance </a:t>
            </a:r>
            <a:r>
              <a:rPr lang="en-US" dirty="0">
                <a:latin typeface="Times New Roman" panose="02020603050405020304" pitchFamily="18" charset="0"/>
                <a:cs typeface="Times New Roman" panose="02020603050405020304" pitchFamily="18" charset="0"/>
              </a:rPr>
              <a:t>transparency and user trust in model </a:t>
            </a:r>
            <a:r>
              <a:rPr lang="en-US" dirty="0" smtClean="0">
                <a:latin typeface="Times New Roman" panose="02020603050405020304" pitchFamily="18" charset="0"/>
                <a:cs typeface="Times New Roman" panose="02020603050405020304" pitchFamily="18" charset="0"/>
              </a:rPr>
              <a:t>predictions</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7905909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2072"/>
            <a:ext cx="10515600" cy="925974"/>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References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5" name="Content Placeholder 4"/>
          <p:cNvSpPr>
            <a:spLocks noGrp="1"/>
          </p:cNvSpPr>
          <p:nvPr>
            <p:ph idx="1"/>
          </p:nvPr>
        </p:nvSpPr>
        <p:spPr>
          <a:xfrm>
            <a:off x="838200" y="1444144"/>
            <a:ext cx="10433180" cy="4564770"/>
          </a:xfrm>
        </p:spPr>
        <p:txBody>
          <a:bodyPr>
            <a:noAutofit/>
          </a:bodyPr>
          <a:lstStyle/>
          <a:p>
            <a:pPr marL="342900" lvl="0" indent="-342900" fontAlgn="base">
              <a:buFont typeface="+mj-lt"/>
              <a:buAutoNum type="arabicPeriod"/>
            </a:pPr>
            <a:r>
              <a:rPr lang="en-US" sz="1600" dirty="0">
                <a:latin typeface="Times New Roman" panose="02020603050405020304" pitchFamily="18" charset="0"/>
                <a:cs typeface="Times New Roman" panose="02020603050405020304" pitchFamily="18" charset="0"/>
              </a:rPr>
              <a:t>Z. Zou, K. Wang, and L. Huang,” Knowledge-enhanced multi-intent transformer network for recommendation,” in Proc. AAAI Conf. </a:t>
            </a:r>
            <a:r>
              <a:rPr lang="en-US" sz="1600" dirty="0" err="1">
                <a:latin typeface="Times New Roman" panose="02020603050405020304" pitchFamily="18" charset="0"/>
                <a:cs typeface="Times New Roman" panose="02020603050405020304" pitchFamily="18" charset="0"/>
              </a:rPr>
              <a:t>Artif</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Intell</a:t>
            </a:r>
            <a:r>
              <a:rPr lang="en-US" sz="1600" dirty="0">
                <a:latin typeface="Times New Roman" panose="02020603050405020304" pitchFamily="18" charset="0"/>
                <a:cs typeface="Times New Roman" panose="02020603050405020304" pitchFamily="18" charset="0"/>
              </a:rPr>
              <a:t>., Vancouver, BC, Canada, 2024, vol. 38, no. 4, pp. 4731–4739.</a:t>
            </a:r>
          </a:p>
          <a:p>
            <a:pPr marL="342900" lvl="0" indent="-342900" fontAlgn="base">
              <a:buFont typeface="+mj-lt"/>
              <a:buAutoNum type="arabicPeriod"/>
            </a:pPr>
            <a:r>
              <a:rPr lang="en-US" sz="1600" dirty="0">
                <a:latin typeface="Times New Roman" panose="02020603050405020304" pitchFamily="18" charset="0"/>
                <a:cs typeface="Times New Roman" panose="02020603050405020304" pitchFamily="18" charset="0"/>
              </a:rPr>
              <a:t>Y. Liu, J. Chen, and M. Xu, ”</a:t>
            </a:r>
            <a:r>
              <a:rPr lang="en-US" sz="1600" dirty="0" err="1">
                <a:latin typeface="Times New Roman" panose="02020603050405020304" pitchFamily="18" charset="0"/>
                <a:cs typeface="Times New Roman" panose="02020603050405020304" pitchFamily="18" charset="0"/>
              </a:rPr>
              <a:t>KUCNet</a:t>
            </a:r>
            <a:r>
              <a:rPr lang="en-US" sz="1600" dirty="0">
                <a:latin typeface="Times New Roman" panose="02020603050405020304" pitchFamily="18" charset="0"/>
                <a:cs typeface="Times New Roman" panose="02020603050405020304" pitchFamily="18" charset="0"/>
              </a:rPr>
              <a:t>: Knowledge enhanced user centric subgraph network for cold-start recommendation,” ACM Trans. Inf. Syst., vol. 42, no. 2, pp. 1–25, Feb. 2024.</a:t>
            </a:r>
          </a:p>
          <a:p>
            <a:pPr marL="342900" lvl="0" indent="-342900" fontAlgn="base">
              <a:buFont typeface="+mj-lt"/>
              <a:buAutoNum type="arabicPeriod"/>
            </a:pPr>
            <a:r>
              <a:rPr lang="en-US" sz="1600" dirty="0">
                <a:latin typeface="Times New Roman" panose="02020603050405020304" pitchFamily="18" charset="0"/>
                <a:cs typeface="Times New Roman" panose="02020603050405020304" pitchFamily="18" charset="0"/>
              </a:rPr>
              <a:t>J. Kim, L. Wang, and M. Chen, ”Semantic contrastive learning for robust and diverse item graph recommendation,” in Proc. Web Conf. (WWW), Singapore, 2024, pp. 455–464.</a:t>
            </a:r>
          </a:p>
          <a:p>
            <a:pPr marL="342900" lvl="0" indent="-342900" fontAlgn="base">
              <a:buFont typeface="+mj-lt"/>
              <a:buAutoNum type="arabicPeriod"/>
            </a:pPr>
            <a:r>
              <a:rPr lang="en-US" sz="1600" dirty="0">
                <a:latin typeface="Times New Roman" panose="02020603050405020304" pitchFamily="18" charset="0"/>
                <a:cs typeface="Times New Roman" panose="02020603050405020304" pitchFamily="18" charset="0"/>
              </a:rPr>
              <a:t>H. Liang, S. Zhao, and Y. Fang, ”Box embedding-based knowledge graph neural networks for hierarchical item interaction,” </a:t>
            </a:r>
            <a:r>
              <a:rPr lang="en-US" sz="1600" dirty="0" err="1">
                <a:latin typeface="Times New Roman" panose="02020603050405020304" pitchFamily="18" charset="0"/>
                <a:cs typeface="Times New Roman" panose="02020603050405020304" pitchFamily="18" charset="0"/>
              </a:rPr>
              <a:t>Knowl</a:t>
            </a:r>
            <a:r>
              <a:rPr lang="en-US" sz="1600" dirty="0">
                <a:latin typeface="Times New Roman" panose="02020603050405020304" pitchFamily="18" charset="0"/>
                <a:cs typeface="Times New Roman" panose="02020603050405020304" pitchFamily="18" charset="0"/>
              </a:rPr>
              <a:t>.-Based Syst., vol. 278, no. 110938, Jan. 2024.</a:t>
            </a:r>
          </a:p>
          <a:p>
            <a:pPr marL="342900" lvl="0" indent="-342900" fontAlgn="base">
              <a:buFont typeface="+mj-lt"/>
              <a:buAutoNum type="arabicPeriod"/>
            </a:pPr>
            <a:r>
              <a:rPr lang="en-US" sz="1600" dirty="0">
                <a:latin typeface="Times New Roman" panose="02020603050405020304" pitchFamily="18" charset="0"/>
                <a:cs typeface="Times New Roman" panose="02020603050405020304" pitchFamily="18" charset="0"/>
              </a:rPr>
              <a:t>H. Liang et al., ”GTCA: A graph transformer contrastive architecture for noisy knowledge graphs,” in Proc. ACM SIGKDD Conf. </a:t>
            </a:r>
            <a:r>
              <a:rPr lang="en-US" sz="1600" dirty="0" err="1">
                <a:latin typeface="Times New Roman" panose="02020603050405020304" pitchFamily="18" charset="0"/>
                <a:cs typeface="Times New Roman" panose="02020603050405020304" pitchFamily="18" charset="0"/>
              </a:rPr>
              <a:t>Knowl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Discov</a:t>
            </a:r>
            <a:r>
              <a:rPr lang="en-US" sz="1600" dirty="0">
                <a:latin typeface="Times New Roman" panose="02020603050405020304" pitchFamily="18" charset="0"/>
                <a:cs typeface="Times New Roman" panose="02020603050405020304" pitchFamily="18" charset="0"/>
              </a:rPr>
              <a:t>. Data Min. (KDD), Sydney, NSW, Australia, 2025, pp. 331–340.</a:t>
            </a:r>
          </a:p>
          <a:p>
            <a:pPr marL="342900" lvl="0" indent="-342900" fontAlgn="base">
              <a:buFont typeface="+mj-lt"/>
              <a:buAutoNum type="arabicPeriod"/>
            </a:pPr>
            <a:r>
              <a:rPr lang="en-US" sz="1600" dirty="0">
                <a:latin typeface="Times New Roman" panose="02020603050405020304" pitchFamily="18" charset="0"/>
                <a:cs typeface="Times New Roman" panose="02020603050405020304" pitchFamily="18" charset="0"/>
              </a:rPr>
              <a:t>Z. Jiang, H. Wu, and M. Zhou, ”</a:t>
            </a:r>
            <a:r>
              <a:rPr lang="en-US" sz="1600" dirty="0" err="1">
                <a:latin typeface="Times New Roman" panose="02020603050405020304" pitchFamily="18" charset="0"/>
                <a:cs typeface="Times New Roman" panose="02020603050405020304" pitchFamily="18" charset="0"/>
              </a:rPr>
              <a:t>AdaGCL</a:t>
            </a:r>
            <a:r>
              <a:rPr lang="en-US" sz="1600" dirty="0">
                <a:latin typeface="Times New Roman" panose="02020603050405020304" pitchFamily="18" charset="0"/>
                <a:cs typeface="Times New Roman" panose="02020603050405020304" pitchFamily="18" charset="0"/>
              </a:rPr>
              <a:t>: Adaptive graph contrastive learning on noisy data,” IEEE Trans. Neural </a:t>
            </a:r>
            <a:r>
              <a:rPr lang="en-US" sz="1600" dirty="0" err="1">
                <a:latin typeface="Times New Roman" panose="02020603050405020304" pitchFamily="18" charset="0"/>
                <a:cs typeface="Times New Roman" panose="02020603050405020304" pitchFamily="18" charset="0"/>
              </a:rPr>
              <a:t>Netw</a:t>
            </a:r>
            <a:r>
              <a:rPr lang="en-US" sz="1600" dirty="0">
                <a:latin typeface="Times New Roman" panose="02020603050405020304" pitchFamily="18" charset="0"/>
                <a:cs typeface="Times New Roman" panose="02020603050405020304" pitchFamily="18" charset="0"/>
              </a:rPr>
              <a:t>. Learn. Syst., vol. 36, no. 3, pp. 1456–1467, Mar. 2023.</a:t>
            </a:r>
          </a:p>
          <a:p>
            <a:pPr marL="342900" lvl="0" indent="-342900" fontAlgn="base">
              <a:buFont typeface="+mj-lt"/>
              <a:buAutoNum type="arabicPeriod"/>
            </a:pPr>
            <a:r>
              <a:rPr lang="en-US" sz="1600" dirty="0">
                <a:latin typeface="Times New Roman" panose="02020603050405020304" pitchFamily="18" charset="0"/>
                <a:cs typeface="Times New Roman" panose="02020603050405020304" pitchFamily="18" charset="0"/>
              </a:rPr>
              <a:t>W. Yu, D. Yang, and Y. Sun, ”Semantic-structural contrastive learning on heterogeneous graphs,” Inf. Sci., vol. 655, no. 119248, Jan. 2024</a:t>
            </a:r>
            <a:r>
              <a:rPr lang="en-US" sz="1600" dirty="0" smtClean="0">
                <a:latin typeface="Times New Roman" panose="02020603050405020304" pitchFamily="18" charset="0"/>
                <a:cs typeface="Times New Roman" panose="02020603050405020304" pitchFamily="18" charset="0"/>
              </a:rPr>
              <a:t>.</a:t>
            </a:r>
          </a:p>
          <a:p>
            <a:pPr marL="342900" indent="-342900" fontAlgn="base">
              <a:buFont typeface="+mj-lt"/>
              <a:buAutoNum type="arabicPeriod"/>
            </a:pPr>
            <a:r>
              <a:rPr lang="en-US" sz="1600" dirty="0">
                <a:latin typeface="Times New Roman" panose="02020603050405020304" pitchFamily="18" charset="0"/>
                <a:cs typeface="Times New Roman" panose="02020603050405020304" pitchFamily="18" charset="0"/>
              </a:rPr>
              <a:t>L. Wei et al., ”Enhancing knowledge concept recommendations via heterogeneous graph contrastive learning,” Mathematics, vol. 12, no. 15, p. 2324, Aug. 2024.</a:t>
            </a:r>
          </a:p>
          <a:p>
            <a:pPr marL="342900" lvl="0" indent="-342900" fontAlgn="base">
              <a:buFont typeface="+mj-lt"/>
              <a:buAutoNum type="arabicPeriod"/>
            </a:pPr>
            <a:endParaRPr lang="en-US" sz="1600" dirty="0"/>
          </a:p>
          <a:p>
            <a:pPr marL="342900" lvl="0" indent="-342900" fontAlgn="base">
              <a:buFont typeface="+mj-lt"/>
              <a:buAutoNum type="arabicPeriod"/>
            </a:pPr>
            <a:endParaRPr lang="en-US" sz="1400" dirty="0"/>
          </a:p>
        </p:txBody>
      </p:sp>
      <p:sp>
        <p:nvSpPr>
          <p:cNvPr id="3" name="Date Placeholder 2"/>
          <p:cNvSpPr>
            <a:spLocks noGrp="1"/>
          </p:cNvSpPr>
          <p:nvPr>
            <p:ph type="dt" sz="half" idx="10"/>
          </p:nvPr>
        </p:nvSpPr>
        <p:spPr/>
        <p:txBody>
          <a:bodyPr/>
          <a:lstStyle/>
          <a:p>
            <a:fld id="{66549C14-7057-47A3-9470-E46E7739C196}"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32</a:t>
            </a:fld>
            <a:endParaRPr lang="en-US"/>
          </a:p>
        </p:txBody>
      </p:sp>
    </p:spTree>
    <p:extLst>
      <p:ext uri="{BB962C8B-B14F-4D97-AF65-F5344CB8AC3E}">
        <p14:creationId xmlns:p14="http://schemas.microsoft.com/office/powerpoint/2010/main" val="158782668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2072"/>
            <a:ext cx="10515600" cy="925974"/>
          </a:xfrm>
        </p:spPr>
        <p:txBody>
          <a:bodyPr>
            <a:normAutofit/>
          </a:bodyPr>
          <a:lstStyle/>
          <a:p>
            <a:pPr algn="ctr"/>
            <a:r>
              <a:rPr lang="en-US" sz="2800" b="1" dirty="0" smtClean="0">
                <a:latin typeface="Times New Roman" panose="02020603050405020304" pitchFamily="18" charset="0"/>
                <a:cs typeface="Times New Roman" panose="02020603050405020304" pitchFamily="18" charset="0"/>
              </a:rPr>
              <a:t>References</a:t>
            </a:r>
            <a:endParaRPr lang="en-US" sz="28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5" name="Content Placeholder 4"/>
          <p:cNvSpPr>
            <a:spLocks noGrp="1"/>
          </p:cNvSpPr>
          <p:nvPr>
            <p:ph idx="1"/>
          </p:nvPr>
        </p:nvSpPr>
        <p:spPr>
          <a:xfrm>
            <a:off x="838200" y="1444144"/>
            <a:ext cx="10515600" cy="4351338"/>
          </a:xfrm>
        </p:spPr>
        <p:txBody>
          <a:bodyPr>
            <a:noAutofit/>
          </a:bodyPr>
          <a:lstStyle/>
          <a:p>
            <a:pPr marL="342900" lvl="0" indent="-342900" fontAlgn="base">
              <a:buFont typeface="+mj-lt"/>
              <a:buAutoNum type="arabicPeriod" startAt="9"/>
            </a:pPr>
            <a:r>
              <a:rPr lang="en-US" sz="1600" dirty="0" smtClean="0">
                <a:latin typeface="Times New Roman" panose="02020603050405020304" pitchFamily="18" charset="0"/>
                <a:cs typeface="Times New Roman" panose="02020603050405020304" pitchFamily="18" charset="0"/>
              </a:rPr>
              <a:t>X</a:t>
            </a:r>
            <a:r>
              <a:rPr lang="en-US" sz="1600" dirty="0">
                <a:latin typeface="Times New Roman" panose="02020603050405020304" pitchFamily="18" charset="0"/>
                <a:cs typeface="Times New Roman" panose="02020603050405020304" pitchFamily="18" charset="0"/>
              </a:rPr>
              <a:t>. Cao, R. Mei, and T. Zhang, ”Dual-channel contrastive graph neural networks for session-aware recommendations,” ACM Trans. </a:t>
            </a:r>
            <a:r>
              <a:rPr lang="en-US" sz="1600" dirty="0" err="1">
                <a:latin typeface="Times New Roman" panose="02020603050405020304" pitchFamily="18" charset="0"/>
                <a:cs typeface="Times New Roman" panose="02020603050405020304" pitchFamily="18" charset="0"/>
              </a:rPr>
              <a:t>Recomm</a:t>
            </a:r>
            <a:r>
              <a:rPr lang="en-US" sz="1600" dirty="0">
                <a:latin typeface="Times New Roman" panose="02020603050405020304" pitchFamily="18" charset="0"/>
                <a:cs typeface="Times New Roman" panose="02020603050405020304" pitchFamily="18" charset="0"/>
              </a:rPr>
              <a:t>. Syst., vol. 3, no. 2, pp. 1–21, Apr. 2025.</a:t>
            </a:r>
          </a:p>
          <a:p>
            <a:pPr marL="342900" lvl="0" indent="-342900" fontAlgn="base">
              <a:buFont typeface="+mj-lt"/>
              <a:buAutoNum type="arabicPeriod" startAt="9"/>
            </a:pPr>
            <a:r>
              <a:rPr lang="en-US" sz="1600" dirty="0">
                <a:latin typeface="Times New Roman" panose="02020603050405020304" pitchFamily="18" charset="0"/>
                <a:cs typeface="Times New Roman" panose="02020603050405020304" pitchFamily="18" charset="0"/>
              </a:rPr>
              <a:t>Y. Zhang, ”Lightweight contrastive graph neural networks for recommender systems,”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preprint arXiv:2401.05788, 2024.</a:t>
            </a:r>
          </a:p>
          <a:p>
            <a:pPr marL="342900" lvl="0" indent="-342900" fontAlgn="base">
              <a:buFont typeface="+mj-lt"/>
              <a:buAutoNum type="arabicPeriod" startAt="9"/>
            </a:pPr>
            <a:r>
              <a:rPr lang="en-US" sz="1600" dirty="0">
                <a:latin typeface="Times New Roman" panose="02020603050405020304" pitchFamily="18" charset="0"/>
                <a:cs typeface="Times New Roman" panose="02020603050405020304" pitchFamily="18" charset="0"/>
              </a:rPr>
              <a:t>Y. </a:t>
            </a:r>
            <a:r>
              <a:rPr lang="en-US" sz="1600" dirty="0" err="1">
                <a:latin typeface="Times New Roman" panose="02020603050405020304" pitchFamily="18" charset="0"/>
                <a:cs typeface="Times New Roman" panose="02020603050405020304" pitchFamily="18" charset="0"/>
              </a:rPr>
              <a:t>Zuo</a:t>
            </a:r>
            <a:r>
              <a:rPr lang="en-US" sz="1600" dirty="0">
                <a:latin typeface="Times New Roman" panose="02020603050405020304" pitchFamily="18" charset="0"/>
                <a:cs typeface="Times New Roman" panose="02020603050405020304" pitchFamily="18" charset="0"/>
              </a:rPr>
              <a:t> and B. </a:t>
            </a:r>
            <a:r>
              <a:rPr lang="en-US" sz="1600" dirty="0" err="1">
                <a:latin typeface="Times New Roman" panose="02020603050405020304" pitchFamily="18" charset="0"/>
                <a:cs typeface="Times New Roman" panose="02020603050405020304" pitchFamily="18" charset="0"/>
              </a:rPr>
              <a:t>Niu</a:t>
            </a:r>
            <a:r>
              <a:rPr lang="en-US" sz="1600" dirty="0">
                <a:latin typeface="Times New Roman" panose="02020603050405020304" pitchFamily="18" charset="0"/>
                <a:cs typeface="Times New Roman" panose="02020603050405020304" pitchFamily="18" charset="0"/>
              </a:rPr>
              <a:t>, ”Scalable academic knowledge graph construction with LLM-augmented QA,” in Proc. AAAI Conf. </a:t>
            </a:r>
            <a:r>
              <a:rPr lang="en-US" sz="1600" dirty="0" err="1">
                <a:latin typeface="Times New Roman" panose="02020603050405020304" pitchFamily="18" charset="0"/>
                <a:cs typeface="Times New Roman" panose="02020603050405020304" pitchFamily="18" charset="0"/>
              </a:rPr>
              <a:t>Artif</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Intell</a:t>
            </a:r>
            <a:r>
              <a:rPr lang="en-US" sz="1600" dirty="0">
                <a:latin typeface="Times New Roman" panose="02020603050405020304" pitchFamily="18" charset="0"/>
                <a:cs typeface="Times New Roman" panose="02020603050405020304" pitchFamily="18" charset="0"/>
              </a:rPr>
              <a:t>., Philadelphia, PA, USA, 2025, vol. 39, no. 2, pp. 1941–1950.</a:t>
            </a:r>
          </a:p>
          <a:p>
            <a:pPr marL="342900" lvl="0" indent="-342900" fontAlgn="base">
              <a:buFont typeface="+mj-lt"/>
              <a:buAutoNum type="arabicPeriod" startAt="9"/>
            </a:pPr>
            <a:r>
              <a:rPr lang="en-US" sz="1600" dirty="0">
                <a:latin typeface="Times New Roman" panose="02020603050405020304" pitchFamily="18" charset="0"/>
                <a:cs typeface="Times New Roman" panose="02020603050405020304" pitchFamily="18" charset="0"/>
              </a:rPr>
              <a:t>J. Xue et al., ”HGCL: Hierarchical graph contrastive learning for </a:t>
            </a:r>
            <a:r>
              <a:rPr lang="en-US" sz="1600" dirty="0" err="1">
                <a:latin typeface="Times New Roman" panose="02020603050405020304" pitchFamily="18" charset="0"/>
                <a:cs typeface="Times New Roman" panose="02020603050405020304" pitchFamily="18" charset="0"/>
              </a:rPr>
              <a:t>useritem</a:t>
            </a:r>
            <a:r>
              <a:rPr lang="en-US" sz="1600" dirty="0">
                <a:latin typeface="Times New Roman" panose="02020603050405020304" pitchFamily="18" charset="0"/>
                <a:cs typeface="Times New Roman" panose="02020603050405020304" pitchFamily="18" charset="0"/>
              </a:rPr>
              <a:t> recommendation,”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preprint arXiv:2505.19020, 2025.</a:t>
            </a:r>
          </a:p>
          <a:p>
            <a:pPr marL="342900" lvl="0" indent="-342900" fontAlgn="base">
              <a:buFont typeface="+mj-lt"/>
              <a:buAutoNum type="arabicPeriod" startAt="9"/>
            </a:pPr>
            <a:r>
              <a:rPr lang="en-US" sz="1600" dirty="0">
                <a:latin typeface="Times New Roman" panose="02020603050405020304" pitchFamily="18" charset="0"/>
                <a:cs typeface="Times New Roman" panose="02020603050405020304" pitchFamily="18" charset="0"/>
              </a:rPr>
              <a:t>W. Zhang et al., ”MixSGCL: Mixed supervised graph contrastive learning for recommendation,” </a:t>
            </a:r>
            <a:r>
              <a:rPr lang="en-US" sz="1600" dirty="0" err="1">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preprint arXiv:2404.15954, 2024.</a:t>
            </a:r>
          </a:p>
          <a:p>
            <a:pPr marL="342900" lvl="0" indent="-342900" fontAlgn="base">
              <a:buFont typeface="+mj-lt"/>
              <a:buAutoNum type="arabicPeriod" startAt="9"/>
            </a:pPr>
            <a:r>
              <a:rPr lang="en-US" sz="1600" dirty="0">
                <a:latin typeface="Times New Roman" panose="02020603050405020304" pitchFamily="18" charset="0"/>
                <a:cs typeface="Times New Roman" panose="02020603050405020304" pitchFamily="18" charset="0"/>
              </a:rPr>
              <a:t>T. Wei et al., ”Prototypical graph contrastive learning for recommendation,” Appl. Sci., vol. 15, no. 4, p. 1961, Feb. 2025.</a:t>
            </a:r>
          </a:p>
          <a:p>
            <a:pPr marL="342900" lvl="0" indent="-342900" fontAlgn="base">
              <a:buFont typeface="+mj-lt"/>
              <a:buAutoNum type="arabicPeriod" startAt="9"/>
            </a:pPr>
            <a:r>
              <a:rPr lang="en-US" sz="1600" dirty="0">
                <a:latin typeface="Times New Roman" panose="02020603050405020304" pitchFamily="18" charset="0"/>
                <a:cs typeface="Times New Roman" panose="02020603050405020304" pitchFamily="18" charset="0"/>
              </a:rPr>
              <a:t>J. Yong et al., ”A learning resource recommendation method based on graph contrastive learning,” Electronics, vol. 14, no. 1, p. 142, Jan. 2025.</a:t>
            </a:r>
          </a:p>
          <a:p>
            <a:pPr marL="342900" lvl="0" indent="-342900" fontAlgn="base">
              <a:buFont typeface="+mj-lt"/>
              <a:buAutoNum type="arabicPeriod" startAt="9"/>
            </a:pPr>
            <a:r>
              <a:rPr lang="en-US" sz="1600" dirty="0">
                <a:latin typeface="Times New Roman" panose="02020603050405020304" pitchFamily="18" charset="0"/>
                <a:cs typeface="Times New Roman" panose="02020603050405020304" pitchFamily="18" charset="0"/>
              </a:rPr>
              <a:t>R. Yu et al., ”Graph contrastive learning for HIN recommendation,” Neural Process. Lett., vol. 56, art. 16, Mar. 2024.</a:t>
            </a:r>
          </a:p>
        </p:txBody>
      </p:sp>
      <p:sp>
        <p:nvSpPr>
          <p:cNvPr id="3" name="Date Placeholder 2"/>
          <p:cNvSpPr>
            <a:spLocks noGrp="1"/>
          </p:cNvSpPr>
          <p:nvPr>
            <p:ph type="dt" sz="half" idx="10"/>
          </p:nvPr>
        </p:nvSpPr>
        <p:spPr/>
        <p:txBody>
          <a:bodyPr/>
          <a:lstStyle/>
          <a:p>
            <a:fld id="{0954F501-08D2-4C6D-89FE-56A555E410CB}" type="datetime1">
              <a:rPr lang="en-US" smtClean="0"/>
              <a:t>2/9/2026</a:t>
            </a:fld>
            <a:endParaRPr lang="en-US"/>
          </a:p>
        </p:txBody>
      </p:sp>
      <p:sp>
        <p:nvSpPr>
          <p:cNvPr id="6" name="Footer Placeholder 5"/>
          <p:cNvSpPr>
            <a:spLocks noGrp="1"/>
          </p:cNvSpPr>
          <p:nvPr>
            <p:ph type="ftr" sz="quarter" idx="11"/>
          </p:nvPr>
        </p:nvSpPr>
        <p:spPr/>
        <p:txBody>
          <a:bodyPr/>
          <a:lstStyle/>
          <a:p>
            <a:r>
              <a:rPr lang="en-US" smtClean="0"/>
              <a:t>Review No. 3     Batch No.CG11         Department of CSE</a:t>
            </a:r>
            <a:endParaRPr lang="en-US"/>
          </a:p>
        </p:txBody>
      </p:sp>
      <p:sp>
        <p:nvSpPr>
          <p:cNvPr id="7" name="Slide Number Placeholder 6"/>
          <p:cNvSpPr>
            <a:spLocks noGrp="1"/>
          </p:cNvSpPr>
          <p:nvPr>
            <p:ph type="sldNum" sz="quarter" idx="12"/>
          </p:nvPr>
        </p:nvSpPr>
        <p:spPr/>
        <p:txBody>
          <a:bodyPr/>
          <a:lstStyle/>
          <a:p>
            <a:fld id="{FFEC67FC-8107-4C00-9415-4D1567E899B9}" type="slidenum">
              <a:rPr lang="en-US" smtClean="0"/>
              <a:t>33</a:t>
            </a:fld>
            <a:endParaRPr lang="en-US"/>
          </a:p>
        </p:txBody>
      </p:sp>
    </p:spTree>
    <p:extLst>
      <p:ext uri="{BB962C8B-B14F-4D97-AF65-F5344CB8AC3E}">
        <p14:creationId xmlns:p14="http://schemas.microsoft.com/office/powerpoint/2010/main" val="21037132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6" name="Date Placeholder 5"/>
          <p:cNvSpPr>
            <a:spLocks noGrp="1"/>
          </p:cNvSpPr>
          <p:nvPr>
            <p:ph type="dt" sz="half" idx="10"/>
          </p:nvPr>
        </p:nvSpPr>
        <p:spPr/>
        <p:txBody>
          <a:bodyPr/>
          <a:lstStyle/>
          <a:p>
            <a:fld id="{5B90B53A-6DF5-48D3-8FDE-01AEC472EF50}" type="datetime1">
              <a:rPr lang="en-US" smtClean="0"/>
              <a:t>2/9/2026</a:t>
            </a:fld>
            <a:endParaRPr lang="en-US"/>
          </a:p>
        </p:txBody>
      </p:sp>
      <p:sp>
        <p:nvSpPr>
          <p:cNvPr id="7" name="Footer Placeholder 6"/>
          <p:cNvSpPr>
            <a:spLocks noGrp="1"/>
          </p:cNvSpPr>
          <p:nvPr>
            <p:ph type="ftr" sz="quarter" idx="11"/>
          </p:nvPr>
        </p:nvSpPr>
        <p:spPr/>
        <p:txBody>
          <a:bodyPr/>
          <a:lstStyle/>
          <a:p>
            <a:r>
              <a:rPr lang="en-US" smtClean="0"/>
              <a:t>Review No. 3     Batch No.CG11         Department of CSE</a:t>
            </a:r>
            <a:endParaRPr lang="en-US" dirty="0"/>
          </a:p>
        </p:txBody>
      </p:sp>
      <p:sp>
        <p:nvSpPr>
          <p:cNvPr id="8" name="Slide Number Placeholder 7"/>
          <p:cNvSpPr>
            <a:spLocks noGrp="1"/>
          </p:cNvSpPr>
          <p:nvPr>
            <p:ph type="sldNum" sz="quarter" idx="12"/>
          </p:nvPr>
        </p:nvSpPr>
        <p:spPr/>
        <p:txBody>
          <a:bodyPr/>
          <a:lstStyle/>
          <a:p>
            <a:fld id="{FFEC67FC-8107-4C00-9415-4D1567E899B9}" type="slidenum">
              <a:rPr lang="en-US" smtClean="0"/>
              <a:t>34</a:t>
            </a:fld>
            <a:endParaRPr lang="en-US"/>
          </a:p>
        </p:txBody>
      </p:sp>
      <p:sp>
        <p:nvSpPr>
          <p:cNvPr id="5" name="Title 4"/>
          <p:cNvSpPr>
            <a:spLocks noGrp="1"/>
          </p:cNvSpPr>
          <p:nvPr>
            <p:ph type="title"/>
          </p:nvPr>
        </p:nvSpPr>
        <p:spPr>
          <a:xfrm>
            <a:off x="4271864" y="2949704"/>
            <a:ext cx="3677817" cy="1325563"/>
          </a:xfrm>
        </p:spPr>
        <p:txBody>
          <a:bodyPr/>
          <a:lstStyle/>
          <a:p>
            <a:r>
              <a:rPr lang="en-US" b="1" dirty="0" smtClean="0">
                <a:latin typeface="Times New Roman" panose="02020603050405020304" pitchFamily="18" charset="0"/>
                <a:cs typeface="Times New Roman" panose="02020603050405020304" pitchFamily="18" charset="0"/>
              </a:rPr>
              <a:t>THANK</a:t>
            </a:r>
            <a:r>
              <a:rPr lang="en-US" dirty="0" smtClean="0"/>
              <a:t> </a:t>
            </a:r>
            <a:r>
              <a:rPr lang="en-US" b="1" dirty="0" smtClean="0">
                <a:latin typeface="Times New Roman" panose="02020603050405020304" pitchFamily="18" charset="0"/>
                <a:cs typeface="Times New Roman" panose="02020603050405020304" pitchFamily="18" charset="0"/>
              </a:rPr>
              <a:t>YOU</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8438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2161</TotalTime>
  <Words>3252</Words>
  <Application>Microsoft Office PowerPoint</Application>
  <PresentationFormat>Widescreen</PresentationFormat>
  <Paragraphs>465</Paragraphs>
  <Slides>34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Calibri Light</vt:lpstr>
      <vt:lpstr>Cambria Math</vt:lpstr>
      <vt:lpstr>Times New Roman</vt:lpstr>
      <vt:lpstr>Verdana</vt:lpstr>
      <vt:lpstr>Wingdings</vt:lpstr>
      <vt:lpstr>Office Theme</vt:lpstr>
      <vt:lpstr>Department of Computer Science Engineering</vt:lpstr>
      <vt:lpstr>CONTENTS</vt:lpstr>
      <vt:lpstr>Abstract</vt:lpstr>
      <vt:lpstr>Introduction</vt:lpstr>
      <vt:lpstr>Literature Survey</vt:lpstr>
      <vt:lpstr>Literature Survey</vt:lpstr>
      <vt:lpstr>Research Gaps</vt:lpstr>
      <vt:lpstr>Research Gaps</vt:lpstr>
      <vt:lpstr>Problem Statements</vt:lpstr>
      <vt:lpstr>Objectives</vt:lpstr>
      <vt:lpstr>Proposed Methodology Flow Chart</vt:lpstr>
      <vt:lpstr>Methodology</vt:lpstr>
      <vt:lpstr>Methodology</vt:lpstr>
      <vt:lpstr>Methodology</vt:lpstr>
      <vt:lpstr>Implementation</vt:lpstr>
      <vt:lpstr>Implementation</vt:lpstr>
      <vt:lpstr>Implementation</vt:lpstr>
      <vt:lpstr>Implementation</vt:lpstr>
      <vt:lpstr>PowerPoint Presentation</vt:lpstr>
      <vt:lpstr>PowerPoint Presentation</vt:lpstr>
      <vt:lpstr>System Requirements</vt:lpstr>
      <vt:lpstr>Results &amp; Analysis</vt:lpstr>
      <vt:lpstr>Results &amp; Analysis</vt:lpstr>
      <vt:lpstr>Results &amp; Analysis</vt:lpstr>
      <vt:lpstr>Results &amp; Analysis</vt:lpstr>
      <vt:lpstr>Results &amp; Analysis</vt:lpstr>
      <vt:lpstr>Results &amp; Analysis</vt:lpstr>
      <vt:lpstr>Results &amp; Analysis</vt:lpstr>
      <vt:lpstr>Comparative Analysis</vt:lpstr>
      <vt:lpstr>Conclusion &amp; Future Scope</vt:lpstr>
      <vt:lpstr>Conclusion &amp; Future Scope</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MyLaptop HP</dc:creator>
  <cp:lastModifiedBy>MyLaptop HP</cp:lastModifiedBy>
  <cp:revision>91</cp:revision>
  <dcterms:created xsi:type="dcterms:W3CDTF">2025-11-08T07:07:45Z</dcterms:created>
  <dcterms:modified xsi:type="dcterms:W3CDTF">2026-02-09T17:13:44Z</dcterms:modified>
</cp:coreProperties>
</file>